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714232" y="29260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365760" y="694944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92608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784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 DEEP DIVE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9144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Asurion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5029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Bryant Mayne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D2M Fulfillment &amp; Finance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048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Thays Pritchard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360152" y="62910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DISCUSSION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we're covering — and why it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207008"/>
            <a:ext cx="11457432" cy="694944"/>
          </a:xfrm>
          <a:prstGeom prst="roundRect">
            <a:avLst>
              <a:gd name="adj" fmla="val 7895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25296"/>
            <a:ext cx="109087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the foundation every service program runs on. It runs behind the scenes, unseen — but customers always feel it when something goes wrong. Inventory makes the service promise possible. This review is about making sure we can always keep it.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201168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review, we will take a look at: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359152"/>
            <a:ext cx="3697224" cy="310896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359152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834640"/>
            <a:ext cx="3697224" cy="182880"/>
          </a:xfrm>
          <a:prstGeom prst="rect">
            <a:avLst/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450592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60704" y="2523744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108960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powers every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service motion we run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3858768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~$609M asset across ~890 locations, present at every step — from advance exchange to reverse logistics. Scale and complexity demand a system built to match.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20640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03 – 04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45864" y="2359152"/>
            <a:ext cx="3697224" cy="310896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45864" y="2359152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45864" y="2834640"/>
            <a:ext cx="3697224" cy="182880"/>
          </a:xfrm>
          <a:prstGeom prst="rect">
            <a:avLst/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28744" y="2450592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28744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40808" y="2523744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428744" y="3017520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28744" y="3108960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Fragmented systems create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financial and operational risk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428744" y="3858768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platforms outside our ERP make it difficult to trace units, reconcile financials, and catch issues early. The gap compounds over time.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428744" y="5120640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28744" y="5120640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8125968" y="2359152"/>
            <a:ext cx="3697224" cy="310896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25968" y="2359152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125968" y="2834640"/>
            <a:ext cx="3697224" cy="182880"/>
          </a:xfrm>
          <a:prstGeom prst="rect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308848" y="2450592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08848" y="2450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20912" y="2523744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308848" y="3017520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8848" y="3108960"/>
            <a:ext cx="333146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proven model, scaling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by program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308848" y="3858768"/>
            <a:ext cx="333146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Bef>
                <a:spcPts val="200"/>
              </a:spcBef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a tested, phased approach to a single source of truth. The model is working — this review outlines what remains and what full consolidation makes possible.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308848" y="5120640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308848" y="5120640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06 – 07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081272" y="3749040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961376" y="3749040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65760" y="5632704"/>
            <a:ext cx="11457432" cy="475488"/>
          </a:xfrm>
          <a:prstGeom prst="roundRect">
            <a:avLst>
              <a:gd name="adj" fmla="val 11538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1792" y="5650992"/>
            <a:ext cx="1094536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this review, I hope that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clear understanding of the role inventory plays across every service program we run</a:t>
            </a:r>
            <a:pPr indent="0" marL="0">
              <a:buNone/>
            </a:pPr>
            <a:r>
              <a:rPr lang="en-US" sz="1150" i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why managing it with a single source of truth is not just an operational improvement, but a </a:t>
            </a:r>
            <a:pPr indent="0" marL="0">
              <a:buNone/>
            </a:pPr>
            <a:r>
              <a:rPr lang="en-US" sz="11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capability that enables Asurion to move faster, reduce financial risk, and scale with confidence.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SCALE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supports every fulfillment motion across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Asurion's service network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719072"/>
            <a:ext cx="4023360" cy="1188720"/>
          </a:xfrm>
          <a:prstGeom prst="roundRect">
            <a:avLst>
              <a:gd name="adj" fmla="val 5385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79222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ACROSS PROGRAMS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93776" y="1975104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~$517M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65760" y="2999232"/>
            <a:ext cx="4023360" cy="2377440"/>
          </a:xfrm>
          <a:prstGeom prst="roundRect">
            <a:avLst>
              <a:gd name="adj" fmla="val 2692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HOLDING INVENTORY ACROSS</a:t>
            </a:r>
            <a:endParaRPr lang="en-US" sz="750" dirty="0"/>
          </a:p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93776" y="3438144"/>
            <a:ext cx="1417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~890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920240" y="3520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locations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&amp; 3rd-party repair locations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1206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12064" y="50840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50840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UROC mail-in repair location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3230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3464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Stocking Locations (FSLs)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3230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3464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inventory distribution centers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3440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8032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9744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09744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9744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(mail fulfillment)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09744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(DES)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9744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Warehouses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9744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6048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Stocking Locations (~97)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9744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Asurion-Owned &amp; Consigned Inventory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080504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5096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6808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26808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6808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3112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26808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3112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Stores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26808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3112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Partners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26808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73112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Mail-In Repair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26808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73112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Repair Providers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(~6% of volume)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7568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62160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43872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Logistics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643872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43872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0176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Devices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43872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790176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Parts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643872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90176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Disposition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5504688"/>
            <a:ext cx="45720" cy="50292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5550408"/>
            <a:ext cx="11228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material business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constantly moving across warehouses, field locations, stores, partners, and customer channels. Every movement requires visibility and accountability.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071616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figures reflect total across replacement, same-unit repair, and reverse logistics programs.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held across ~890 locations: ~700 UBIF &amp; 3rd-party repair locations, 97 Forward Stocking Locations (FSLs), ~90 third-party repair vendors (~6% of repair volume), 2 main distribution centers, and 1 UROC mail-in repair location.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RELEVANCE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is split across multiple systems of record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14574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program's inventory and financials live in one system, every unit and dollar is traceable. 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~$390.6M is already reconciled in D365 F&amp;O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remaining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 sits on legacy systems.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993392"/>
            <a:ext cx="11457432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6654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680960" y="206654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789920" y="206654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0" y="23774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$390.6M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0662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replacement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69280" y="2761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$296.4M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680960" y="27614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607040" y="274320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0" y="2743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1868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438144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Next-Day Expert Delivery &amp; Setup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32735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$15.3M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80960" y="327355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7040" y="3255264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0" y="325526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67588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730752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3950208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— replacement via Expert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0" y="37856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$78.9M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07040" y="3767328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0" y="376732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18795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2428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0" y="42428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517136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4572000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" y="4791456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distribution center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669280" y="46268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$120.0M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80960" y="462686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Distro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607040" y="4608576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07040" y="460857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502920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508406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30352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669280" y="51389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680960" y="51389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607040" y="512064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51206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5541264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563270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669280" y="56327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~$516.9M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680960" y="5632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programs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65760" y="539496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2064" y="5614416"/>
            <a:ext cx="310896" cy="310896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2064" y="56144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3268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6B2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~$390.6M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93268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D365 F&amp;O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26480" y="5394960"/>
            <a:ext cx="5669280" cy="749808"/>
          </a:xfrm>
          <a:prstGeom prst="roundRect">
            <a:avLst>
              <a:gd name="adj" fmla="val 731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72784" y="5614416"/>
            <a:ext cx="310896" cy="3108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2784" y="559612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69340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$126.3M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69340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migration (~24%)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is mail replacement; NDES is Next-Day Expert Delivery &amp; Setup; DES is Delivery &amp; Expert Setup (replacement via Expert). Inventory totals ~$516.9M across all programs.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MECHANISM · FUTURE STATE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93776"/>
            <a:ext cx="114574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Fulfillment systems connect every movement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 one operating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50876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INVENTORY MOVEMENT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0" y="1508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 →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ACCOUNTABILITY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1051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3758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6228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758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82340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9416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8056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9416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Store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54168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81244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29884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81244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825996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053072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7B4FBA"/>
          </a:solidFill>
          <a:ln w="9525">
            <a:solidFill>
              <a:srgbClr val="7B4FB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01712" y="1874520"/>
            <a:ext cx="329184" cy="329184"/>
          </a:xfrm>
          <a:prstGeom prst="ellipse">
            <a:avLst/>
          </a:prstGeom>
          <a:solidFill>
            <a:srgbClr val="9B72CC"/>
          </a:solidFill>
          <a:ln w="12700">
            <a:solidFill>
              <a:srgbClr val="9B72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3072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497824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2490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73540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490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16965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39672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45368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9672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Billing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2825496"/>
            <a:ext cx="1145743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103120" y="3044952"/>
            <a:ext cx="3337560" cy="256032"/>
          </a:xfrm>
          <a:prstGeom prst="roundRect">
            <a:avLst>
              <a:gd name="adj" fmla="val 14286"/>
            </a:avLst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39696" y="3044952"/>
            <a:ext cx="3264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disconnected systems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48640" y="3392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synchronization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3776" y="3736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773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93776" y="4117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154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disputes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93776" y="4498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535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visibility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93776" y="4879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916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maintenance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93776" y="5260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5297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833872" y="4078224"/>
            <a:ext cx="475488" cy="47548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33872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5379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08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66760" y="3044952"/>
            <a:ext cx="3246120" cy="256032"/>
          </a:xfrm>
          <a:prstGeom prst="roundRect">
            <a:avLst>
              <a:gd name="adj" fmla="val 14286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03336" y="3044952"/>
            <a:ext cx="3172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operating model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20840" y="3392424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finance move together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665976" y="3682419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20840" y="3718995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665976" y="4008991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20840" y="4045567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inventory movement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665976" y="4335562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20840" y="4372138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dollars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665976" y="4662134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20840" y="4698710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fulfillment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665976" y="4988705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20840" y="5025281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product launches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665976" y="5315277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5351853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AI foundation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5843016"/>
            <a:ext cx="45720" cy="45720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8640" y="5888736"/>
            <a:ext cx="11228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financial records should remain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throughout the fulfillment lifecycle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reconciliation becomes a natural outcome, not a separate activity.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Every inventory movement eventually becomes a financial event — accountability must hold across every system handoff. Inventory accountability and financial accountability should be inseparable.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&amp; FUTURE STATE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686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phased path to consolidate every inventory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onto a single ERP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0" y="566928"/>
            <a:ext cx="201168" cy="201168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0" y="5669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217152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040112" y="566928"/>
            <a:ext cx="201168" cy="20116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96144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119104" y="5669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75136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145743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inventory and financials across separate systems creates reconciliation gaps where loss accumulates. Each phase consolidates another fragmented system into Dynamics 365 F&amp;O, establishing a single source of truth that improves financial control and visibility across every program.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1145743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65960" y="2194560"/>
            <a:ext cx="256032" cy="256032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65960" y="2194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95144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8648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DES / NDES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53128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85816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53128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Next Gen Portal migration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40296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72984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940296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SUR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940296" y="275234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76872" y="2752344"/>
            <a:ext cx="2267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  Depends on Next Gen Portal migration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427464" y="219456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56648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360152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Distro migration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2962656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2999232"/>
            <a:ext cx="12527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9384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+ ServiceBench + KitKat → D365 F&amp;O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65960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Warehouse (DAX) and DES/NDES field inventory (ServiceBench, incl. the KitKat FSL UI) consolidated into the D365 F&amp;O ERP.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416552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53128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Portal → D365 F&amp;O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53128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 store inventory moves from the BAU Portal into the D365 F&amp;O ERP, giving stores visibility of inventory order and management in one system.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903720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0296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SBX → D365 F&amp;O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940296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inventory management configurations supporting repair claims and fulfillment from ServiceBench into D365 F&amp;O, and replaces SBX Cycle Count with DAX WMA.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390888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27464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→ D365 F&amp;O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427464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warehouse inventory moves from the in-house Distro platform into D365 F&amp;O — the last system outside the single source of truth.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" y="491947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" y="4956048"/>
            <a:ext cx="1252728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65960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$5.7M better than forecast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965960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$2.4M/yr AT&amp;T billing gain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138k fewer manual touches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453128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Store inventory in D365 F&amp;O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53128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uBreakiFix under one source of truth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453128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Foundation for the SUR repair SSoT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940296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Repair-claim &amp; fulfillment configs in D365 F&amp;O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40296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SBX Cycle Count replaced by DAX WMA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940296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Removes ServiceBench from inventory management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427464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of inventory in one ERP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427464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operating model, warehouse to store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UBIF inventory SSoT roadmap: each phase consolidates a legacy source system (Mobility Warehouse DAX, DES/NDES &amp; SUR field inventory in ServiceBench, Store Inventory BAU Portal, in-house Distro) into the Dynamics 365 F&amp;O ERP as the single source of truth. Phases 2 (SUR) and 3 (UBIF Next Gen Portal) run in parallel in 2026; Phase 4 (UBIF Distro) is slotted for 2027 and completes warehouse-to-store traceability.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WHY DISTRO MATTERS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574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UBIF DISTRO MIGRATION, SLOTTED FOR 2027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Distro is the last system standing — and the most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to retire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1145743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38528"/>
            <a:ext cx="110916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technical blocker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Distro is stable and could run on our stack indefinitely. The case for moving it in 2027 is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keeping the in-house warehouse platform separate compounds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 as we scale.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single source of truth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93776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transfers across Portal → Next-Gen Portal → Distro aren't unified, and we pay stores for activity that lives outside the ERP.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3776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and financials settle automatically in one ledger — every dollar reconciled.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52978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0994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0994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Designed-out loss exposure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0994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380994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losses surface in the integrations between Portal, Next-Gen Portal and Distro — latent risk that grows with volume.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0994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0994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80994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systems and handoffs means no integration seams for inventory to disappear in.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0196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8212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8212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resilience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68212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8212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is a separate application maintained by only a couple of specialists — the skill set isn't fungible (key-person risk).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68212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8212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68212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and one skill base — a team that flexes across the business.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27414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5430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5430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Vendor-driven request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155430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155430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an Asurion vendor, is moving off their legacy platform; staying on Distro forces them to re-integrate with it — they already run D365 for mobility pick/pack/ship.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155430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5430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155430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D365 platform our vendors are asking us to standardize 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486400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541264"/>
            <a:ext cx="11000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state: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retiring Distro puts every unit and every dollar in one ERP — explainable movement, explainable finances, a resilient team, and a client-ready foundation to scale and build AI on.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6291072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review: no single technical blocker — Distro's tech stack is stable and could run on Asurion infrastructure. The 2027 migration case is structural, not a stability fire drill.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surfaced in review: intercompany financial reconciliation, inter-system inventory loss, key-person operational risk, and vendor (UPS) request for a common platform.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DISTRO MATTERS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2026-06-09T19:16:01Z</dcterms:created>
  <dcterms:modified xsi:type="dcterms:W3CDTF">2026-06-09T19:16:01Z</dcterms:modified>
</cp:coreProperties>
</file>