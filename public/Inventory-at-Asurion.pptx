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8714232" y="292608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750" b="1" spc="15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PRODUCT REVIEW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365760" y="694944"/>
            <a:ext cx="11457432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960120"/>
            <a:ext cx="292608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97840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PRODUCT REVIEW DEEP DIVE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365760" y="1353312"/>
            <a:ext cx="91440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Inventory at Asurion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365760" y="283464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How fulfillment systems enable visibility, accountability, and scale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65760" y="3337560"/>
            <a:ext cx="502920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349300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365760" y="3712464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Bryant Mayne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5760" y="3986784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Director, D2M Fulfillment &amp; Finance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840480" y="349300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3840480" y="3712464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Thays Pritchard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840480" y="3986784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Management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0360152" y="6291072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70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9260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DISCUSSION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5743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we're covering — and why it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1207008"/>
            <a:ext cx="11457432" cy="566928"/>
          </a:xfrm>
          <a:prstGeom prst="roundRect">
            <a:avLst>
              <a:gd name="adj" fmla="val 9677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25296"/>
            <a:ext cx="1090879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is a </a:t>
            </a:r>
            <a:pPr indent="0" marL="0">
              <a:buNone/>
            </a:pPr>
            <a:r>
              <a:rPr lang="en-US" sz="13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~$609M asset</a:t>
            </a:r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moving across </a:t>
            </a:r>
            <a:pPr indent="0" marL="0">
              <a:buNone/>
            </a:pPr>
            <a:r>
              <a:rPr lang="en-US" sz="13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~890 locations</a:t>
            </a:r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every day — powering every service motion Asurion runs.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883664"/>
            <a:ext cx="11457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this review, we will take a look at: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2231136"/>
            <a:ext cx="3697224" cy="3108960"/>
          </a:xfrm>
          <a:prstGeom prst="roundRect">
            <a:avLst>
              <a:gd name="adj" fmla="val 2059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2231136"/>
            <a:ext cx="3697224" cy="658368"/>
          </a:xfrm>
          <a:prstGeom prst="roundRect">
            <a:avLst>
              <a:gd name="adj" fmla="val 9722"/>
            </a:avLst>
          </a:prstGeom>
          <a:solidFill>
            <a:srgbClr val="F5F4F8"/>
          </a:solidFill>
          <a:ln w="12700">
            <a:solidFill>
              <a:srgbClr val="F5F4F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2706624"/>
            <a:ext cx="3697224" cy="182880"/>
          </a:xfrm>
          <a:prstGeom prst="rect">
            <a:avLst/>
          </a:prstGeom>
          <a:solidFill>
            <a:srgbClr val="F5F4F8"/>
          </a:solidFill>
          <a:ln w="12700">
            <a:solidFill>
              <a:srgbClr val="F5F4F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322576"/>
            <a:ext cx="384048" cy="384048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32257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60704" y="2395728"/>
            <a:ext cx="28742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48640" y="2889504"/>
            <a:ext cx="3331464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2980944"/>
            <a:ext cx="333146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Inventory powers every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service motion we run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3730752"/>
            <a:ext cx="333146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~$609M asset across ~890 locations, present at every step — from advance exchange to reverse logistics. Scale and complexity demand a system built to match.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992624"/>
            <a:ext cx="3331464" cy="237744"/>
          </a:xfrm>
          <a:prstGeom prst="roundRect">
            <a:avLst>
              <a:gd name="adj" fmla="val 15385"/>
            </a:avLst>
          </a:prstGeom>
          <a:solidFill>
            <a:srgbClr val="F5F4F8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4992624"/>
            <a:ext cx="33314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03 – 04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245864" y="2231136"/>
            <a:ext cx="3697224" cy="3108960"/>
          </a:xfrm>
          <a:prstGeom prst="roundRect">
            <a:avLst>
              <a:gd name="adj" fmla="val 2059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245864" y="2231136"/>
            <a:ext cx="3697224" cy="658368"/>
          </a:xfrm>
          <a:prstGeom prst="roundRect">
            <a:avLst>
              <a:gd name="adj" fmla="val 9722"/>
            </a:avLst>
          </a:prstGeom>
          <a:solidFill>
            <a:srgbClr val="F5EEF8"/>
          </a:solidFill>
          <a:ln w="12700">
            <a:solidFill>
              <a:srgbClr val="F5EE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45864" y="2706624"/>
            <a:ext cx="3697224" cy="182880"/>
          </a:xfrm>
          <a:prstGeom prst="rect">
            <a:avLst/>
          </a:prstGeom>
          <a:solidFill>
            <a:srgbClr val="F5EEF8"/>
          </a:solidFill>
          <a:ln w="12700">
            <a:solidFill>
              <a:srgbClr val="F5EEF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428744" y="2322576"/>
            <a:ext cx="384048" cy="384048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428744" y="232257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940808" y="2395728"/>
            <a:ext cx="28742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428744" y="2889504"/>
            <a:ext cx="3331464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428744" y="2980944"/>
            <a:ext cx="333146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Fragmented systems create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financial and operational risk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428744" y="3730752"/>
            <a:ext cx="333146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platforms outside our ERP make it difficult to trace units, reconcile financials, and catch issues early. The gap compounds over time.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428744" y="4992624"/>
            <a:ext cx="3331464" cy="237744"/>
          </a:xfrm>
          <a:prstGeom prst="roundRect">
            <a:avLst>
              <a:gd name="adj" fmla="val 15385"/>
            </a:avLst>
          </a:prstGeom>
          <a:solidFill>
            <a:srgbClr val="F5F4F8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28744" y="4992624"/>
            <a:ext cx="33314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05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8125968" y="2231136"/>
            <a:ext cx="3697224" cy="3108960"/>
          </a:xfrm>
          <a:prstGeom prst="roundRect">
            <a:avLst>
              <a:gd name="adj" fmla="val 2059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25968" y="2231136"/>
            <a:ext cx="3697224" cy="658368"/>
          </a:xfrm>
          <a:prstGeom prst="roundRect">
            <a:avLst>
              <a:gd name="adj" fmla="val 9722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125968" y="2706624"/>
            <a:ext cx="3697224" cy="182880"/>
          </a:xfrm>
          <a:prstGeom prst="rect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308848" y="2322576"/>
            <a:ext cx="384048" cy="384048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08848" y="232257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820912" y="2395728"/>
            <a:ext cx="28742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FORWARD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8308848" y="2889504"/>
            <a:ext cx="3331464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8848" y="2980944"/>
            <a:ext cx="333146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 proven model, scaling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program by program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8308848" y="3730752"/>
            <a:ext cx="333146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have a tested, phased approach to a single source of truth. The model is working — this review outlines what remains and what full consolidation makes possible.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8308848" y="4992624"/>
            <a:ext cx="3331464" cy="237744"/>
          </a:xfrm>
          <a:prstGeom prst="roundRect">
            <a:avLst>
              <a:gd name="adj" fmla="val 15385"/>
            </a:avLst>
          </a:prstGeom>
          <a:solidFill>
            <a:srgbClr val="F5F4F8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308848" y="4992624"/>
            <a:ext cx="33314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06 – 07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4081272" y="3621024"/>
            <a:ext cx="2926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4AE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7961376" y="3621024"/>
            <a:ext cx="2926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4AE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365760" y="5504688"/>
            <a:ext cx="11457432" cy="475488"/>
          </a:xfrm>
          <a:prstGeom prst="roundRect">
            <a:avLst>
              <a:gd name="adj" fmla="val 11538"/>
            </a:avLst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1792" y="5522976"/>
            <a:ext cx="1094536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4AE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end of this review, I hope that </a:t>
            </a:r>
            <a:pPr indent="0" marL="0">
              <a:buNone/>
            </a:pPr>
            <a:r>
              <a:rPr lang="en-US" sz="11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clear understanding of the role inventory plays across every service program we run</a:t>
            </a:r>
            <a:pPr indent="0" marL="0">
              <a:buNone/>
            </a:pPr>
            <a:r>
              <a:rPr lang="en-US" sz="1150" i="1" dirty="0">
                <a:solidFill>
                  <a:srgbClr val="C4AE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and why managing it with a single source of truth is not just an operational improvement, but a </a:t>
            </a:r>
            <a:pPr indent="0" marL="0">
              <a:buNone/>
            </a:pPr>
            <a:r>
              <a:rPr lang="en-US" sz="11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capability that enables Asurion to move faster, reduce financial risk, and scale with confidence.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9260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— SCALE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5743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Inventory supports every fulfillment motion across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Asurion's service network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719072"/>
            <a:ext cx="4023360" cy="1188720"/>
          </a:xfrm>
          <a:prstGeom prst="roundRect">
            <a:avLst>
              <a:gd name="adj" fmla="val 5385"/>
            </a:avLst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792224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C4AE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VALUE ACROSS PROGRAMS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493776" y="1975104"/>
            <a:ext cx="376732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~$517M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365760" y="2999232"/>
            <a:ext cx="4023360" cy="2377440"/>
          </a:xfrm>
          <a:prstGeom prst="roundRect">
            <a:avLst>
              <a:gd name="adj" fmla="val 2692"/>
            </a:avLst>
          </a:prstGeom>
          <a:solidFill>
            <a:srgbClr val="F9F9F9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" y="3090672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LOCATIONS HOLDING INVENTORY ACROSS</a:t>
            </a:r>
            <a:endParaRPr lang="en-US" sz="750" dirty="0"/>
          </a:p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FULFILLMENTS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93776" y="3438144"/>
            <a:ext cx="14173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~890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1920240" y="352044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locations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12064" y="4169664"/>
            <a:ext cx="384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~700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914400" y="4169664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UBIF &amp; 3rd-party repair locations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512064" y="4626864"/>
            <a:ext cx="384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~90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914400" y="4626864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3rd-party repair vendors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12064" y="5084064"/>
            <a:ext cx="384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914400" y="5084064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UROC mail-in repair location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432304" y="4169664"/>
            <a:ext cx="384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834640" y="4169664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Stocking Locations (FSLs)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432304" y="4626864"/>
            <a:ext cx="384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834640" y="4626864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inventory distribution centers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663440" y="1719072"/>
            <a:ext cx="2325624" cy="3657600"/>
          </a:xfrm>
          <a:prstGeom prst="roundRect">
            <a:avLst>
              <a:gd name="adj" fmla="val 2752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28032" y="1828800"/>
            <a:ext cx="402336" cy="402336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09744" y="2340864"/>
            <a:ext cx="20330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Replacement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Fulfillment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809744" y="2871216"/>
            <a:ext cx="2033016" cy="0"/>
          </a:xfrm>
          <a:prstGeom prst="line">
            <a:avLst/>
          </a:prstGeom>
          <a:noFill/>
          <a:ln w="5080">
            <a:solidFill>
              <a:srgbClr val="DDDDD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09744" y="30449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56048" y="29535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Exchange (mail fulfillment)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809744" y="35021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56048" y="34107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&amp; Expert Setup (DES)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809744" y="39593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56048" y="38679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Warehouses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809744" y="44165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56048" y="43251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Stocking Locations (~97)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809744" y="48737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956048" y="47823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Asurion-Owned &amp; Consigned Inventory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7080504" y="1719072"/>
            <a:ext cx="2325624" cy="3657600"/>
          </a:xfrm>
          <a:prstGeom prst="roundRect">
            <a:avLst>
              <a:gd name="adj" fmla="val 2752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245096" y="1828800"/>
            <a:ext cx="402336" cy="402336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226808" y="2340864"/>
            <a:ext cx="20330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Same-Unit Repair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7226808" y="2871216"/>
            <a:ext cx="2033016" cy="0"/>
          </a:xfrm>
          <a:prstGeom prst="line">
            <a:avLst/>
          </a:prstGeom>
          <a:noFill/>
          <a:ln w="5080">
            <a:solidFill>
              <a:srgbClr val="DDDDDD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226808" y="30449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73112" y="29535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Centers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26808" y="35021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373112" y="34107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Stores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226808" y="39593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373112" y="38679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Franchise Partners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226808" y="44165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73112" y="43251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Mail-In Repair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226808" y="48737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373112" y="47823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 Repair Providers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(~6% of volume)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9497568" y="1719072"/>
            <a:ext cx="2325624" cy="3657600"/>
          </a:xfrm>
          <a:prstGeom prst="roundRect">
            <a:avLst>
              <a:gd name="adj" fmla="val 2752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662160" y="1828800"/>
            <a:ext cx="402336" cy="402336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643872" y="2340864"/>
            <a:ext cx="20330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Logistics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9643872" y="2871216"/>
            <a:ext cx="2033016" cy="0"/>
          </a:xfrm>
          <a:prstGeom prst="line">
            <a:avLst/>
          </a:prstGeom>
          <a:noFill/>
          <a:ln w="5080">
            <a:solidFill>
              <a:srgbClr val="DDDDDD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9643872" y="30449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790176" y="29535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Returned Devices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9643872" y="35021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9790176" y="34107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Returned Parts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9643872" y="39593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790176" y="38679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&amp; Disposition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365760" y="5504688"/>
            <a:ext cx="45720" cy="502920"/>
          </a:xfrm>
          <a:prstGeom prst="rect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48640" y="5550408"/>
            <a:ext cx="112288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is a material business asset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constantly moving across warehouses, field locations, stores, partners, and customer channels. Every movement requires visibility and accountability.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365760" y="6071616"/>
            <a:ext cx="11457432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value figures reflect total across replacement, same-unit repair, and reverse logistics programs.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is held across ~890 locations: ~700 UBIF &amp; 3rd-party repair locations, 97 Forward Stocking Locations (FSLs), ~90 third-party repair vendors (~6% of repair volume), 2 main distribution centers, and 1 UROC mail-in repair location.</a:t>
            </a:r>
            <a:endParaRPr lang="en-US" sz="650" dirty="0"/>
          </a:p>
        </p:txBody>
      </p:sp>
      <p:sp>
        <p:nvSpPr>
          <p:cNvPr id="62" name="Shape 60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&amp; RELEVANCE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9260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— RISK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5743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Inventory is split across multiple systems of record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417320"/>
            <a:ext cx="1145743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program's inventory and financials live in one system, every unit and dollar is traceable. </a:t>
            </a:r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~$390.6M is already reconciled in D365 F&amp;O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remaining </a:t>
            </a:r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$126.3M sits on legacy systems.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993392"/>
            <a:ext cx="11457432" cy="329184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2066544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669280" y="2066544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VALUE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7680960" y="2066544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OF RECORD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0789920" y="206654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57200" y="2304288"/>
            <a:ext cx="112745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2377440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REPLACEMENT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669280" y="2377440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$390.6M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651760"/>
            <a:ext cx="11274552" cy="0"/>
          </a:xfrm>
          <a:prstGeom prst="line">
            <a:avLst/>
          </a:prstGeom>
          <a:noFill/>
          <a:ln w="381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706624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Exchange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4360" y="2926080"/>
            <a:ext cx="5029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 replacement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5669280" y="2761488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$296.4M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680960" y="2761488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D365 F&amp;O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607040" y="2743200"/>
            <a:ext cx="1188720" cy="237744"/>
          </a:xfrm>
          <a:prstGeom prst="roundRect">
            <a:avLst>
              <a:gd name="adj" fmla="val 15385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07040" y="2743200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6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Completed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" y="3163824"/>
            <a:ext cx="11274552" cy="0"/>
          </a:xfrm>
          <a:prstGeom prst="line">
            <a:avLst/>
          </a:prstGeom>
          <a:noFill/>
          <a:ln w="3810">
            <a:solidFill>
              <a:srgbClr val="DDDD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3218688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NDES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94360" y="3438144"/>
            <a:ext cx="5029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Next-Day Expert Delivery &amp; Setup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0" y="3273552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$15.3M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680960" y="3273552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D365 F&amp;O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0607040" y="3255264"/>
            <a:ext cx="1188720" cy="237744"/>
          </a:xfrm>
          <a:prstGeom prst="roundRect">
            <a:avLst>
              <a:gd name="adj" fmla="val 15385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607040" y="3255264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6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Completed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57200" y="3675888"/>
            <a:ext cx="11274552" cy="0"/>
          </a:xfrm>
          <a:prstGeom prst="line">
            <a:avLst/>
          </a:prstGeom>
          <a:noFill/>
          <a:ln w="3810">
            <a:solidFill>
              <a:srgbClr val="DDDDD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94360" y="3730752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94360" y="3950208"/>
            <a:ext cx="5029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&amp; Expert Setup — replacement via Expert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5669280" y="378561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$78.9M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680960" y="3785616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D365 F&amp;O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10607040" y="3767328"/>
            <a:ext cx="1188720" cy="237744"/>
          </a:xfrm>
          <a:prstGeom prst="roundRect">
            <a:avLst>
              <a:gd name="adj" fmla="val 15385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607040" y="3767328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6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Completed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457200" y="4187952"/>
            <a:ext cx="112745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" y="4242816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669280" y="424281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$126.3M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57200" y="4517136"/>
            <a:ext cx="11274552" cy="0"/>
          </a:xfrm>
          <a:prstGeom prst="line">
            <a:avLst/>
          </a:prstGeom>
          <a:noFill/>
          <a:ln w="3810">
            <a:solidFill>
              <a:srgbClr val="DDDDD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" y="4572000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uBreakiFix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94360" y="4791456"/>
            <a:ext cx="5029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&amp; distribution center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5669280" y="4626864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$120.0M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7680960" y="4626864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ServiceBench + Distro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10607040" y="4608576"/>
            <a:ext cx="118872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0607040" y="4608576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7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Migrating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457200" y="5029200"/>
            <a:ext cx="11274552" cy="0"/>
          </a:xfrm>
          <a:prstGeom prst="line">
            <a:avLst/>
          </a:prstGeom>
          <a:noFill/>
          <a:ln w="3810">
            <a:solidFill>
              <a:srgbClr val="DDDDD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94360" y="5084064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Same-Unit Repair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94360" y="5303520"/>
            <a:ext cx="5029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3rd-party repair vendors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5669280" y="5138928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$6.3M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7680960" y="5138928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ServiceBench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10607040" y="5120640"/>
            <a:ext cx="118872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607040" y="5120640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7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Migrating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457200" y="5541264"/>
            <a:ext cx="112745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94360" y="5632704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inventory value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669280" y="5632704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~$516.9M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7680960" y="5632704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all programs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365760" y="5394960"/>
            <a:ext cx="5577840" cy="749808"/>
          </a:xfrm>
          <a:prstGeom prst="roundRect">
            <a:avLst>
              <a:gd name="adj" fmla="val 7317"/>
            </a:avLst>
          </a:prstGeom>
          <a:solidFill>
            <a:srgbClr val="E6F4EA"/>
          </a:solidFill>
          <a:ln w="6350">
            <a:solidFill>
              <a:srgbClr val="C8E6C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12064" y="5614416"/>
            <a:ext cx="310896" cy="310896"/>
          </a:xfrm>
          <a:prstGeom prst="ellipse">
            <a:avLst/>
          </a:prstGeom>
          <a:solidFill>
            <a:srgbClr val="1B6B2B"/>
          </a:solidFill>
          <a:ln w="12700">
            <a:solidFill>
              <a:srgbClr val="1B6B2B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12064" y="561441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932688" y="5449824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B6B2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~$390.6M</a:t>
            </a:r>
            <a:endParaRPr lang="en-US" sz="2200" dirty="0"/>
          </a:p>
        </p:txBody>
      </p:sp>
      <p:sp>
        <p:nvSpPr>
          <p:cNvPr id="59" name="Text 57"/>
          <p:cNvSpPr/>
          <p:nvPr/>
        </p:nvSpPr>
        <p:spPr>
          <a:xfrm>
            <a:off x="932688" y="5815584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in D365 F&amp;O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126480" y="5394960"/>
            <a:ext cx="5669280" cy="749808"/>
          </a:xfrm>
          <a:prstGeom prst="roundRect">
            <a:avLst>
              <a:gd name="adj" fmla="val 7317"/>
            </a:avLst>
          </a:prstGeom>
          <a:solidFill>
            <a:srgbClr val="EDE8F5"/>
          </a:solidFill>
          <a:ln w="6350">
            <a:solidFill>
              <a:srgbClr val="C4AEED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272784" y="5614416"/>
            <a:ext cx="310896" cy="3108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272784" y="5596128"/>
            <a:ext cx="3108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6693408" y="5449824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5B2C8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$126.3M</a:t>
            </a:r>
            <a:endParaRPr lang="en-US" sz="2200" dirty="0"/>
          </a:p>
        </p:txBody>
      </p:sp>
      <p:sp>
        <p:nvSpPr>
          <p:cNvPr id="64" name="Text 62"/>
          <p:cNvSpPr/>
          <p:nvPr/>
        </p:nvSpPr>
        <p:spPr>
          <a:xfrm>
            <a:off x="6693408" y="5815584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remaining migration (~24%)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365760" y="6309360"/>
            <a:ext cx="11457432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Exchange is mail replacement; NDES is Next-Day Expert Delivery &amp; Setup; DES is Delivery &amp; Expert Setup (replacement via Expert). Inventory totals ~$516.9M across all programs.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RISK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9260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— MECHANISM · FUTURE STATE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493776"/>
            <a:ext cx="11457432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Fulfillment systems connect every movement</a:t>
            </a:r>
            <a:endParaRPr lang="en-US" sz="2600" dirty="0"/>
          </a:p>
          <a:p>
            <a:pPr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to one operating model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1508760"/>
            <a:ext cx="4754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INVENTORY MOVEMENT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303520" y="1508760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BECOMES  →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8412480" y="15087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ACCOUNTABILITY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365760" y="1709928"/>
            <a:ext cx="11457432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74520"/>
            <a:ext cx="329184" cy="329184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Procurement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1810512" y="2093976"/>
            <a:ext cx="2453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037588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86228" y="1874520"/>
            <a:ext cx="329184" cy="329184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037588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482340" y="2093976"/>
            <a:ext cx="2453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709416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58056" y="1874520"/>
            <a:ext cx="329184" cy="329184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09416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Location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Store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154168" y="2093976"/>
            <a:ext cx="2453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381244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29884" y="1874520"/>
            <a:ext cx="329184" cy="329184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81244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Fulfillment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6825996" y="2093976"/>
            <a:ext cx="2453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053072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7B4FBA"/>
          </a:solidFill>
          <a:ln w="9525">
            <a:solidFill>
              <a:srgbClr val="7B4FB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01712" y="1874520"/>
            <a:ext cx="329184" cy="329184"/>
          </a:xfrm>
          <a:prstGeom prst="ellipse">
            <a:avLst/>
          </a:prstGeom>
          <a:solidFill>
            <a:srgbClr val="9B72CC"/>
          </a:solidFill>
          <a:ln w="12700">
            <a:solidFill>
              <a:srgbClr val="9B72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53072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497824" y="2093976"/>
            <a:ext cx="2453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724900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5B2C8D"/>
          </a:solidFill>
          <a:ln w="9525">
            <a:solidFill>
              <a:srgbClr val="5B2C8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273540" y="1874520"/>
            <a:ext cx="329184" cy="329184"/>
          </a:xfrm>
          <a:prstGeom prst="ellipse">
            <a:avLst/>
          </a:prstGeom>
          <a:solidFill>
            <a:srgbClr val="7B4FBA"/>
          </a:solidFill>
          <a:ln w="12700">
            <a:solidFill>
              <a:srgbClr val="7B4FB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24900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Reconciliation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169652" y="2093976"/>
            <a:ext cx="2453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396728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5B2C8D"/>
          </a:solidFill>
          <a:ln w="9525">
            <a:solidFill>
              <a:srgbClr val="5B2C8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945368" y="1874520"/>
            <a:ext cx="329184" cy="329184"/>
          </a:xfrm>
          <a:prstGeom prst="ellipse">
            <a:avLst/>
          </a:prstGeom>
          <a:solidFill>
            <a:srgbClr val="7B4FBA"/>
          </a:solidFill>
          <a:ln w="12700">
            <a:solidFill>
              <a:srgbClr val="7B4FB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396728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Billing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365760" y="2825496"/>
            <a:ext cx="1145743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65760" y="2916936"/>
            <a:ext cx="5285232" cy="2798064"/>
          </a:xfrm>
          <a:prstGeom prst="roundRect">
            <a:avLst>
              <a:gd name="adj" fmla="val 2288"/>
            </a:avLst>
          </a:prstGeom>
          <a:solidFill>
            <a:srgbClr val="F9F9F9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8640" y="3063240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2103120" y="3044952"/>
            <a:ext cx="3337560" cy="256032"/>
          </a:xfrm>
          <a:prstGeom prst="roundRect">
            <a:avLst>
              <a:gd name="adj" fmla="val 14286"/>
            </a:avLst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139696" y="3044952"/>
            <a:ext cx="3264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disconnected systems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548640" y="3392424"/>
            <a:ext cx="4956048" cy="326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synchronization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93776" y="3736848"/>
            <a:ext cx="5029200" cy="0"/>
          </a:xfrm>
          <a:prstGeom prst="line">
            <a:avLst/>
          </a:prstGeom>
          <a:noFill/>
          <a:ln w="4445">
            <a:solidFill>
              <a:srgbClr val="DDDDD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3773424"/>
            <a:ext cx="4956048" cy="326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reconciliation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93776" y="4117848"/>
            <a:ext cx="5029200" cy="0"/>
          </a:xfrm>
          <a:prstGeom prst="line">
            <a:avLst/>
          </a:prstGeom>
          <a:noFill/>
          <a:ln w="4445">
            <a:solidFill>
              <a:srgbClr val="DDDDD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48640" y="4154424"/>
            <a:ext cx="4956048" cy="326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disputes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93776" y="4498848"/>
            <a:ext cx="5029200" cy="0"/>
          </a:xfrm>
          <a:prstGeom prst="line">
            <a:avLst/>
          </a:prstGeom>
          <a:noFill/>
          <a:ln w="4445">
            <a:solidFill>
              <a:srgbClr val="DDDDD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8640" y="4535424"/>
            <a:ext cx="4956048" cy="326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Delayed visibility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93776" y="4879848"/>
            <a:ext cx="5029200" cy="0"/>
          </a:xfrm>
          <a:prstGeom prst="line">
            <a:avLst/>
          </a:prstGeom>
          <a:noFill/>
          <a:ln w="4445">
            <a:solidFill>
              <a:srgbClr val="DDDDD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48640" y="4916424"/>
            <a:ext cx="4956048" cy="326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maintenance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93776" y="5260848"/>
            <a:ext cx="5029200" cy="0"/>
          </a:xfrm>
          <a:prstGeom prst="line">
            <a:avLst/>
          </a:prstGeom>
          <a:noFill/>
          <a:ln w="4445">
            <a:solidFill>
              <a:srgbClr val="DDDDD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48640" y="5297424"/>
            <a:ext cx="4956048" cy="326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integrations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5833872" y="4078224"/>
            <a:ext cx="475488" cy="475488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33872" y="4078224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6537960" y="2916936"/>
            <a:ext cx="5285232" cy="2798064"/>
          </a:xfrm>
          <a:prstGeom prst="roundRect">
            <a:avLst>
              <a:gd name="adj" fmla="val 2288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720840" y="3063240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8366760" y="3044952"/>
            <a:ext cx="3246120" cy="256032"/>
          </a:xfrm>
          <a:prstGeom prst="roundRect">
            <a:avLst>
              <a:gd name="adj" fmla="val 14286"/>
            </a:avLst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403336" y="3044952"/>
            <a:ext cx="31729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operating model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6720840" y="3392424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and finance move together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6665976" y="3682419"/>
            <a:ext cx="5029200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720840" y="3718995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visibility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6665976" y="4008991"/>
            <a:ext cx="5029200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720840" y="4045567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inventory movement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6665976" y="4335562"/>
            <a:ext cx="5029200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720840" y="4372138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dollars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6665976" y="4662134"/>
            <a:ext cx="5029200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720840" y="4698710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fulfillment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6665976" y="4988705"/>
            <a:ext cx="5029200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720840" y="5025281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product launches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6665976" y="5315277"/>
            <a:ext cx="5029200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720840" y="5351853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AI foundation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365760" y="5843016"/>
            <a:ext cx="45720" cy="457200"/>
          </a:xfrm>
          <a:prstGeom prst="rect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48640" y="5888736"/>
            <a:ext cx="11228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and financial records should remain </a:t>
            </a:r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throughout the fulfillment lifecycle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reconciliation becomes a natural outcome, not a separate activity.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365760" y="6309360"/>
            <a:ext cx="11457432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message: Every inventory movement eventually becomes a financial event — accountability must hold across every system handoff. Inventory accountability and financial accountability should be inseparable.</a:t>
            </a:r>
            <a:endParaRPr lang="en-US" sz="650" dirty="0"/>
          </a:p>
        </p:txBody>
      </p:sp>
      <p:sp>
        <p:nvSpPr>
          <p:cNvPr id="73" name="Shape 71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75" name="Text 73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 &amp; FUTURE STATE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9260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ROADMAP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86868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 phased path to consolidate every inventory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program onto a single ERP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961120" y="566928"/>
            <a:ext cx="201168" cy="201168"/>
          </a:xfrm>
          <a:prstGeom prst="ellipse">
            <a:avLst/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61120" y="566928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9217152" y="56692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0040112" y="566928"/>
            <a:ext cx="201168" cy="201168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96144" y="56692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1119104" y="566928"/>
            <a:ext cx="201168" cy="2011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AAAA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375136" y="56692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65760" y="1572768"/>
            <a:ext cx="11457432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Managing inventory and financials across separate systems creates reconciliation gaps where loss accumulates. Each phase consolidates another fragmented system into Dynamics 365 F&amp;O, establishing a single source of truth that improves financial control and visibility across every program.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65760" y="2066544"/>
            <a:ext cx="11457432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157984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1965960" y="2194560"/>
            <a:ext cx="256032" cy="256032"/>
          </a:xfrm>
          <a:prstGeom prst="ellipse">
            <a:avLst/>
          </a:prstGeom>
          <a:solidFill>
            <a:srgbClr val="1B6B2B"/>
          </a:solidFill>
          <a:ln w="12700">
            <a:solidFill>
              <a:srgbClr val="1B6B2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965960" y="219456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295144" y="2176272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2024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898648" y="220370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965960" y="2468880"/>
            <a:ext cx="23408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SSoT for DES / NDES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453128" y="2194560"/>
            <a:ext cx="256032" cy="256032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82312" y="2176272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2026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385816" y="220370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453128" y="2468880"/>
            <a:ext cx="23408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UBIF Next Gen Portal migration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940296" y="2194560"/>
            <a:ext cx="256032" cy="256032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269480" y="2176272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2026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872984" y="220370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940296" y="2468880"/>
            <a:ext cx="23408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SSoT for SUR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940296" y="2752344"/>
            <a:ext cx="2340864" cy="219456"/>
          </a:xfrm>
          <a:prstGeom prst="roundRect">
            <a:avLst>
              <a:gd name="adj" fmla="val 16667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76872" y="2752344"/>
            <a:ext cx="22677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  Depends on Next Gen Portal migration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9427464" y="2194560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AAAA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756648" y="2176272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2027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0360152" y="220370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9427464" y="2468880"/>
            <a:ext cx="23408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UBIF Distro migration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57200" y="2962656"/>
            <a:ext cx="112745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5488" y="2999232"/>
            <a:ext cx="1252728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CONSOLIDATION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1929384" y="3090672"/>
            <a:ext cx="237744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965960" y="3090672"/>
            <a:ext cx="23042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DAX + ServiceBench + KitKat → D365 F&amp;O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1965960" y="3401568"/>
            <a:ext cx="230428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Mobility Warehouse (DAX) and DES/NDES field inventory (ServiceBench, incl. the KitKat FSL UI) consolidated into the D365 F&amp;O ERP.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416552" y="3090672"/>
            <a:ext cx="237744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453128" y="3090672"/>
            <a:ext cx="23042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 Portal → D365 F&amp;O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4453128" y="3401568"/>
            <a:ext cx="230428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uBreakiFix store inventory moves from the BAU Portal into the D365 F&amp;O ERP, giving stores visibility of inventory order and management in one system.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6903720" y="3090672"/>
            <a:ext cx="237744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940296" y="3090672"/>
            <a:ext cx="23042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ServiceBench + SBX → D365 F&amp;O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6940296" y="3401568"/>
            <a:ext cx="230428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Moves inventory management configurations supporting repair claims and fulfillment from ServiceBench into D365 F&amp;O, and replaces SBX Cycle Count with DAX WMA.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9390888" y="3090672"/>
            <a:ext cx="237744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427464" y="3090672"/>
            <a:ext cx="23042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Distro → D365 F&amp;O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9427464" y="3401568"/>
            <a:ext cx="230428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warehouse inventory moves from the in-house Distro platform into D365 F&amp;O — the last system outside the single source of truth.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457200" y="4919472"/>
            <a:ext cx="112745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75488" y="4956048"/>
            <a:ext cx="1252728" cy="1755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1965960" y="5102352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$5.7M better than forecast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1965960" y="5577840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$2.4M/yr AT&amp;T billing gain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1965960" y="6053328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138k fewer manual touches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4453128" y="5102352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Store inventory in D365 F&amp;O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4453128" y="5577840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uBreakiFix under one source of truth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4453128" y="6053328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Foundation for the SUR repair SSoT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6940296" y="5102352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Repair-claim &amp; fulfillment configs in D365 F&amp;O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6940296" y="5577840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SBX Cycle Count replaced by DAX WMA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6940296" y="6053328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Removes ServiceBench from inventory management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9427464" y="5102352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100% of inventory in one ERP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9427464" y="5577840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One operating model, warehouse to store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365760" y="6309360"/>
            <a:ext cx="11457432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the UBIF inventory SSoT roadmap: each phase consolidates a legacy source system (Mobility Warehouse DAX, DES/NDES &amp; SUR field inventory in ServiceBench, Store Inventory BAU Portal, in-house Distro) into the Dynamics 365 F&amp;O ERP as the single source of truth. Phases 2 (SUR) and 3 (UBIF Next Gen Portal) run in parallel in 2026; Phase 4 (UBIF Distro) is slotted for 2027 and completes warehouse-to-store traceability.</a:t>
            </a:r>
            <a:endParaRPr lang="en-US" sz="650" dirty="0"/>
          </a:p>
        </p:txBody>
      </p:sp>
      <p:sp>
        <p:nvSpPr>
          <p:cNvPr id="61" name="Shape 59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— WHY DISTRO MATTERS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475488"/>
            <a:ext cx="114574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— UBIF DISTRO MIGRATION, SLOTTED FOR 2027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676656"/>
            <a:ext cx="1145743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Distro is the last system standing — and the most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strategic to retire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901952"/>
            <a:ext cx="11457432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938528"/>
            <a:ext cx="1109167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</a:t>
            </a:r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technical blocker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Distro is stable and could run on our stack indefinitely. The case for moving it in 2027 is </a:t>
            </a:r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keeping the in-house warehouse platform separate compounds </a:t>
            </a:r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</a:t>
            </a:r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risk as we scale.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5760" y="2779776"/>
            <a:ext cx="2795778" cy="2560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93776" y="2926080"/>
            <a:ext cx="384048" cy="384048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3776" y="3401568"/>
            <a:ext cx="2539746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single source of truth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93776" y="3931920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493776" y="4133088"/>
            <a:ext cx="253974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Intercompany transfers across Portal → Next-Gen Portal → Distro aren't unified, and we pay stores for activity that lives outside the ERP.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93776" y="4828032"/>
            <a:ext cx="2539746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" y="4882896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GOAL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493776" y="5084064"/>
            <a:ext cx="253974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Transfers and financials settle automatically in one ledger — every dollar reconciled.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252978" y="2779776"/>
            <a:ext cx="2795778" cy="2560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80994" y="2926080"/>
            <a:ext cx="384048" cy="384048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80994" y="3401568"/>
            <a:ext cx="2539746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Designed-out loss exposure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380994" y="3931920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3380994" y="4133088"/>
            <a:ext cx="253974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losses surface in the integrations between Portal, Next-Gen Portal and Distro — latent risk that grows with volume.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380994" y="4828032"/>
            <a:ext cx="2539746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80994" y="4882896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GOAL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3380994" y="5084064"/>
            <a:ext cx="253974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systems and handoffs means no integration seams for inventory to disappear in.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140196" y="2779776"/>
            <a:ext cx="2795778" cy="2560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68212" y="2926080"/>
            <a:ext cx="384048" cy="384048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68212" y="3401568"/>
            <a:ext cx="2539746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resilience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268212" y="3931920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6268212" y="4133088"/>
            <a:ext cx="253974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Distro is a separate application maintained by only a couple of specialists — the skill set isn't fungible (key-person risk).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6268212" y="4828032"/>
            <a:ext cx="2539746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68212" y="4882896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GOAL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6268212" y="5084064"/>
            <a:ext cx="253974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 and one skill base — a team that flexes across the business.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9027414" y="2779776"/>
            <a:ext cx="2795778" cy="2560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155430" y="2926080"/>
            <a:ext cx="384048" cy="384048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55430" y="3401568"/>
            <a:ext cx="2539746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Vendor-driven request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9155430" y="3931920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9155430" y="4133088"/>
            <a:ext cx="253974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UPS, an Asurion vendor, is moving off their legacy platform; staying on Distro forces them to re-integrate with it — they already run D365 for mobility pick/pack/ship.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9155430" y="4828032"/>
            <a:ext cx="2539746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55430" y="4882896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GOAL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9155430" y="5084064"/>
            <a:ext cx="253974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common D365 platform our vendors are asking us to standardize on.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365760" y="5486400"/>
            <a:ext cx="11457432" cy="658368"/>
          </a:xfrm>
          <a:prstGeom prst="roundRect">
            <a:avLst>
              <a:gd name="adj" fmla="val 8333"/>
            </a:avLst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4360" y="5541264"/>
            <a:ext cx="110002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end state: </a:t>
            </a:r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retiring Distro puts every unit and every dollar in one ERP — explainable movement, explainable finances, a resilient team, and a client-ready foundation to scale and build AI on.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365760" y="6291072"/>
            <a:ext cx="11457432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Distro review: no single technical blocker — Distro's tech stack is stable and could run on Asurion infrastructure. The 2027 migration case is structural, not a stability fire drill.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Drivers surfaced in review: intercompany financial reconciliation, inter-system inventory loss, key-person operational risk, and vendor (UPS) request for a common platform.</a:t>
            </a:r>
            <a:endParaRPr lang="en-US" sz="650" dirty="0"/>
          </a:p>
        </p:txBody>
      </p:sp>
      <p:sp>
        <p:nvSpPr>
          <p:cNvPr id="42" name="Shape 40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DISTRO MATTERS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2026-06-09T19:09:16Z</dcterms:created>
  <dcterms:modified xsi:type="dcterms:W3CDTF">2026-06-09T19:09:16Z</dcterms:modified>
</cp:coreProperties>
</file>