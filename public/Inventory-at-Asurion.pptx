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56032"/>
            <a:ext cx="2286000" cy="347472"/>
          </a:xfrm>
          <a:prstGeom prst="rect">
            <a:avLst/>
          </a:prstGeom>
          <a:noFill/>
          <a:ln/>
        </p:spPr>
        <p:txBody>
          <a:bodyPr wrap="square" rtlCol="0" anchor="t"/>
          <a:lstStyle/>
          <a:p>
            <a:pPr indent="0" marL="0">
              <a:buNone/>
            </a:pPr>
            <a:r>
              <a:rPr lang="en-US" sz="2200" b="1" dirty="0">
                <a:solidFill>
                  <a:srgbClr val="5B2C8D"/>
                </a:solidFill>
                <a:latin typeface="Calibri" pitchFamily="34" charset="0"/>
                <a:ea typeface="Calibri" pitchFamily="34" charset="-122"/>
                <a:cs typeface="Calibri" pitchFamily="34" charset="-120"/>
              </a:rPr>
              <a:t>asurion</a:t>
            </a:r>
            <a:endParaRPr lang="en-US" sz="2200" dirty="0"/>
          </a:p>
        </p:txBody>
      </p:sp>
      <p:sp>
        <p:nvSpPr>
          <p:cNvPr id="3" name="Text 1"/>
          <p:cNvSpPr/>
          <p:nvPr/>
        </p:nvSpPr>
        <p:spPr>
          <a:xfrm>
            <a:off x="8714232" y="292608"/>
            <a:ext cx="3200400" cy="219456"/>
          </a:xfrm>
          <a:prstGeom prst="rect">
            <a:avLst/>
          </a:prstGeom>
          <a:noFill/>
          <a:ln/>
        </p:spPr>
        <p:txBody>
          <a:bodyPr wrap="square" rtlCol="0" anchor="t"/>
          <a:lstStyle/>
          <a:p>
            <a:pPr algn="r" indent="0" marL="0">
              <a:buNone/>
            </a:pPr>
            <a:r>
              <a:rPr lang="en-US" sz="750" b="1" spc="150" kern="0" dirty="0">
                <a:solidFill>
                  <a:srgbClr val="888888"/>
                </a:solidFill>
                <a:latin typeface="Calibri" pitchFamily="34" charset="0"/>
                <a:ea typeface="Calibri" pitchFamily="34" charset="-122"/>
                <a:cs typeface="Calibri" pitchFamily="34" charset="-120"/>
              </a:rPr>
              <a:t>MONTHLY PRODUCT REVIEW</a:t>
            </a:r>
            <a:endParaRPr lang="en-US" sz="750" dirty="0"/>
          </a:p>
        </p:txBody>
      </p:sp>
      <p:sp>
        <p:nvSpPr>
          <p:cNvPr id="4" name="Shape 2"/>
          <p:cNvSpPr/>
          <p:nvPr/>
        </p:nvSpPr>
        <p:spPr>
          <a:xfrm>
            <a:off x="365760" y="694944"/>
            <a:ext cx="11457432" cy="0"/>
          </a:xfrm>
          <a:prstGeom prst="line">
            <a:avLst/>
          </a:prstGeom>
          <a:noFill/>
          <a:ln w="9525">
            <a:solidFill>
              <a:srgbClr val="DDDDDD"/>
            </a:solidFill>
            <a:prstDash val="solid"/>
          </a:ln>
        </p:spPr>
      </p:sp>
      <p:sp>
        <p:nvSpPr>
          <p:cNvPr id="5" name="Shape 3"/>
          <p:cNvSpPr/>
          <p:nvPr/>
        </p:nvSpPr>
        <p:spPr>
          <a:xfrm>
            <a:off x="365760" y="960120"/>
            <a:ext cx="2926080" cy="237744"/>
          </a:xfrm>
          <a:prstGeom prst="roundRect">
            <a:avLst>
              <a:gd name="adj" fmla="val 15385"/>
            </a:avLst>
          </a:prstGeom>
          <a:solidFill>
            <a:srgbClr val="EDE8F5"/>
          </a:solidFill>
          <a:ln w="12700">
            <a:solidFill>
              <a:srgbClr val="EDE8F5"/>
            </a:solidFill>
            <a:prstDash val="solid"/>
          </a:ln>
        </p:spPr>
      </p:sp>
      <p:sp>
        <p:nvSpPr>
          <p:cNvPr id="6" name="Text 4"/>
          <p:cNvSpPr/>
          <p:nvPr/>
        </p:nvSpPr>
        <p:spPr>
          <a:xfrm>
            <a:off x="475488" y="978408"/>
            <a:ext cx="2743200" cy="201168"/>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MONTHLY PRODUCT REVIEW DEEP DIVE</a:t>
            </a:r>
            <a:endParaRPr lang="en-US" sz="750" dirty="0"/>
          </a:p>
        </p:txBody>
      </p:sp>
      <p:sp>
        <p:nvSpPr>
          <p:cNvPr id="7" name="Text 5"/>
          <p:cNvSpPr/>
          <p:nvPr/>
        </p:nvSpPr>
        <p:spPr>
          <a:xfrm>
            <a:off x="365760" y="1353312"/>
            <a:ext cx="9144000" cy="1417320"/>
          </a:xfrm>
          <a:prstGeom prst="rect">
            <a:avLst/>
          </a:prstGeom>
          <a:noFill/>
          <a:ln/>
        </p:spPr>
        <p:txBody>
          <a:bodyPr wrap="square" rtlCol="0" anchor="t"/>
          <a:lstStyle/>
          <a:p>
            <a:pPr indent="0" marL="0">
              <a:buNone/>
            </a:pPr>
            <a:r>
              <a:rPr lang="en-US" sz="4800" b="1" dirty="0">
                <a:solidFill>
                  <a:srgbClr val="111111"/>
                </a:solidFill>
                <a:latin typeface="Calibri Light" pitchFamily="34" charset="0"/>
                <a:ea typeface="Calibri Light" pitchFamily="34" charset="-122"/>
                <a:cs typeface="Calibri Light" pitchFamily="34" charset="-120"/>
              </a:rPr>
              <a:t>Inventory at Asurion</a:t>
            </a:r>
            <a:endParaRPr lang="en-US" sz="4800" dirty="0"/>
          </a:p>
        </p:txBody>
      </p:sp>
      <p:sp>
        <p:nvSpPr>
          <p:cNvPr id="8" name="Text 6"/>
          <p:cNvSpPr/>
          <p:nvPr/>
        </p:nvSpPr>
        <p:spPr>
          <a:xfrm>
            <a:off x="365760" y="2834640"/>
            <a:ext cx="8229600" cy="347472"/>
          </a:xfrm>
          <a:prstGeom prst="rect">
            <a:avLst/>
          </a:prstGeom>
          <a:noFill/>
          <a:ln/>
        </p:spPr>
        <p:txBody>
          <a:bodyPr wrap="square" rtlCol="0" anchor="t"/>
          <a:lstStyle/>
          <a:p>
            <a:pPr indent="0" marL="0">
              <a:buNone/>
            </a:pPr>
            <a:r>
              <a:rPr lang="en-US" sz="1400" dirty="0">
                <a:solidFill>
                  <a:srgbClr val="555555"/>
                </a:solidFill>
                <a:latin typeface="Calibri Light" pitchFamily="34" charset="0"/>
                <a:ea typeface="Calibri Light" pitchFamily="34" charset="-122"/>
                <a:cs typeface="Calibri Light" pitchFamily="34" charset="-120"/>
              </a:rPr>
              <a:t>How fulfillment systems enable visibility, accountability, and scale</a:t>
            </a:r>
            <a:endParaRPr lang="en-US" sz="1400" dirty="0"/>
          </a:p>
        </p:txBody>
      </p:sp>
      <p:sp>
        <p:nvSpPr>
          <p:cNvPr id="9" name="Shape 7"/>
          <p:cNvSpPr/>
          <p:nvPr/>
        </p:nvSpPr>
        <p:spPr>
          <a:xfrm>
            <a:off x="365760" y="3337560"/>
            <a:ext cx="5029200" cy="0"/>
          </a:xfrm>
          <a:prstGeom prst="line">
            <a:avLst/>
          </a:prstGeom>
          <a:noFill/>
          <a:ln w="9525">
            <a:solidFill>
              <a:srgbClr val="DDDDDD"/>
            </a:solidFill>
            <a:prstDash val="solid"/>
          </a:ln>
        </p:spPr>
      </p:sp>
      <p:sp>
        <p:nvSpPr>
          <p:cNvPr id="10" name="Text 8"/>
          <p:cNvSpPr/>
          <p:nvPr/>
        </p:nvSpPr>
        <p:spPr>
          <a:xfrm>
            <a:off x="36576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1" name="Text 9"/>
          <p:cNvSpPr/>
          <p:nvPr/>
        </p:nvSpPr>
        <p:spPr>
          <a:xfrm>
            <a:off x="36576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Bryant Mayne</a:t>
            </a:r>
            <a:endParaRPr lang="en-US" sz="1300" dirty="0"/>
          </a:p>
        </p:txBody>
      </p:sp>
      <p:sp>
        <p:nvSpPr>
          <p:cNvPr id="12" name="Text 10"/>
          <p:cNvSpPr/>
          <p:nvPr/>
        </p:nvSpPr>
        <p:spPr>
          <a:xfrm>
            <a:off x="36576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Director, D2M Fulfillment &amp; Finance</a:t>
            </a:r>
            <a:endParaRPr lang="en-US" sz="950" dirty="0"/>
          </a:p>
        </p:txBody>
      </p:sp>
      <p:sp>
        <p:nvSpPr>
          <p:cNvPr id="13" name="Text 11"/>
          <p:cNvSpPr/>
          <p:nvPr/>
        </p:nvSpPr>
        <p:spPr>
          <a:xfrm>
            <a:off x="384048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4" name="Text 12"/>
          <p:cNvSpPr/>
          <p:nvPr/>
        </p:nvSpPr>
        <p:spPr>
          <a:xfrm>
            <a:off x="384048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Thays Pritchard</a:t>
            </a:r>
            <a:endParaRPr lang="en-US" sz="1300" dirty="0"/>
          </a:p>
        </p:txBody>
      </p:sp>
      <p:sp>
        <p:nvSpPr>
          <p:cNvPr id="15" name="Text 13"/>
          <p:cNvSpPr/>
          <p:nvPr/>
        </p:nvSpPr>
        <p:spPr>
          <a:xfrm>
            <a:off x="384048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Product Management</a:t>
            </a:r>
            <a:endParaRPr lang="en-US" sz="950" dirty="0"/>
          </a:p>
        </p:txBody>
      </p:sp>
      <p:sp>
        <p:nvSpPr>
          <p:cNvPr id="16" name="Text 14"/>
          <p:cNvSpPr/>
          <p:nvPr/>
        </p:nvSpPr>
        <p:spPr>
          <a:xfrm>
            <a:off x="10360152" y="6291072"/>
            <a:ext cx="1645920" cy="201168"/>
          </a:xfrm>
          <a:prstGeom prst="rect">
            <a:avLst/>
          </a:prstGeom>
          <a:noFill/>
          <a:ln/>
        </p:spPr>
        <p:txBody>
          <a:bodyPr wrap="square" rtlCol="0" anchor="t"/>
          <a:lstStyle/>
          <a:p>
            <a:pPr algn="r" indent="0" marL="0">
              <a:buNone/>
            </a:pPr>
            <a:r>
              <a:rPr lang="en-US" sz="700" b="1" spc="200" kern="0" dirty="0">
                <a:solidFill>
                  <a:srgbClr val="888888"/>
                </a:solidFill>
                <a:latin typeface="Calibri" pitchFamily="34" charset="0"/>
                <a:ea typeface="Calibri" pitchFamily="34" charset="-122"/>
                <a:cs typeface="Calibri" pitchFamily="34" charset="-120"/>
              </a:rPr>
              <a:t>CONFIDENTIAL</a:t>
            </a:r>
            <a:endParaRPr lang="en-US" sz="700" dirty="0"/>
          </a:p>
        </p:txBody>
      </p:sp>
      <p:sp>
        <p:nvSpPr>
          <p:cNvPr id="17" name="Shape 15"/>
          <p:cNvSpPr/>
          <p:nvPr/>
        </p:nvSpPr>
        <p:spPr>
          <a:xfrm>
            <a:off x="0" y="6473952"/>
            <a:ext cx="12188952" cy="0"/>
          </a:xfrm>
          <a:prstGeom prst="line">
            <a:avLst/>
          </a:prstGeom>
          <a:noFill/>
          <a:ln w="6350">
            <a:solidFill>
              <a:srgbClr val="DDDDDD"/>
            </a:solidFill>
            <a:prstDash val="solid"/>
          </a:ln>
        </p:spPr>
      </p:sp>
      <p:sp>
        <p:nvSpPr>
          <p:cNvPr id="18" name="Text 16"/>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19" name="Text 17"/>
          <p:cNvSpPr/>
          <p:nvPr/>
        </p:nvSpPr>
        <p:spPr>
          <a:xfrm>
            <a:off x="0" y="6510528"/>
            <a:ext cx="12188952" cy="292608"/>
          </a:xfrm>
          <a:prstGeom prst="rect">
            <a:avLst/>
          </a:prstGeom>
          <a:noFill/>
          <a:ln/>
        </p:spPr>
        <p:txBody>
          <a:bodyPr wrap="square" rtlCol="0" anchor="ctr"/>
          <a:lstStyle/>
          <a:p>
            <a:pPr algn="ctr" indent="0" marL="0">
              <a:buNone/>
            </a:pPr>
            <a:endParaRPr lang="en-US" sz="800" dirty="0"/>
          </a:p>
        </p:txBody>
      </p:sp>
      <p:sp>
        <p:nvSpPr>
          <p:cNvPr id="20" name="Text 18"/>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TODAY'S DISCUSSION</a:t>
            </a:r>
            <a:endParaRPr lang="en-US" sz="800" dirty="0"/>
          </a:p>
        </p:txBody>
      </p:sp>
      <p:sp>
        <p:nvSpPr>
          <p:cNvPr id="3" name="Text 1"/>
          <p:cNvSpPr/>
          <p:nvPr/>
        </p:nvSpPr>
        <p:spPr>
          <a:xfrm>
            <a:off x="365760" y="502920"/>
            <a:ext cx="11457432" cy="640080"/>
          </a:xfrm>
          <a:prstGeom prst="rect">
            <a:avLst/>
          </a:prstGeom>
          <a:noFill/>
          <a:ln/>
        </p:spPr>
        <p:txBody>
          <a:bodyPr wrap="square" rtlCol="0" anchor="t"/>
          <a:lstStyle/>
          <a:p>
            <a:pPr indent="0" marL="0">
              <a:buNone/>
            </a:pPr>
            <a:r>
              <a:rPr lang="en-US" sz="3000" dirty="0">
                <a:solidFill>
                  <a:srgbClr val="111111"/>
                </a:solidFill>
                <a:latin typeface="Calibri Light" pitchFamily="34" charset="0"/>
                <a:ea typeface="Calibri Light" pitchFamily="34" charset="-122"/>
                <a:cs typeface="Calibri Light" pitchFamily="34" charset="-120"/>
              </a:rPr>
              <a:t>What we're covering — and why it matters</a:t>
            </a:r>
            <a:endParaRPr lang="en-US" sz="3000" dirty="0"/>
          </a:p>
        </p:txBody>
      </p:sp>
      <p:sp>
        <p:nvSpPr>
          <p:cNvPr id="4" name="Shape 2"/>
          <p:cNvSpPr/>
          <p:nvPr/>
        </p:nvSpPr>
        <p:spPr>
          <a:xfrm>
            <a:off x="365760" y="1261872"/>
            <a:ext cx="11457432" cy="658368"/>
          </a:xfrm>
          <a:prstGeom prst="roundRect">
            <a:avLst>
              <a:gd name="adj" fmla="val 8333"/>
            </a:avLst>
          </a:prstGeom>
          <a:solidFill>
            <a:srgbClr val="EDE8F5"/>
          </a:solidFill>
          <a:ln w="9525">
            <a:solidFill>
              <a:srgbClr val="C4AEED"/>
            </a:solidFill>
            <a:prstDash val="solid"/>
          </a:ln>
        </p:spPr>
      </p:sp>
      <p:sp>
        <p:nvSpPr>
          <p:cNvPr id="5" name="Text 3"/>
          <p:cNvSpPr/>
          <p:nvPr/>
        </p:nvSpPr>
        <p:spPr>
          <a:xfrm>
            <a:off x="640080" y="1316736"/>
            <a:ext cx="10908792" cy="54864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Asurion manages approximately </a:t>
            </a:r>
            <a:pPr indent="0" marL="0">
              <a:buNone/>
            </a:pPr>
            <a:r>
              <a:rPr lang="en-US" sz="1100" b="1" dirty="0">
                <a:solidFill>
                  <a:srgbClr val="5B2C8D"/>
                </a:solidFill>
                <a:latin typeface="Calibri" pitchFamily="34" charset="0"/>
                <a:ea typeface="Calibri" pitchFamily="34" charset="-122"/>
                <a:cs typeface="Calibri" pitchFamily="34" charset="-120"/>
              </a:rPr>
              <a:t>~$609M in inventory</a:t>
            </a:r>
            <a:pPr indent="0" marL="0">
              <a:buNone/>
            </a:pPr>
            <a:r>
              <a:rPr lang="en-US" sz="1100" dirty="0">
                <a:solidFill>
                  <a:srgbClr val="333333"/>
                </a:solidFill>
                <a:latin typeface="Calibri" pitchFamily="34" charset="0"/>
                <a:ea typeface="Calibri" pitchFamily="34" charset="-122"/>
                <a:cs typeface="Calibri" pitchFamily="34" charset="-120"/>
              </a:rPr>
              <a:t> across </a:t>
            </a:r>
            <a:pPr indent="0" marL="0">
              <a:buNone/>
            </a:pPr>
            <a:r>
              <a:rPr lang="en-US" sz="1100" b="1" dirty="0">
                <a:solidFill>
                  <a:srgbClr val="5B2C8D"/>
                </a:solidFill>
                <a:latin typeface="Calibri" pitchFamily="34" charset="0"/>
                <a:ea typeface="Calibri" pitchFamily="34" charset="-122"/>
                <a:cs typeface="Calibri" pitchFamily="34" charset="-120"/>
              </a:rPr>
              <a:t>~890 locations</a:t>
            </a:r>
            <a:pPr indent="0" marL="0">
              <a:buNone/>
            </a:pPr>
            <a:r>
              <a:rPr lang="en-US" sz="1100" dirty="0">
                <a:solidFill>
                  <a:srgbClr val="333333"/>
                </a:solidFill>
                <a:latin typeface="Calibri" pitchFamily="34" charset="0"/>
                <a:ea typeface="Calibri" pitchFamily="34" charset="-122"/>
                <a:cs typeface="Calibri" pitchFamily="34" charset="-120"/>
              </a:rPr>
              <a:t> spanning every fulfillment program. Of that, </a:t>
            </a:r>
            <a:pPr indent="0" marL="0">
              <a:buNone/>
            </a:pPr>
            <a:r>
              <a:rPr lang="en-US" sz="1100" b="1" dirty="0">
                <a:solidFill>
                  <a:srgbClr val="5B2C8D"/>
                </a:solidFill>
                <a:latin typeface="Calibri" pitchFamily="34" charset="0"/>
                <a:ea typeface="Calibri" pitchFamily="34" charset="-122"/>
                <a:cs typeface="Calibri" pitchFamily="34" charset="-120"/>
              </a:rPr>
              <a:t>$207M remains on legacy systems outside D365 F&amp;O</a:t>
            </a:r>
            <a:pPr indent="0" marL="0">
              <a:buNone/>
            </a:pPr>
            <a:r>
              <a:rPr lang="en-US" sz="1100" dirty="0">
                <a:solidFill>
                  <a:srgbClr val="333333"/>
                </a:solidFill>
                <a:latin typeface="Calibri" pitchFamily="34" charset="0"/>
                <a:ea typeface="Calibri" pitchFamily="34" charset="-122"/>
                <a:cs typeface="Calibri" pitchFamily="34" charset="-120"/>
              </a:rPr>
              <a:t> — introducing financial exposure, reconciliation gaps, and limited operational visibility. This review outlines the current state, the systemic risk, and the consolidation path to a single source of truth.</a:t>
            </a:r>
            <a:endParaRPr lang="en-US" sz="1100" dirty="0"/>
          </a:p>
        </p:txBody>
      </p:sp>
      <p:sp>
        <p:nvSpPr>
          <p:cNvPr id="6" name="Shape 4"/>
          <p:cNvSpPr/>
          <p:nvPr/>
        </p:nvSpPr>
        <p:spPr>
          <a:xfrm>
            <a:off x="365760" y="2103120"/>
            <a:ext cx="3697224" cy="3566160"/>
          </a:xfrm>
          <a:prstGeom prst="roundRect">
            <a:avLst>
              <a:gd name="adj" fmla="val 1795"/>
            </a:avLst>
          </a:prstGeom>
          <a:solidFill>
            <a:srgbClr val="FFFFFF"/>
          </a:solidFill>
          <a:ln w="9525">
            <a:solidFill>
              <a:srgbClr val="DDDDDD"/>
            </a:solidFill>
            <a:prstDash val="solid"/>
          </a:ln>
        </p:spPr>
      </p:sp>
      <p:sp>
        <p:nvSpPr>
          <p:cNvPr id="7" name="Shape 5"/>
          <p:cNvSpPr/>
          <p:nvPr/>
        </p:nvSpPr>
        <p:spPr>
          <a:xfrm>
            <a:off x="365760" y="2103120"/>
            <a:ext cx="3697224" cy="658368"/>
          </a:xfrm>
          <a:prstGeom prst="roundRect">
            <a:avLst>
              <a:gd name="adj" fmla="val 9722"/>
            </a:avLst>
          </a:prstGeom>
          <a:solidFill>
            <a:srgbClr val="F5F4F8"/>
          </a:solidFill>
          <a:ln w="12700">
            <a:solidFill>
              <a:srgbClr val="F5F4F8"/>
            </a:solidFill>
            <a:prstDash val="solid"/>
          </a:ln>
        </p:spPr>
      </p:sp>
      <p:sp>
        <p:nvSpPr>
          <p:cNvPr id="8" name="Shape 6"/>
          <p:cNvSpPr/>
          <p:nvPr/>
        </p:nvSpPr>
        <p:spPr>
          <a:xfrm>
            <a:off x="365760" y="2578608"/>
            <a:ext cx="3697224" cy="182880"/>
          </a:xfrm>
          <a:prstGeom prst="rect">
            <a:avLst/>
          </a:prstGeom>
          <a:solidFill>
            <a:srgbClr val="F5F4F8"/>
          </a:solidFill>
          <a:ln w="12700">
            <a:solidFill>
              <a:srgbClr val="F5F4F8"/>
            </a:solidFill>
            <a:prstDash val="solid"/>
          </a:ln>
        </p:spPr>
      </p:sp>
      <p:sp>
        <p:nvSpPr>
          <p:cNvPr id="9" name="Shape 7"/>
          <p:cNvSpPr/>
          <p:nvPr/>
        </p:nvSpPr>
        <p:spPr>
          <a:xfrm>
            <a:off x="548640" y="2194560"/>
            <a:ext cx="384048" cy="384048"/>
          </a:xfrm>
          <a:prstGeom prst="ellipse">
            <a:avLst/>
          </a:prstGeom>
          <a:solidFill>
            <a:srgbClr val="5B2C8D"/>
          </a:solidFill>
          <a:ln w="12700">
            <a:solidFill>
              <a:srgbClr val="5B2C8D"/>
            </a:solidFill>
            <a:prstDash val="solid"/>
          </a:ln>
        </p:spPr>
      </p:sp>
      <p:sp>
        <p:nvSpPr>
          <p:cNvPr id="10" name="Text 8"/>
          <p:cNvSpPr/>
          <p:nvPr/>
        </p:nvSpPr>
        <p:spPr>
          <a:xfrm>
            <a:off x="548640"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1" name="Text 9"/>
          <p:cNvSpPr/>
          <p:nvPr/>
        </p:nvSpPr>
        <p:spPr>
          <a:xfrm>
            <a:off x="1060704"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ASSET</a:t>
            </a:r>
            <a:endParaRPr lang="en-US" sz="800" dirty="0"/>
          </a:p>
        </p:txBody>
      </p:sp>
      <p:sp>
        <p:nvSpPr>
          <p:cNvPr id="12" name="Shape 10"/>
          <p:cNvSpPr/>
          <p:nvPr/>
        </p:nvSpPr>
        <p:spPr>
          <a:xfrm>
            <a:off x="548640" y="2761488"/>
            <a:ext cx="3331464" cy="0"/>
          </a:xfrm>
          <a:prstGeom prst="line">
            <a:avLst/>
          </a:prstGeom>
          <a:noFill/>
          <a:ln w="6350">
            <a:solidFill>
              <a:srgbClr val="DDDDDD"/>
            </a:solidFill>
            <a:prstDash val="solid"/>
          </a:ln>
        </p:spPr>
      </p:sp>
      <p:sp>
        <p:nvSpPr>
          <p:cNvPr id="13" name="Text 11"/>
          <p:cNvSpPr/>
          <p:nvPr/>
        </p:nvSpPr>
        <p:spPr>
          <a:xfrm>
            <a:off x="548640"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Inventory powers every</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service motion we run</a:t>
            </a:r>
            <a:endParaRPr lang="en-US" sz="1300" dirty="0"/>
          </a:p>
        </p:txBody>
      </p:sp>
      <p:sp>
        <p:nvSpPr>
          <p:cNvPr id="14" name="Text 12"/>
          <p:cNvSpPr/>
          <p:nvPr/>
        </p:nvSpPr>
        <p:spPr>
          <a:xfrm>
            <a:off x="548640"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From advance exchange to same-unit repair to reverse logistics, inventory is present at every step. Understanding its scale — where it lives, how it moves, and what programs it supports — is the foundation for everything else in this review.</a:t>
            </a:r>
            <a:endParaRPr lang="en-US" sz="1000" dirty="0"/>
          </a:p>
        </p:txBody>
      </p:sp>
      <p:sp>
        <p:nvSpPr>
          <p:cNvPr id="15" name="Shape 13"/>
          <p:cNvSpPr/>
          <p:nvPr/>
        </p:nvSpPr>
        <p:spPr>
          <a:xfrm>
            <a:off x="548640" y="5321808"/>
            <a:ext cx="3331464" cy="237744"/>
          </a:xfrm>
          <a:prstGeom prst="roundRect">
            <a:avLst>
              <a:gd name="adj" fmla="val 15385"/>
            </a:avLst>
          </a:prstGeom>
          <a:solidFill>
            <a:srgbClr val="F5F4F8"/>
          </a:solidFill>
          <a:ln w="6350">
            <a:solidFill>
              <a:srgbClr val="DDDDDD"/>
            </a:solidFill>
            <a:prstDash val="solid"/>
          </a:ln>
        </p:spPr>
      </p:sp>
      <p:sp>
        <p:nvSpPr>
          <p:cNvPr id="16" name="Text 14"/>
          <p:cNvSpPr/>
          <p:nvPr/>
        </p:nvSpPr>
        <p:spPr>
          <a:xfrm>
            <a:off x="548640"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03 – 04</a:t>
            </a:r>
            <a:endParaRPr lang="en-US" sz="800" dirty="0"/>
          </a:p>
        </p:txBody>
      </p:sp>
      <p:sp>
        <p:nvSpPr>
          <p:cNvPr id="17" name="Shape 15"/>
          <p:cNvSpPr/>
          <p:nvPr/>
        </p:nvSpPr>
        <p:spPr>
          <a:xfrm>
            <a:off x="4245864" y="2103120"/>
            <a:ext cx="3697224" cy="3566160"/>
          </a:xfrm>
          <a:prstGeom prst="roundRect">
            <a:avLst>
              <a:gd name="adj" fmla="val 1795"/>
            </a:avLst>
          </a:prstGeom>
          <a:solidFill>
            <a:srgbClr val="FFFFFF"/>
          </a:solidFill>
          <a:ln w="9525">
            <a:solidFill>
              <a:srgbClr val="DDDDDD"/>
            </a:solidFill>
            <a:prstDash val="solid"/>
          </a:ln>
        </p:spPr>
      </p:sp>
      <p:sp>
        <p:nvSpPr>
          <p:cNvPr id="18" name="Shape 16"/>
          <p:cNvSpPr/>
          <p:nvPr/>
        </p:nvSpPr>
        <p:spPr>
          <a:xfrm>
            <a:off x="4245864" y="2103120"/>
            <a:ext cx="3697224" cy="658368"/>
          </a:xfrm>
          <a:prstGeom prst="roundRect">
            <a:avLst>
              <a:gd name="adj" fmla="val 9722"/>
            </a:avLst>
          </a:prstGeom>
          <a:solidFill>
            <a:srgbClr val="F5EEF8"/>
          </a:solidFill>
          <a:ln w="12700">
            <a:solidFill>
              <a:srgbClr val="F5EEF8"/>
            </a:solidFill>
            <a:prstDash val="solid"/>
          </a:ln>
        </p:spPr>
      </p:sp>
      <p:sp>
        <p:nvSpPr>
          <p:cNvPr id="19" name="Shape 17"/>
          <p:cNvSpPr/>
          <p:nvPr/>
        </p:nvSpPr>
        <p:spPr>
          <a:xfrm>
            <a:off x="4245864" y="2578608"/>
            <a:ext cx="3697224" cy="182880"/>
          </a:xfrm>
          <a:prstGeom prst="rect">
            <a:avLst/>
          </a:prstGeom>
          <a:solidFill>
            <a:srgbClr val="F5EEF8"/>
          </a:solidFill>
          <a:ln w="12700">
            <a:solidFill>
              <a:srgbClr val="F5EEF8"/>
            </a:solidFill>
            <a:prstDash val="solid"/>
          </a:ln>
        </p:spPr>
      </p:sp>
      <p:sp>
        <p:nvSpPr>
          <p:cNvPr id="20" name="Shape 18"/>
          <p:cNvSpPr/>
          <p:nvPr/>
        </p:nvSpPr>
        <p:spPr>
          <a:xfrm>
            <a:off x="4428744" y="2194560"/>
            <a:ext cx="384048" cy="384048"/>
          </a:xfrm>
          <a:prstGeom prst="ellipse">
            <a:avLst/>
          </a:prstGeom>
          <a:solidFill>
            <a:srgbClr val="5B2C8D"/>
          </a:solidFill>
          <a:ln w="12700">
            <a:solidFill>
              <a:srgbClr val="5B2C8D"/>
            </a:solidFill>
            <a:prstDash val="solid"/>
          </a:ln>
        </p:spPr>
      </p:sp>
      <p:sp>
        <p:nvSpPr>
          <p:cNvPr id="21" name="Text 19"/>
          <p:cNvSpPr/>
          <p:nvPr/>
        </p:nvSpPr>
        <p:spPr>
          <a:xfrm>
            <a:off x="4428744"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22" name="Text 20"/>
          <p:cNvSpPr/>
          <p:nvPr/>
        </p:nvSpPr>
        <p:spPr>
          <a:xfrm>
            <a:off x="4940808"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PROBLEM</a:t>
            </a:r>
            <a:endParaRPr lang="en-US" sz="800" dirty="0"/>
          </a:p>
        </p:txBody>
      </p:sp>
      <p:sp>
        <p:nvSpPr>
          <p:cNvPr id="23" name="Shape 21"/>
          <p:cNvSpPr/>
          <p:nvPr/>
        </p:nvSpPr>
        <p:spPr>
          <a:xfrm>
            <a:off x="4428744" y="2761488"/>
            <a:ext cx="3331464" cy="0"/>
          </a:xfrm>
          <a:prstGeom prst="line">
            <a:avLst/>
          </a:prstGeom>
          <a:noFill/>
          <a:ln w="6350">
            <a:solidFill>
              <a:srgbClr val="DDDDDD"/>
            </a:solidFill>
            <a:prstDash val="solid"/>
          </a:ln>
        </p:spPr>
      </p:sp>
      <p:sp>
        <p:nvSpPr>
          <p:cNvPr id="24" name="Text 22"/>
          <p:cNvSpPr/>
          <p:nvPr/>
        </p:nvSpPr>
        <p:spPr>
          <a:xfrm>
            <a:off x="4428744"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Fragmented systems create</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financial and operational risk</a:t>
            </a:r>
            <a:endParaRPr lang="en-US" sz="1300" dirty="0"/>
          </a:p>
        </p:txBody>
      </p:sp>
      <p:sp>
        <p:nvSpPr>
          <p:cNvPr id="25" name="Text 23"/>
          <p:cNvSpPr/>
          <p:nvPr/>
        </p:nvSpPr>
        <p:spPr>
          <a:xfrm>
            <a:off x="4428744"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A significant portion of our inventory is managed across legacy platforms that are disconnected from our ERP. This fragmentation makes it difficult to trace units, close financial records accurately, and respond to issues before they compound into larger losses.</a:t>
            </a:r>
            <a:endParaRPr lang="en-US" sz="1000" dirty="0"/>
          </a:p>
        </p:txBody>
      </p:sp>
      <p:sp>
        <p:nvSpPr>
          <p:cNvPr id="26" name="Shape 24"/>
          <p:cNvSpPr/>
          <p:nvPr/>
        </p:nvSpPr>
        <p:spPr>
          <a:xfrm>
            <a:off x="4428744" y="5321808"/>
            <a:ext cx="3331464" cy="237744"/>
          </a:xfrm>
          <a:prstGeom prst="roundRect">
            <a:avLst>
              <a:gd name="adj" fmla="val 15385"/>
            </a:avLst>
          </a:prstGeom>
          <a:solidFill>
            <a:srgbClr val="F5F4F8"/>
          </a:solidFill>
          <a:ln w="6350">
            <a:solidFill>
              <a:srgbClr val="DDDDDD"/>
            </a:solidFill>
            <a:prstDash val="solid"/>
          </a:ln>
        </p:spPr>
      </p:sp>
      <p:sp>
        <p:nvSpPr>
          <p:cNvPr id="27" name="Text 25"/>
          <p:cNvSpPr/>
          <p:nvPr/>
        </p:nvSpPr>
        <p:spPr>
          <a:xfrm>
            <a:off x="4428744"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 05</a:t>
            </a:r>
            <a:endParaRPr lang="en-US" sz="800" dirty="0"/>
          </a:p>
        </p:txBody>
      </p:sp>
      <p:sp>
        <p:nvSpPr>
          <p:cNvPr id="28" name="Shape 26"/>
          <p:cNvSpPr/>
          <p:nvPr/>
        </p:nvSpPr>
        <p:spPr>
          <a:xfrm>
            <a:off x="8125968" y="2103120"/>
            <a:ext cx="3697224" cy="3566160"/>
          </a:xfrm>
          <a:prstGeom prst="roundRect">
            <a:avLst>
              <a:gd name="adj" fmla="val 1795"/>
            </a:avLst>
          </a:prstGeom>
          <a:solidFill>
            <a:srgbClr val="FFFFFF"/>
          </a:solidFill>
          <a:ln w="9525">
            <a:solidFill>
              <a:srgbClr val="DDDDDD"/>
            </a:solidFill>
            <a:prstDash val="solid"/>
          </a:ln>
        </p:spPr>
      </p:sp>
      <p:sp>
        <p:nvSpPr>
          <p:cNvPr id="29" name="Shape 27"/>
          <p:cNvSpPr/>
          <p:nvPr/>
        </p:nvSpPr>
        <p:spPr>
          <a:xfrm>
            <a:off x="8125968" y="2103120"/>
            <a:ext cx="3697224" cy="658368"/>
          </a:xfrm>
          <a:prstGeom prst="roundRect">
            <a:avLst>
              <a:gd name="adj" fmla="val 9722"/>
            </a:avLst>
          </a:prstGeom>
          <a:solidFill>
            <a:srgbClr val="EDE8F5"/>
          </a:solidFill>
          <a:ln w="12700">
            <a:solidFill>
              <a:srgbClr val="EDE8F5"/>
            </a:solidFill>
            <a:prstDash val="solid"/>
          </a:ln>
        </p:spPr>
      </p:sp>
      <p:sp>
        <p:nvSpPr>
          <p:cNvPr id="30" name="Shape 28"/>
          <p:cNvSpPr/>
          <p:nvPr/>
        </p:nvSpPr>
        <p:spPr>
          <a:xfrm>
            <a:off x="8125968" y="2578608"/>
            <a:ext cx="3697224" cy="182880"/>
          </a:xfrm>
          <a:prstGeom prst="rect">
            <a:avLst/>
          </a:prstGeom>
          <a:solidFill>
            <a:srgbClr val="EDE8F5"/>
          </a:solidFill>
          <a:ln w="12700">
            <a:solidFill>
              <a:srgbClr val="EDE8F5"/>
            </a:solidFill>
            <a:prstDash val="solid"/>
          </a:ln>
        </p:spPr>
      </p:sp>
      <p:sp>
        <p:nvSpPr>
          <p:cNvPr id="31" name="Shape 29"/>
          <p:cNvSpPr/>
          <p:nvPr/>
        </p:nvSpPr>
        <p:spPr>
          <a:xfrm>
            <a:off x="8308848" y="2194560"/>
            <a:ext cx="384048" cy="384048"/>
          </a:xfrm>
          <a:prstGeom prst="ellipse">
            <a:avLst/>
          </a:prstGeom>
          <a:solidFill>
            <a:srgbClr val="5B2C8D"/>
          </a:solidFill>
          <a:ln w="12700">
            <a:solidFill>
              <a:srgbClr val="5B2C8D"/>
            </a:solidFill>
            <a:prstDash val="solid"/>
          </a:ln>
        </p:spPr>
      </p:sp>
      <p:sp>
        <p:nvSpPr>
          <p:cNvPr id="32" name="Text 30"/>
          <p:cNvSpPr/>
          <p:nvPr/>
        </p:nvSpPr>
        <p:spPr>
          <a:xfrm>
            <a:off x="8308848"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33" name="Text 31"/>
          <p:cNvSpPr/>
          <p:nvPr/>
        </p:nvSpPr>
        <p:spPr>
          <a:xfrm>
            <a:off x="8820912"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PATH FORWARD</a:t>
            </a:r>
            <a:endParaRPr lang="en-US" sz="800" dirty="0"/>
          </a:p>
        </p:txBody>
      </p:sp>
      <p:sp>
        <p:nvSpPr>
          <p:cNvPr id="34" name="Shape 32"/>
          <p:cNvSpPr/>
          <p:nvPr/>
        </p:nvSpPr>
        <p:spPr>
          <a:xfrm>
            <a:off x="8308848" y="2761488"/>
            <a:ext cx="3331464" cy="0"/>
          </a:xfrm>
          <a:prstGeom prst="line">
            <a:avLst/>
          </a:prstGeom>
          <a:noFill/>
          <a:ln w="6350">
            <a:solidFill>
              <a:srgbClr val="DDDDDD"/>
            </a:solidFill>
            <a:prstDash val="solid"/>
          </a:ln>
        </p:spPr>
      </p:sp>
      <p:sp>
        <p:nvSpPr>
          <p:cNvPr id="35" name="Text 33"/>
          <p:cNvSpPr/>
          <p:nvPr/>
        </p:nvSpPr>
        <p:spPr>
          <a:xfrm>
            <a:off x="8308848"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A proven model, scaling</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program by program</a:t>
            </a:r>
            <a:endParaRPr lang="en-US" sz="1300" dirty="0"/>
          </a:p>
        </p:txBody>
      </p:sp>
      <p:sp>
        <p:nvSpPr>
          <p:cNvPr id="36" name="Text 34"/>
          <p:cNvSpPr/>
          <p:nvPr/>
        </p:nvSpPr>
        <p:spPr>
          <a:xfrm>
            <a:off x="8308848"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We have a tested, phased approach to consolidating every inventory program into a single source of truth. The model is already working — and this review outlines what remains, why it matters, and what full consolidation makes possible.</a:t>
            </a:r>
            <a:endParaRPr lang="en-US" sz="1000" dirty="0"/>
          </a:p>
        </p:txBody>
      </p:sp>
      <p:sp>
        <p:nvSpPr>
          <p:cNvPr id="37" name="Shape 35"/>
          <p:cNvSpPr/>
          <p:nvPr/>
        </p:nvSpPr>
        <p:spPr>
          <a:xfrm>
            <a:off x="8308848" y="5321808"/>
            <a:ext cx="3331464" cy="237744"/>
          </a:xfrm>
          <a:prstGeom prst="roundRect">
            <a:avLst>
              <a:gd name="adj" fmla="val 15385"/>
            </a:avLst>
          </a:prstGeom>
          <a:solidFill>
            <a:srgbClr val="F5F4F8"/>
          </a:solidFill>
          <a:ln w="6350">
            <a:solidFill>
              <a:srgbClr val="DDDDDD"/>
            </a:solidFill>
            <a:prstDash val="solid"/>
          </a:ln>
        </p:spPr>
      </p:sp>
      <p:sp>
        <p:nvSpPr>
          <p:cNvPr id="38" name="Text 36"/>
          <p:cNvSpPr/>
          <p:nvPr/>
        </p:nvSpPr>
        <p:spPr>
          <a:xfrm>
            <a:off x="8308848"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06 – 07</a:t>
            </a:r>
            <a:endParaRPr lang="en-US" sz="800" dirty="0"/>
          </a:p>
        </p:txBody>
      </p:sp>
      <p:sp>
        <p:nvSpPr>
          <p:cNvPr id="39" name="Text 37"/>
          <p:cNvSpPr/>
          <p:nvPr/>
        </p:nvSpPr>
        <p:spPr>
          <a:xfrm>
            <a:off x="4081272" y="37216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0" name="Text 38"/>
          <p:cNvSpPr/>
          <p:nvPr/>
        </p:nvSpPr>
        <p:spPr>
          <a:xfrm>
            <a:off x="7961376" y="37216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1" name="Shape 39"/>
          <p:cNvSpPr/>
          <p:nvPr/>
        </p:nvSpPr>
        <p:spPr>
          <a:xfrm>
            <a:off x="0" y="6473952"/>
            <a:ext cx="12188952" cy="0"/>
          </a:xfrm>
          <a:prstGeom prst="line">
            <a:avLst/>
          </a:prstGeom>
          <a:noFill/>
          <a:ln w="6350">
            <a:solidFill>
              <a:srgbClr val="DDDDDD"/>
            </a:solidFill>
            <a:prstDash val="solid"/>
          </a:ln>
        </p:spPr>
      </p:sp>
      <p:sp>
        <p:nvSpPr>
          <p:cNvPr id="42" name="Text 40"/>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3" name="Text 41"/>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AGENDA</a:t>
            </a:r>
            <a:endParaRPr lang="en-US" sz="800" dirty="0"/>
          </a:p>
        </p:txBody>
      </p:sp>
      <p:sp>
        <p:nvSpPr>
          <p:cNvPr id="44" name="Text 42"/>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01 — SCALE</a:t>
            </a:r>
            <a:endParaRPr lang="en-US" sz="800" dirty="0"/>
          </a:p>
        </p:txBody>
      </p:sp>
      <p:sp>
        <p:nvSpPr>
          <p:cNvPr id="3" name="Text 1"/>
          <p:cNvSpPr/>
          <p:nvPr/>
        </p:nvSpPr>
        <p:spPr>
          <a:xfrm>
            <a:off x="365760" y="502920"/>
            <a:ext cx="11457432"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Inventory supports every fulfillment motion across</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Asurion's service network</a:t>
            </a:r>
            <a:endParaRPr lang="en-US" sz="2800" dirty="0"/>
          </a:p>
        </p:txBody>
      </p:sp>
      <p:sp>
        <p:nvSpPr>
          <p:cNvPr id="4" name="Shape 2"/>
          <p:cNvSpPr/>
          <p:nvPr/>
        </p:nvSpPr>
        <p:spPr>
          <a:xfrm>
            <a:off x="365760" y="1719072"/>
            <a:ext cx="4023360" cy="1188720"/>
          </a:xfrm>
          <a:prstGeom prst="roundRect">
            <a:avLst>
              <a:gd name="adj" fmla="val 5385"/>
            </a:avLst>
          </a:prstGeom>
          <a:solidFill>
            <a:srgbClr val="5B2C8D"/>
          </a:solidFill>
          <a:ln w="12700">
            <a:solidFill>
              <a:srgbClr val="5B2C8D"/>
            </a:solidFill>
            <a:prstDash val="solid"/>
          </a:ln>
        </p:spPr>
      </p:sp>
      <p:sp>
        <p:nvSpPr>
          <p:cNvPr id="5" name="Text 3"/>
          <p:cNvSpPr/>
          <p:nvPr/>
        </p:nvSpPr>
        <p:spPr>
          <a:xfrm>
            <a:off x="530352" y="1792224"/>
            <a:ext cx="3749040" cy="201168"/>
          </a:xfrm>
          <a:prstGeom prst="rect">
            <a:avLst/>
          </a:prstGeom>
          <a:noFill/>
          <a:ln/>
        </p:spPr>
        <p:txBody>
          <a:bodyPr wrap="square" rtlCol="0" anchor="ctr"/>
          <a:lstStyle/>
          <a:p>
            <a:pPr indent="0" marL="0">
              <a:buNone/>
            </a:pPr>
            <a:r>
              <a:rPr lang="en-US" sz="750" b="1" spc="100" kern="0" dirty="0">
                <a:solidFill>
                  <a:srgbClr val="C4AEED"/>
                </a:solidFill>
                <a:latin typeface="Calibri" pitchFamily="34" charset="0"/>
                <a:ea typeface="Calibri" pitchFamily="34" charset="-122"/>
                <a:cs typeface="Calibri" pitchFamily="34" charset="-120"/>
              </a:rPr>
              <a:t>INVENTORY VALUE ACROSS PROGRAMS</a:t>
            </a:r>
            <a:endParaRPr lang="en-US" sz="750" dirty="0"/>
          </a:p>
        </p:txBody>
      </p:sp>
      <p:sp>
        <p:nvSpPr>
          <p:cNvPr id="6" name="Text 4"/>
          <p:cNvSpPr/>
          <p:nvPr/>
        </p:nvSpPr>
        <p:spPr>
          <a:xfrm>
            <a:off x="493776" y="1975104"/>
            <a:ext cx="3767328" cy="777240"/>
          </a:xfrm>
          <a:prstGeom prst="rect">
            <a:avLst/>
          </a:prstGeom>
          <a:noFill/>
          <a:ln/>
        </p:spPr>
        <p:txBody>
          <a:bodyPr wrap="square" rtlCol="0" anchor="ctr"/>
          <a:lstStyle/>
          <a:p>
            <a:pPr indent="0" marL="0">
              <a:buNone/>
            </a:pPr>
            <a:r>
              <a:rPr lang="en-US" sz="3800" b="1" dirty="0">
                <a:solidFill>
                  <a:srgbClr val="FFFFFF"/>
                </a:solidFill>
                <a:latin typeface="Calibri Light" pitchFamily="34" charset="0"/>
                <a:ea typeface="Calibri Light" pitchFamily="34" charset="-122"/>
                <a:cs typeface="Calibri Light" pitchFamily="34" charset="-120"/>
              </a:rPr>
              <a:t>~$517M</a:t>
            </a:r>
            <a:endParaRPr lang="en-US" sz="3800" dirty="0"/>
          </a:p>
        </p:txBody>
      </p:sp>
      <p:sp>
        <p:nvSpPr>
          <p:cNvPr id="7" name="Shape 5"/>
          <p:cNvSpPr/>
          <p:nvPr/>
        </p:nvSpPr>
        <p:spPr>
          <a:xfrm>
            <a:off x="365760" y="2999232"/>
            <a:ext cx="4023360" cy="2377440"/>
          </a:xfrm>
          <a:prstGeom prst="roundRect">
            <a:avLst>
              <a:gd name="adj" fmla="val 2692"/>
            </a:avLst>
          </a:prstGeom>
          <a:solidFill>
            <a:srgbClr val="F9F9F9"/>
          </a:solidFill>
          <a:ln w="9525">
            <a:solidFill>
              <a:srgbClr val="DDDDDD"/>
            </a:solidFill>
            <a:prstDash val="solid"/>
          </a:ln>
        </p:spPr>
      </p:sp>
      <p:sp>
        <p:nvSpPr>
          <p:cNvPr id="8" name="Text 6"/>
          <p:cNvSpPr/>
          <p:nvPr/>
        </p:nvSpPr>
        <p:spPr>
          <a:xfrm>
            <a:off x="530352" y="3090672"/>
            <a:ext cx="3749040" cy="347472"/>
          </a:xfrm>
          <a:prstGeom prst="rect">
            <a:avLst/>
          </a:prstGeom>
          <a:noFill/>
          <a:ln/>
        </p:spPr>
        <p:txBody>
          <a:bodyPr wrap="square" rtlCol="0" anchor="t"/>
          <a:lstStyle/>
          <a:p>
            <a:pPr indent="0" marL="0">
              <a:buNone/>
            </a:pPr>
            <a:r>
              <a:rPr lang="en-US" sz="750" b="1" spc="100" kern="0" dirty="0">
                <a:solidFill>
                  <a:srgbClr val="888888"/>
                </a:solidFill>
                <a:latin typeface="Calibri" pitchFamily="34" charset="0"/>
                <a:ea typeface="Calibri" pitchFamily="34" charset="-122"/>
                <a:cs typeface="Calibri" pitchFamily="34" charset="-120"/>
              </a:rPr>
              <a:t>LOCATIONS HOLDING INVENTORY ACROSS</a:t>
            </a:r>
            <a:endParaRPr lang="en-US" sz="750" dirty="0"/>
          </a:p>
          <a:p>
            <a:pPr indent="0" marL="0">
              <a:buNone/>
            </a:pPr>
            <a:r>
              <a:rPr lang="en-US" sz="750" b="1" spc="100" kern="0" dirty="0">
                <a:solidFill>
                  <a:srgbClr val="888888"/>
                </a:solidFill>
                <a:latin typeface="Calibri" pitchFamily="34" charset="0"/>
                <a:ea typeface="Calibri" pitchFamily="34" charset="-122"/>
                <a:cs typeface="Calibri" pitchFamily="34" charset="-120"/>
              </a:rPr>
              <a:t>FULFILLMENTS</a:t>
            </a:r>
            <a:endParaRPr lang="en-US" sz="750" dirty="0"/>
          </a:p>
        </p:txBody>
      </p:sp>
      <p:sp>
        <p:nvSpPr>
          <p:cNvPr id="9" name="Text 7"/>
          <p:cNvSpPr/>
          <p:nvPr/>
        </p:nvSpPr>
        <p:spPr>
          <a:xfrm>
            <a:off x="493776" y="3438144"/>
            <a:ext cx="1417320" cy="621792"/>
          </a:xfrm>
          <a:prstGeom prst="rect">
            <a:avLst/>
          </a:prstGeom>
          <a:noFill/>
          <a:ln/>
        </p:spPr>
        <p:txBody>
          <a:bodyPr wrap="square" rtlCol="0" anchor="ctr"/>
          <a:lstStyle/>
          <a:p>
            <a:pPr indent="0" marL="0">
              <a:buNone/>
            </a:pPr>
            <a:r>
              <a:rPr lang="en-US" sz="3800" b="1" dirty="0">
                <a:solidFill>
                  <a:srgbClr val="111111"/>
                </a:solidFill>
                <a:latin typeface="Calibri Light" pitchFamily="34" charset="0"/>
                <a:ea typeface="Calibri Light" pitchFamily="34" charset="-122"/>
                <a:cs typeface="Calibri Light" pitchFamily="34" charset="-120"/>
              </a:rPr>
              <a:t>~890</a:t>
            </a:r>
            <a:endParaRPr lang="en-US" sz="3800" dirty="0"/>
          </a:p>
        </p:txBody>
      </p:sp>
      <p:sp>
        <p:nvSpPr>
          <p:cNvPr id="10" name="Text 8"/>
          <p:cNvSpPr/>
          <p:nvPr/>
        </p:nvSpPr>
        <p:spPr>
          <a:xfrm>
            <a:off x="1920240" y="3520440"/>
            <a:ext cx="1645920" cy="457200"/>
          </a:xfrm>
          <a:prstGeom prst="rect">
            <a:avLst/>
          </a:prstGeom>
          <a:noFill/>
          <a:ln/>
        </p:spPr>
        <p:txBody>
          <a:bodyPr wrap="square" rtlCol="0" anchor="ctr"/>
          <a:lstStyle/>
          <a:p>
            <a:pPr indent="0" marL="0">
              <a:buNone/>
            </a:pPr>
            <a:r>
              <a:rPr lang="en-US" sz="2200" dirty="0">
                <a:solidFill>
                  <a:srgbClr val="AAAAAA"/>
                </a:solidFill>
                <a:latin typeface="Calibri Light" pitchFamily="34" charset="0"/>
                <a:ea typeface="Calibri Light" pitchFamily="34" charset="-122"/>
                <a:cs typeface="Calibri Light" pitchFamily="34" charset="-120"/>
              </a:rPr>
              <a:t>locations</a:t>
            </a:r>
            <a:endParaRPr lang="en-US" sz="2200" dirty="0"/>
          </a:p>
        </p:txBody>
      </p:sp>
      <p:sp>
        <p:nvSpPr>
          <p:cNvPr id="11" name="Text 9"/>
          <p:cNvSpPr/>
          <p:nvPr/>
        </p:nvSpPr>
        <p:spPr>
          <a:xfrm>
            <a:off x="51206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~700</a:t>
            </a:r>
            <a:endParaRPr lang="en-US" sz="950" dirty="0"/>
          </a:p>
        </p:txBody>
      </p:sp>
      <p:sp>
        <p:nvSpPr>
          <p:cNvPr id="12" name="Text 10"/>
          <p:cNvSpPr/>
          <p:nvPr/>
        </p:nvSpPr>
        <p:spPr>
          <a:xfrm>
            <a:off x="91440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UBIF &amp; 3rd-party repair locations</a:t>
            </a:r>
            <a:endParaRPr lang="en-US" sz="850" dirty="0"/>
          </a:p>
        </p:txBody>
      </p:sp>
      <p:sp>
        <p:nvSpPr>
          <p:cNvPr id="13" name="Text 11"/>
          <p:cNvSpPr/>
          <p:nvPr/>
        </p:nvSpPr>
        <p:spPr>
          <a:xfrm>
            <a:off x="51206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~90</a:t>
            </a:r>
            <a:endParaRPr lang="en-US" sz="950" dirty="0"/>
          </a:p>
        </p:txBody>
      </p:sp>
      <p:sp>
        <p:nvSpPr>
          <p:cNvPr id="14" name="Text 12"/>
          <p:cNvSpPr/>
          <p:nvPr/>
        </p:nvSpPr>
        <p:spPr>
          <a:xfrm>
            <a:off x="91440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3rd-party repair vendors</a:t>
            </a:r>
            <a:endParaRPr lang="en-US" sz="850" dirty="0"/>
          </a:p>
        </p:txBody>
      </p:sp>
      <p:sp>
        <p:nvSpPr>
          <p:cNvPr id="15" name="Text 13"/>
          <p:cNvSpPr/>
          <p:nvPr/>
        </p:nvSpPr>
        <p:spPr>
          <a:xfrm>
            <a:off x="512064" y="50840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914400" y="50840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UROC mail-in repair location</a:t>
            </a:r>
            <a:endParaRPr lang="en-US" sz="850" dirty="0"/>
          </a:p>
        </p:txBody>
      </p:sp>
      <p:sp>
        <p:nvSpPr>
          <p:cNvPr id="17" name="Text 15"/>
          <p:cNvSpPr/>
          <p:nvPr/>
        </p:nvSpPr>
        <p:spPr>
          <a:xfrm>
            <a:off x="243230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97</a:t>
            </a:r>
            <a:endParaRPr lang="en-US" sz="950" dirty="0"/>
          </a:p>
        </p:txBody>
      </p:sp>
      <p:sp>
        <p:nvSpPr>
          <p:cNvPr id="18" name="Text 16"/>
          <p:cNvSpPr/>
          <p:nvPr/>
        </p:nvSpPr>
        <p:spPr>
          <a:xfrm>
            <a:off x="283464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Forward Stocking Locations (FSLs)</a:t>
            </a:r>
            <a:endParaRPr lang="en-US" sz="850" dirty="0"/>
          </a:p>
        </p:txBody>
      </p:sp>
      <p:sp>
        <p:nvSpPr>
          <p:cNvPr id="19" name="Text 17"/>
          <p:cNvSpPr/>
          <p:nvPr/>
        </p:nvSpPr>
        <p:spPr>
          <a:xfrm>
            <a:off x="243230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2</a:t>
            </a:r>
            <a:endParaRPr lang="en-US" sz="950" dirty="0"/>
          </a:p>
        </p:txBody>
      </p:sp>
      <p:sp>
        <p:nvSpPr>
          <p:cNvPr id="20" name="Text 18"/>
          <p:cNvSpPr/>
          <p:nvPr/>
        </p:nvSpPr>
        <p:spPr>
          <a:xfrm>
            <a:off x="283464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Main inventory distribution centers</a:t>
            </a:r>
            <a:endParaRPr lang="en-US" sz="850" dirty="0"/>
          </a:p>
        </p:txBody>
      </p:sp>
      <p:sp>
        <p:nvSpPr>
          <p:cNvPr id="21" name="Shape 19"/>
          <p:cNvSpPr/>
          <p:nvPr/>
        </p:nvSpPr>
        <p:spPr>
          <a:xfrm>
            <a:off x="4663440" y="1719072"/>
            <a:ext cx="2325624" cy="3657600"/>
          </a:xfrm>
          <a:prstGeom prst="roundRect">
            <a:avLst>
              <a:gd name="adj" fmla="val 2752"/>
            </a:avLst>
          </a:prstGeom>
          <a:solidFill>
            <a:srgbClr val="FFFFFF"/>
          </a:solidFill>
          <a:ln w="9525">
            <a:solidFill>
              <a:srgbClr val="DDDDDD"/>
            </a:solidFill>
            <a:prstDash val="solid"/>
          </a:ln>
        </p:spPr>
      </p:sp>
      <p:sp>
        <p:nvSpPr>
          <p:cNvPr id="22" name="Shape 20"/>
          <p:cNvSpPr/>
          <p:nvPr/>
        </p:nvSpPr>
        <p:spPr>
          <a:xfrm>
            <a:off x="4828032" y="1828800"/>
            <a:ext cx="402336" cy="402336"/>
          </a:xfrm>
          <a:prstGeom prst="ellipse">
            <a:avLst/>
          </a:prstGeom>
          <a:solidFill>
            <a:srgbClr val="EDE8F5"/>
          </a:solidFill>
          <a:ln w="12700">
            <a:solidFill>
              <a:srgbClr val="EDE8F5"/>
            </a:solidFill>
            <a:prstDash val="solid"/>
          </a:ln>
        </p:spPr>
      </p:sp>
      <p:sp>
        <p:nvSpPr>
          <p:cNvPr id="23" name="Text 21"/>
          <p:cNvSpPr/>
          <p:nvPr/>
        </p:nvSpPr>
        <p:spPr>
          <a:xfrm>
            <a:off x="4809744"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Replacement</a:t>
            </a:r>
            <a:endParaRPr lang="en-US" sz="1150" dirty="0"/>
          </a:p>
          <a:p>
            <a:pPr indent="0" marL="0">
              <a:buNone/>
            </a:pPr>
            <a:r>
              <a:rPr lang="en-US" sz="1150" b="1" dirty="0">
                <a:solidFill>
                  <a:srgbClr val="111111"/>
                </a:solidFill>
                <a:latin typeface="Calibri" pitchFamily="34" charset="0"/>
                <a:ea typeface="Calibri" pitchFamily="34" charset="-122"/>
                <a:cs typeface="Calibri" pitchFamily="34" charset="-120"/>
              </a:rPr>
              <a:t>Fulfillment</a:t>
            </a:r>
            <a:endParaRPr lang="en-US" sz="1150" dirty="0"/>
          </a:p>
        </p:txBody>
      </p:sp>
      <p:sp>
        <p:nvSpPr>
          <p:cNvPr id="24" name="Shape 22"/>
          <p:cNvSpPr/>
          <p:nvPr/>
        </p:nvSpPr>
        <p:spPr>
          <a:xfrm>
            <a:off x="4809744" y="2871216"/>
            <a:ext cx="2033016" cy="0"/>
          </a:xfrm>
          <a:prstGeom prst="line">
            <a:avLst/>
          </a:prstGeom>
          <a:noFill/>
          <a:ln w="5080">
            <a:solidFill>
              <a:srgbClr val="DDDDDD"/>
            </a:solidFill>
            <a:prstDash val="solid"/>
          </a:ln>
        </p:spPr>
      </p:sp>
      <p:sp>
        <p:nvSpPr>
          <p:cNvPr id="25" name="Shape 23"/>
          <p:cNvSpPr/>
          <p:nvPr/>
        </p:nvSpPr>
        <p:spPr>
          <a:xfrm>
            <a:off x="4809744" y="3044952"/>
            <a:ext cx="82296" cy="82296"/>
          </a:xfrm>
          <a:prstGeom prst="ellipse">
            <a:avLst/>
          </a:prstGeom>
          <a:solidFill>
            <a:srgbClr val="5B2C8D"/>
          </a:solidFill>
          <a:ln w="12700">
            <a:solidFill>
              <a:srgbClr val="5B2C8D"/>
            </a:solidFill>
            <a:prstDash val="solid"/>
          </a:ln>
        </p:spPr>
      </p:sp>
      <p:sp>
        <p:nvSpPr>
          <p:cNvPr id="26" name="Text 24"/>
          <p:cNvSpPr/>
          <p:nvPr/>
        </p:nvSpPr>
        <p:spPr>
          <a:xfrm>
            <a:off x="4956048"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Advance Exchange (mail fulfillment)</a:t>
            </a:r>
            <a:endParaRPr lang="en-US" sz="900" dirty="0"/>
          </a:p>
        </p:txBody>
      </p:sp>
      <p:sp>
        <p:nvSpPr>
          <p:cNvPr id="27" name="Shape 25"/>
          <p:cNvSpPr/>
          <p:nvPr/>
        </p:nvSpPr>
        <p:spPr>
          <a:xfrm>
            <a:off x="4809744" y="3502152"/>
            <a:ext cx="82296" cy="82296"/>
          </a:xfrm>
          <a:prstGeom prst="ellipse">
            <a:avLst/>
          </a:prstGeom>
          <a:solidFill>
            <a:srgbClr val="5B2C8D"/>
          </a:solidFill>
          <a:ln w="12700">
            <a:solidFill>
              <a:srgbClr val="5B2C8D"/>
            </a:solidFill>
            <a:prstDash val="solid"/>
          </a:ln>
        </p:spPr>
      </p:sp>
      <p:sp>
        <p:nvSpPr>
          <p:cNvPr id="28" name="Text 26"/>
          <p:cNvSpPr/>
          <p:nvPr/>
        </p:nvSpPr>
        <p:spPr>
          <a:xfrm>
            <a:off x="4956048"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Delivery &amp; Expert Setup (DES)</a:t>
            </a:r>
            <a:endParaRPr lang="en-US" sz="900" dirty="0"/>
          </a:p>
        </p:txBody>
      </p:sp>
      <p:sp>
        <p:nvSpPr>
          <p:cNvPr id="29" name="Shape 27"/>
          <p:cNvSpPr/>
          <p:nvPr/>
        </p:nvSpPr>
        <p:spPr>
          <a:xfrm>
            <a:off x="4809744" y="3959352"/>
            <a:ext cx="82296" cy="82296"/>
          </a:xfrm>
          <a:prstGeom prst="ellipse">
            <a:avLst/>
          </a:prstGeom>
          <a:solidFill>
            <a:srgbClr val="5B2C8D"/>
          </a:solidFill>
          <a:ln w="12700">
            <a:solidFill>
              <a:srgbClr val="5B2C8D"/>
            </a:solidFill>
            <a:prstDash val="solid"/>
          </a:ln>
        </p:spPr>
      </p:sp>
      <p:sp>
        <p:nvSpPr>
          <p:cNvPr id="30" name="Text 28"/>
          <p:cNvSpPr/>
          <p:nvPr/>
        </p:nvSpPr>
        <p:spPr>
          <a:xfrm>
            <a:off x="4956048"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Central Warehouses</a:t>
            </a:r>
            <a:endParaRPr lang="en-US" sz="900" dirty="0"/>
          </a:p>
        </p:txBody>
      </p:sp>
      <p:sp>
        <p:nvSpPr>
          <p:cNvPr id="31" name="Shape 29"/>
          <p:cNvSpPr/>
          <p:nvPr/>
        </p:nvSpPr>
        <p:spPr>
          <a:xfrm>
            <a:off x="4809744" y="4416552"/>
            <a:ext cx="82296" cy="82296"/>
          </a:xfrm>
          <a:prstGeom prst="ellipse">
            <a:avLst/>
          </a:prstGeom>
          <a:solidFill>
            <a:srgbClr val="5B2C8D"/>
          </a:solidFill>
          <a:ln w="12700">
            <a:solidFill>
              <a:srgbClr val="5B2C8D"/>
            </a:solidFill>
            <a:prstDash val="solid"/>
          </a:ln>
        </p:spPr>
      </p:sp>
      <p:sp>
        <p:nvSpPr>
          <p:cNvPr id="32" name="Text 30"/>
          <p:cNvSpPr/>
          <p:nvPr/>
        </p:nvSpPr>
        <p:spPr>
          <a:xfrm>
            <a:off x="4956048"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Field Stocking Locations (~97)</a:t>
            </a:r>
            <a:endParaRPr lang="en-US" sz="900" dirty="0"/>
          </a:p>
        </p:txBody>
      </p:sp>
      <p:sp>
        <p:nvSpPr>
          <p:cNvPr id="33" name="Shape 31"/>
          <p:cNvSpPr/>
          <p:nvPr/>
        </p:nvSpPr>
        <p:spPr>
          <a:xfrm>
            <a:off x="4809744" y="4873752"/>
            <a:ext cx="82296" cy="82296"/>
          </a:xfrm>
          <a:prstGeom prst="ellipse">
            <a:avLst/>
          </a:prstGeom>
          <a:solidFill>
            <a:srgbClr val="5B2C8D"/>
          </a:solidFill>
          <a:ln w="12700">
            <a:solidFill>
              <a:srgbClr val="5B2C8D"/>
            </a:solidFill>
            <a:prstDash val="solid"/>
          </a:ln>
        </p:spPr>
      </p:sp>
      <p:sp>
        <p:nvSpPr>
          <p:cNvPr id="34" name="Text 32"/>
          <p:cNvSpPr/>
          <p:nvPr/>
        </p:nvSpPr>
        <p:spPr>
          <a:xfrm>
            <a:off x="4956048"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Asurion-Owned &amp; Consigned Inventory</a:t>
            </a:r>
            <a:endParaRPr lang="en-US" sz="900" dirty="0"/>
          </a:p>
        </p:txBody>
      </p:sp>
      <p:sp>
        <p:nvSpPr>
          <p:cNvPr id="35" name="Shape 33"/>
          <p:cNvSpPr/>
          <p:nvPr/>
        </p:nvSpPr>
        <p:spPr>
          <a:xfrm>
            <a:off x="7080504" y="1719072"/>
            <a:ext cx="2325624" cy="3657600"/>
          </a:xfrm>
          <a:prstGeom prst="roundRect">
            <a:avLst>
              <a:gd name="adj" fmla="val 2752"/>
            </a:avLst>
          </a:prstGeom>
          <a:solidFill>
            <a:srgbClr val="FFFFFF"/>
          </a:solidFill>
          <a:ln w="9525">
            <a:solidFill>
              <a:srgbClr val="DDDDDD"/>
            </a:solidFill>
            <a:prstDash val="solid"/>
          </a:ln>
        </p:spPr>
      </p:sp>
      <p:sp>
        <p:nvSpPr>
          <p:cNvPr id="36" name="Shape 34"/>
          <p:cNvSpPr/>
          <p:nvPr/>
        </p:nvSpPr>
        <p:spPr>
          <a:xfrm>
            <a:off x="7245096" y="1828800"/>
            <a:ext cx="402336" cy="402336"/>
          </a:xfrm>
          <a:prstGeom prst="ellipse">
            <a:avLst/>
          </a:prstGeom>
          <a:solidFill>
            <a:srgbClr val="EDE8F5"/>
          </a:solidFill>
          <a:ln w="12700">
            <a:solidFill>
              <a:srgbClr val="EDE8F5"/>
            </a:solidFill>
            <a:prstDash val="solid"/>
          </a:ln>
        </p:spPr>
      </p:sp>
      <p:sp>
        <p:nvSpPr>
          <p:cNvPr id="37" name="Text 35"/>
          <p:cNvSpPr/>
          <p:nvPr/>
        </p:nvSpPr>
        <p:spPr>
          <a:xfrm>
            <a:off x="7226808"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Same-Unit Repair</a:t>
            </a:r>
            <a:endParaRPr lang="en-US" sz="1150" dirty="0"/>
          </a:p>
        </p:txBody>
      </p:sp>
      <p:sp>
        <p:nvSpPr>
          <p:cNvPr id="38" name="Shape 36"/>
          <p:cNvSpPr/>
          <p:nvPr/>
        </p:nvSpPr>
        <p:spPr>
          <a:xfrm>
            <a:off x="7226808" y="2871216"/>
            <a:ext cx="2033016" cy="0"/>
          </a:xfrm>
          <a:prstGeom prst="line">
            <a:avLst/>
          </a:prstGeom>
          <a:noFill/>
          <a:ln w="5080">
            <a:solidFill>
              <a:srgbClr val="DDDDDD"/>
            </a:solidFill>
            <a:prstDash val="solid"/>
          </a:ln>
        </p:spPr>
      </p:sp>
      <p:sp>
        <p:nvSpPr>
          <p:cNvPr id="39" name="Shape 37"/>
          <p:cNvSpPr/>
          <p:nvPr/>
        </p:nvSpPr>
        <p:spPr>
          <a:xfrm>
            <a:off x="7226808" y="3044952"/>
            <a:ext cx="82296" cy="82296"/>
          </a:xfrm>
          <a:prstGeom prst="ellipse">
            <a:avLst/>
          </a:prstGeom>
          <a:solidFill>
            <a:srgbClr val="5B2C8D"/>
          </a:solidFill>
          <a:ln w="12700">
            <a:solidFill>
              <a:srgbClr val="5B2C8D"/>
            </a:solidFill>
            <a:prstDash val="solid"/>
          </a:ln>
        </p:spPr>
      </p:sp>
      <p:sp>
        <p:nvSpPr>
          <p:cNvPr id="40" name="Text 38"/>
          <p:cNvSpPr/>
          <p:nvPr/>
        </p:nvSpPr>
        <p:spPr>
          <a:xfrm>
            <a:off x="7373112"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Distribution Centers</a:t>
            </a:r>
            <a:endParaRPr lang="en-US" sz="900" dirty="0"/>
          </a:p>
        </p:txBody>
      </p:sp>
      <p:sp>
        <p:nvSpPr>
          <p:cNvPr id="41" name="Shape 39"/>
          <p:cNvSpPr/>
          <p:nvPr/>
        </p:nvSpPr>
        <p:spPr>
          <a:xfrm>
            <a:off x="7226808" y="3502152"/>
            <a:ext cx="82296" cy="82296"/>
          </a:xfrm>
          <a:prstGeom prst="ellipse">
            <a:avLst/>
          </a:prstGeom>
          <a:solidFill>
            <a:srgbClr val="5B2C8D"/>
          </a:solidFill>
          <a:ln w="12700">
            <a:solidFill>
              <a:srgbClr val="5B2C8D"/>
            </a:solidFill>
            <a:prstDash val="solid"/>
          </a:ln>
        </p:spPr>
      </p:sp>
      <p:sp>
        <p:nvSpPr>
          <p:cNvPr id="42" name="Text 40"/>
          <p:cNvSpPr/>
          <p:nvPr/>
        </p:nvSpPr>
        <p:spPr>
          <a:xfrm>
            <a:off x="7373112"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Corporate Stores</a:t>
            </a:r>
            <a:endParaRPr lang="en-US" sz="900" dirty="0"/>
          </a:p>
        </p:txBody>
      </p:sp>
      <p:sp>
        <p:nvSpPr>
          <p:cNvPr id="43" name="Shape 41"/>
          <p:cNvSpPr/>
          <p:nvPr/>
        </p:nvSpPr>
        <p:spPr>
          <a:xfrm>
            <a:off x="7226808" y="3959352"/>
            <a:ext cx="82296" cy="82296"/>
          </a:xfrm>
          <a:prstGeom prst="ellipse">
            <a:avLst/>
          </a:prstGeom>
          <a:solidFill>
            <a:srgbClr val="5B2C8D"/>
          </a:solidFill>
          <a:ln w="12700">
            <a:solidFill>
              <a:srgbClr val="5B2C8D"/>
            </a:solidFill>
            <a:prstDash val="solid"/>
          </a:ln>
        </p:spPr>
      </p:sp>
      <p:sp>
        <p:nvSpPr>
          <p:cNvPr id="44" name="Text 42"/>
          <p:cNvSpPr/>
          <p:nvPr/>
        </p:nvSpPr>
        <p:spPr>
          <a:xfrm>
            <a:off x="7373112"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Franchise Partners</a:t>
            </a:r>
            <a:endParaRPr lang="en-US" sz="900" dirty="0"/>
          </a:p>
        </p:txBody>
      </p:sp>
      <p:sp>
        <p:nvSpPr>
          <p:cNvPr id="45" name="Shape 43"/>
          <p:cNvSpPr/>
          <p:nvPr/>
        </p:nvSpPr>
        <p:spPr>
          <a:xfrm>
            <a:off x="7226808" y="4416552"/>
            <a:ext cx="82296" cy="82296"/>
          </a:xfrm>
          <a:prstGeom prst="ellipse">
            <a:avLst/>
          </a:prstGeom>
          <a:solidFill>
            <a:srgbClr val="5B2C8D"/>
          </a:solidFill>
          <a:ln w="12700">
            <a:solidFill>
              <a:srgbClr val="5B2C8D"/>
            </a:solidFill>
            <a:prstDash val="solid"/>
          </a:ln>
        </p:spPr>
      </p:sp>
      <p:sp>
        <p:nvSpPr>
          <p:cNvPr id="46" name="Text 44"/>
          <p:cNvSpPr/>
          <p:nvPr/>
        </p:nvSpPr>
        <p:spPr>
          <a:xfrm>
            <a:off x="7373112"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Mail-In Repair</a:t>
            </a:r>
            <a:endParaRPr lang="en-US" sz="900" dirty="0"/>
          </a:p>
        </p:txBody>
      </p:sp>
      <p:sp>
        <p:nvSpPr>
          <p:cNvPr id="47" name="Shape 45"/>
          <p:cNvSpPr/>
          <p:nvPr/>
        </p:nvSpPr>
        <p:spPr>
          <a:xfrm>
            <a:off x="7226808" y="4873752"/>
            <a:ext cx="82296" cy="82296"/>
          </a:xfrm>
          <a:prstGeom prst="ellipse">
            <a:avLst/>
          </a:prstGeom>
          <a:solidFill>
            <a:srgbClr val="5B2C8D"/>
          </a:solidFill>
          <a:ln w="12700">
            <a:solidFill>
              <a:srgbClr val="5B2C8D"/>
            </a:solidFill>
            <a:prstDash val="solid"/>
          </a:ln>
        </p:spPr>
      </p:sp>
      <p:sp>
        <p:nvSpPr>
          <p:cNvPr id="48" name="Text 46"/>
          <p:cNvSpPr/>
          <p:nvPr/>
        </p:nvSpPr>
        <p:spPr>
          <a:xfrm>
            <a:off x="7373112"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Third-Party Repair Providers</a:t>
            </a:r>
            <a:endParaRPr lang="en-US" sz="900" dirty="0"/>
          </a:p>
          <a:p>
            <a:pPr indent="0" marL="0">
              <a:buNone/>
            </a:pPr>
            <a:r>
              <a:rPr lang="en-US" sz="900" dirty="0">
                <a:solidFill>
                  <a:srgbClr val="555555"/>
                </a:solidFill>
                <a:latin typeface="Calibri" pitchFamily="34" charset="0"/>
                <a:ea typeface="Calibri" pitchFamily="34" charset="-122"/>
                <a:cs typeface="Calibri" pitchFamily="34" charset="-120"/>
              </a:rPr>
              <a:t>(~6% of volume)</a:t>
            </a:r>
            <a:endParaRPr lang="en-US" sz="900" dirty="0"/>
          </a:p>
        </p:txBody>
      </p:sp>
      <p:sp>
        <p:nvSpPr>
          <p:cNvPr id="49" name="Shape 47"/>
          <p:cNvSpPr/>
          <p:nvPr/>
        </p:nvSpPr>
        <p:spPr>
          <a:xfrm>
            <a:off x="9497568" y="1719072"/>
            <a:ext cx="2325624" cy="3657600"/>
          </a:xfrm>
          <a:prstGeom prst="roundRect">
            <a:avLst>
              <a:gd name="adj" fmla="val 2752"/>
            </a:avLst>
          </a:prstGeom>
          <a:solidFill>
            <a:srgbClr val="FFFFFF"/>
          </a:solidFill>
          <a:ln w="9525">
            <a:solidFill>
              <a:srgbClr val="DDDDDD"/>
            </a:solidFill>
            <a:prstDash val="solid"/>
          </a:ln>
        </p:spPr>
      </p:sp>
      <p:sp>
        <p:nvSpPr>
          <p:cNvPr id="50" name="Shape 48"/>
          <p:cNvSpPr/>
          <p:nvPr/>
        </p:nvSpPr>
        <p:spPr>
          <a:xfrm>
            <a:off x="9662160" y="1828800"/>
            <a:ext cx="402336" cy="402336"/>
          </a:xfrm>
          <a:prstGeom prst="ellipse">
            <a:avLst/>
          </a:prstGeom>
          <a:solidFill>
            <a:srgbClr val="EDE8F5"/>
          </a:solidFill>
          <a:ln w="12700">
            <a:solidFill>
              <a:srgbClr val="EDE8F5"/>
            </a:solidFill>
            <a:prstDash val="solid"/>
          </a:ln>
        </p:spPr>
      </p:sp>
      <p:sp>
        <p:nvSpPr>
          <p:cNvPr id="51" name="Text 49"/>
          <p:cNvSpPr/>
          <p:nvPr/>
        </p:nvSpPr>
        <p:spPr>
          <a:xfrm>
            <a:off x="9643872"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Reverse Logistics</a:t>
            </a:r>
            <a:endParaRPr lang="en-US" sz="1150" dirty="0"/>
          </a:p>
        </p:txBody>
      </p:sp>
      <p:sp>
        <p:nvSpPr>
          <p:cNvPr id="52" name="Shape 50"/>
          <p:cNvSpPr/>
          <p:nvPr/>
        </p:nvSpPr>
        <p:spPr>
          <a:xfrm>
            <a:off x="9643872" y="2871216"/>
            <a:ext cx="2033016" cy="0"/>
          </a:xfrm>
          <a:prstGeom prst="line">
            <a:avLst/>
          </a:prstGeom>
          <a:noFill/>
          <a:ln w="5080">
            <a:solidFill>
              <a:srgbClr val="DDDDDD"/>
            </a:solidFill>
            <a:prstDash val="solid"/>
          </a:ln>
        </p:spPr>
      </p:sp>
      <p:sp>
        <p:nvSpPr>
          <p:cNvPr id="53" name="Shape 51"/>
          <p:cNvSpPr/>
          <p:nvPr/>
        </p:nvSpPr>
        <p:spPr>
          <a:xfrm>
            <a:off x="9643872" y="3044952"/>
            <a:ext cx="82296" cy="82296"/>
          </a:xfrm>
          <a:prstGeom prst="ellipse">
            <a:avLst/>
          </a:prstGeom>
          <a:solidFill>
            <a:srgbClr val="5B2C8D"/>
          </a:solidFill>
          <a:ln w="12700">
            <a:solidFill>
              <a:srgbClr val="5B2C8D"/>
            </a:solidFill>
            <a:prstDash val="solid"/>
          </a:ln>
        </p:spPr>
      </p:sp>
      <p:sp>
        <p:nvSpPr>
          <p:cNvPr id="54" name="Text 52"/>
          <p:cNvSpPr/>
          <p:nvPr/>
        </p:nvSpPr>
        <p:spPr>
          <a:xfrm>
            <a:off x="9790176"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Devices</a:t>
            </a:r>
            <a:endParaRPr lang="en-US" sz="900" dirty="0"/>
          </a:p>
        </p:txBody>
      </p:sp>
      <p:sp>
        <p:nvSpPr>
          <p:cNvPr id="55" name="Shape 53"/>
          <p:cNvSpPr/>
          <p:nvPr/>
        </p:nvSpPr>
        <p:spPr>
          <a:xfrm>
            <a:off x="9643872" y="3502152"/>
            <a:ext cx="82296" cy="82296"/>
          </a:xfrm>
          <a:prstGeom prst="ellipse">
            <a:avLst/>
          </a:prstGeom>
          <a:solidFill>
            <a:srgbClr val="5B2C8D"/>
          </a:solidFill>
          <a:ln w="12700">
            <a:solidFill>
              <a:srgbClr val="5B2C8D"/>
            </a:solidFill>
            <a:prstDash val="solid"/>
          </a:ln>
        </p:spPr>
      </p:sp>
      <p:sp>
        <p:nvSpPr>
          <p:cNvPr id="56" name="Text 54"/>
          <p:cNvSpPr/>
          <p:nvPr/>
        </p:nvSpPr>
        <p:spPr>
          <a:xfrm>
            <a:off x="9790176"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Parts</a:t>
            </a:r>
            <a:endParaRPr lang="en-US" sz="900" dirty="0"/>
          </a:p>
        </p:txBody>
      </p:sp>
      <p:sp>
        <p:nvSpPr>
          <p:cNvPr id="57" name="Shape 55"/>
          <p:cNvSpPr/>
          <p:nvPr/>
        </p:nvSpPr>
        <p:spPr>
          <a:xfrm>
            <a:off x="9643872" y="3959352"/>
            <a:ext cx="82296" cy="82296"/>
          </a:xfrm>
          <a:prstGeom prst="ellipse">
            <a:avLst/>
          </a:prstGeom>
          <a:solidFill>
            <a:srgbClr val="5B2C8D"/>
          </a:solidFill>
          <a:ln w="12700">
            <a:solidFill>
              <a:srgbClr val="5B2C8D"/>
            </a:solidFill>
            <a:prstDash val="solid"/>
          </a:ln>
        </p:spPr>
      </p:sp>
      <p:sp>
        <p:nvSpPr>
          <p:cNvPr id="58" name="Text 56"/>
          <p:cNvSpPr/>
          <p:nvPr/>
        </p:nvSpPr>
        <p:spPr>
          <a:xfrm>
            <a:off x="9790176"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Recovery &amp; Disposition</a:t>
            </a:r>
            <a:endParaRPr lang="en-US" sz="900" dirty="0"/>
          </a:p>
        </p:txBody>
      </p:sp>
      <p:sp>
        <p:nvSpPr>
          <p:cNvPr id="59" name="Shape 57"/>
          <p:cNvSpPr/>
          <p:nvPr/>
        </p:nvSpPr>
        <p:spPr>
          <a:xfrm>
            <a:off x="365760" y="5504688"/>
            <a:ext cx="45720" cy="502920"/>
          </a:xfrm>
          <a:prstGeom prst="rect">
            <a:avLst/>
          </a:prstGeom>
          <a:solidFill>
            <a:srgbClr val="5B2C8D"/>
          </a:solidFill>
          <a:ln w="12700">
            <a:solidFill>
              <a:srgbClr val="5B2C8D"/>
            </a:solidFill>
            <a:prstDash val="solid"/>
          </a:ln>
        </p:spPr>
      </p:sp>
      <p:sp>
        <p:nvSpPr>
          <p:cNvPr id="60" name="Text 58"/>
          <p:cNvSpPr/>
          <p:nvPr/>
        </p:nvSpPr>
        <p:spPr>
          <a:xfrm>
            <a:off x="548640" y="5550408"/>
            <a:ext cx="11228832" cy="41148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is a material business asset</a:t>
            </a:r>
            <a:pPr indent="0" marL="0">
              <a:buNone/>
            </a:pPr>
            <a:r>
              <a:rPr lang="en-US" sz="1100" dirty="0">
                <a:solidFill>
                  <a:srgbClr val="333333"/>
                </a:solidFill>
                <a:latin typeface="Calibri" pitchFamily="34" charset="0"/>
                <a:ea typeface="Calibri" pitchFamily="34" charset="-122"/>
                <a:cs typeface="Calibri" pitchFamily="34" charset="-120"/>
              </a:rPr>
              <a:t> — constantly moving across warehouses, field locations, stores, partners, and customer channels. Every movement requires visibility and accountability.</a:t>
            </a:r>
            <a:endParaRPr lang="en-US" sz="1100" dirty="0"/>
          </a:p>
        </p:txBody>
      </p:sp>
      <p:sp>
        <p:nvSpPr>
          <p:cNvPr id="61" name="Text 59"/>
          <p:cNvSpPr/>
          <p:nvPr/>
        </p:nvSpPr>
        <p:spPr>
          <a:xfrm>
            <a:off x="365760" y="6071616"/>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Inventory value figures reflect total across replacement, same-unit repair, and reverse logistics programs.</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Inventory is held across ~890 locations: ~700 UBIF &amp; 3rd-party repair locations, 97 Forward Stocking Locations (FSLs), ~90 third-party repair vendors (~6% of repair volume), 2 main distribution centers, and 1 UROC mail-in repair location.</a:t>
            </a:r>
            <a:endParaRPr lang="en-US" sz="650" dirty="0"/>
          </a:p>
        </p:txBody>
      </p:sp>
      <p:sp>
        <p:nvSpPr>
          <p:cNvPr id="62" name="Shape 60"/>
          <p:cNvSpPr/>
          <p:nvPr/>
        </p:nvSpPr>
        <p:spPr>
          <a:xfrm>
            <a:off x="0" y="6473952"/>
            <a:ext cx="12188952" cy="0"/>
          </a:xfrm>
          <a:prstGeom prst="line">
            <a:avLst/>
          </a:prstGeom>
          <a:noFill/>
          <a:ln w="6350">
            <a:solidFill>
              <a:srgbClr val="DDDDDD"/>
            </a:solidFill>
            <a:prstDash val="solid"/>
          </a:ln>
        </p:spPr>
      </p:sp>
      <p:sp>
        <p:nvSpPr>
          <p:cNvPr id="63" name="Text 6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4" name="Text 6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SCALE &amp; RELEVANCE</a:t>
            </a:r>
            <a:endParaRPr lang="en-US" sz="800" dirty="0"/>
          </a:p>
        </p:txBody>
      </p:sp>
      <p:sp>
        <p:nvSpPr>
          <p:cNvPr id="65" name="Text 6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02 — RISK</a:t>
            </a:r>
            <a:endParaRPr lang="en-US" sz="800" dirty="0"/>
          </a:p>
        </p:txBody>
      </p:sp>
      <p:sp>
        <p:nvSpPr>
          <p:cNvPr id="3" name="Text 1"/>
          <p:cNvSpPr/>
          <p:nvPr/>
        </p:nvSpPr>
        <p:spPr>
          <a:xfrm>
            <a:off x="365760" y="502920"/>
            <a:ext cx="11457432" cy="868680"/>
          </a:xfrm>
          <a:prstGeom prst="rect">
            <a:avLst/>
          </a:prstGeom>
          <a:noFill/>
          <a:ln/>
        </p:spPr>
        <p:txBody>
          <a:bodyPr wrap="square" rtlCol="0" anchor="t"/>
          <a:lstStyle/>
          <a:p>
            <a:pPr indent="0" marL="0">
              <a:buNone/>
            </a:pPr>
            <a:r>
              <a:rPr lang="en-US" sz="3200" dirty="0">
                <a:solidFill>
                  <a:srgbClr val="111111"/>
                </a:solidFill>
                <a:latin typeface="Calibri Light" pitchFamily="34" charset="0"/>
                <a:ea typeface="Calibri Light" pitchFamily="34" charset="-122"/>
                <a:cs typeface="Calibri Light" pitchFamily="34" charset="-120"/>
              </a:rPr>
              <a:t>Inventory is split across multiple systems of record</a:t>
            </a:r>
            <a:endParaRPr lang="en-US" sz="3200" dirty="0"/>
          </a:p>
        </p:txBody>
      </p:sp>
      <p:sp>
        <p:nvSpPr>
          <p:cNvPr id="4" name="Text 2"/>
          <p:cNvSpPr/>
          <p:nvPr/>
        </p:nvSpPr>
        <p:spPr>
          <a:xfrm>
            <a:off x="365760" y="1417320"/>
            <a:ext cx="11457432" cy="475488"/>
          </a:xfrm>
          <a:prstGeom prst="rect">
            <a:avLst/>
          </a:prstGeom>
          <a:noFill/>
          <a:ln/>
        </p:spPr>
        <p:txBody>
          <a:bodyPr wrap="square" rtlCol="0" anchor="t"/>
          <a:lstStyle/>
          <a:p>
            <a:pPr indent="0" marL="0">
              <a:buNone/>
            </a:pPr>
            <a:r>
              <a:rPr lang="en-US" sz="1100" dirty="0">
                <a:solidFill>
                  <a:srgbClr val="333333"/>
                </a:solidFill>
                <a:latin typeface="Calibri" pitchFamily="34" charset="0"/>
                <a:ea typeface="Calibri" pitchFamily="34" charset="-122"/>
                <a:cs typeface="Calibri" pitchFamily="34" charset="-120"/>
              </a:rPr>
              <a:t>When a program's inventory and financials live in one system, every unit and dollar is traceable. </a:t>
            </a:r>
            <a:pPr indent="0" marL="0">
              <a:buNone/>
            </a:pPr>
            <a:r>
              <a:rPr lang="en-US" sz="1100" b="1" dirty="0">
                <a:solidFill>
                  <a:srgbClr val="111111"/>
                </a:solidFill>
                <a:latin typeface="Calibri" pitchFamily="34" charset="0"/>
                <a:ea typeface="Calibri" pitchFamily="34" charset="-122"/>
                <a:cs typeface="Calibri" pitchFamily="34" charset="-120"/>
              </a:rPr>
              <a:t>~$390.6M is already reconciled in D365 F&amp;O</a:t>
            </a:r>
            <a:pPr indent="0" marL="0">
              <a:buNone/>
            </a:pPr>
            <a:r>
              <a:rPr lang="en-US" sz="1100" dirty="0">
                <a:solidFill>
                  <a:srgbClr val="333333"/>
                </a:solidFill>
                <a:latin typeface="Calibri" pitchFamily="34" charset="0"/>
                <a:ea typeface="Calibri" pitchFamily="34" charset="-122"/>
                <a:cs typeface="Calibri" pitchFamily="34" charset="-120"/>
              </a:rPr>
              <a:t> — the remaining </a:t>
            </a:r>
            <a:pPr indent="0" marL="0">
              <a:buNone/>
            </a:pPr>
            <a:r>
              <a:rPr lang="en-US" sz="1100" b="1" dirty="0">
                <a:solidFill>
                  <a:srgbClr val="5B2C8D"/>
                </a:solidFill>
                <a:latin typeface="Calibri" pitchFamily="34" charset="0"/>
                <a:ea typeface="Calibri" pitchFamily="34" charset="-122"/>
                <a:cs typeface="Calibri" pitchFamily="34" charset="-120"/>
              </a:rPr>
              <a:t>$126.3M sits on legacy systems.</a:t>
            </a:r>
            <a:endParaRPr lang="en-US" sz="1100" dirty="0"/>
          </a:p>
        </p:txBody>
      </p:sp>
      <p:sp>
        <p:nvSpPr>
          <p:cNvPr id="5" name="Shape 3"/>
          <p:cNvSpPr/>
          <p:nvPr/>
        </p:nvSpPr>
        <p:spPr>
          <a:xfrm>
            <a:off x="365760" y="1993392"/>
            <a:ext cx="11457432" cy="3291840"/>
          </a:xfrm>
          <a:prstGeom prst="roundRect">
            <a:avLst>
              <a:gd name="adj" fmla="val 1667"/>
            </a:avLst>
          </a:prstGeom>
          <a:solidFill>
            <a:srgbClr val="FFFFFF"/>
          </a:solidFill>
          <a:ln w="9525">
            <a:solidFill>
              <a:srgbClr val="DDDDDD"/>
            </a:solidFill>
            <a:prstDash val="solid"/>
          </a:ln>
        </p:spPr>
      </p:sp>
      <p:sp>
        <p:nvSpPr>
          <p:cNvPr id="6" name="Text 4"/>
          <p:cNvSpPr/>
          <p:nvPr/>
        </p:nvSpPr>
        <p:spPr>
          <a:xfrm>
            <a:off x="594360" y="2066544"/>
            <a:ext cx="5029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PROGRAM</a:t>
            </a:r>
            <a:endParaRPr lang="en-US" sz="750" dirty="0"/>
          </a:p>
        </p:txBody>
      </p:sp>
      <p:sp>
        <p:nvSpPr>
          <p:cNvPr id="7" name="Text 5"/>
          <p:cNvSpPr/>
          <p:nvPr/>
        </p:nvSpPr>
        <p:spPr>
          <a:xfrm>
            <a:off x="5669280" y="2066544"/>
            <a:ext cx="18288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INVENTORY VALUE</a:t>
            </a:r>
            <a:endParaRPr lang="en-US" sz="750" dirty="0"/>
          </a:p>
        </p:txBody>
      </p:sp>
      <p:sp>
        <p:nvSpPr>
          <p:cNvPr id="8" name="Text 6"/>
          <p:cNvSpPr/>
          <p:nvPr/>
        </p:nvSpPr>
        <p:spPr>
          <a:xfrm>
            <a:off x="7680960" y="2066544"/>
            <a:ext cx="2743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SYSTEM OF RECORD</a:t>
            </a:r>
            <a:endParaRPr lang="en-US" sz="750" dirty="0"/>
          </a:p>
        </p:txBody>
      </p:sp>
      <p:sp>
        <p:nvSpPr>
          <p:cNvPr id="9" name="Text 7"/>
          <p:cNvSpPr/>
          <p:nvPr/>
        </p:nvSpPr>
        <p:spPr>
          <a:xfrm>
            <a:off x="10789920" y="2066544"/>
            <a:ext cx="100584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STATUS</a:t>
            </a:r>
            <a:endParaRPr lang="en-US" sz="750" dirty="0"/>
          </a:p>
        </p:txBody>
      </p:sp>
      <p:sp>
        <p:nvSpPr>
          <p:cNvPr id="10" name="Shape 8"/>
          <p:cNvSpPr/>
          <p:nvPr/>
        </p:nvSpPr>
        <p:spPr>
          <a:xfrm>
            <a:off x="457200" y="2304288"/>
            <a:ext cx="11274552" cy="0"/>
          </a:xfrm>
          <a:prstGeom prst="line">
            <a:avLst/>
          </a:prstGeom>
          <a:noFill/>
          <a:ln w="6350">
            <a:solidFill>
              <a:srgbClr val="DDDDDD"/>
            </a:solidFill>
            <a:prstDash val="solid"/>
          </a:ln>
        </p:spPr>
      </p:sp>
      <p:sp>
        <p:nvSpPr>
          <p:cNvPr id="11" name="Text 9"/>
          <p:cNvSpPr/>
          <p:nvPr/>
        </p:nvSpPr>
        <p:spPr>
          <a:xfrm>
            <a:off x="594360" y="2377440"/>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REPLACEMENT</a:t>
            </a:r>
            <a:endParaRPr lang="en-US" sz="900" dirty="0"/>
          </a:p>
        </p:txBody>
      </p:sp>
      <p:sp>
        <p:nvSpPr>
          <p:cNvPr id="12" name="Text 10"/>
          <p:cNvSpPr/>
          <p:nvPr/>
        </p:nvSpPr>
        <p:spPr>
          <a:xfrm>
            <a:off x="5669280" y="2377440"/>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$390.6M</a:t>
            </a:r>
            <a:endParaRPr lang="en-US" sz="1000" dirty="0"/>
          </a:p>
        </p:txBody>
      </p:sp>
      <p:sp>
        <p:nvSpPr>
          <p:cNvPr id="13" name="Shape 11"/>
          <p:cNvSpPr/>
          <p:nvPr/>
        </p:nvSpPr>
        <p:spPr>
          <a:xfrm>
            <a:off x="457200" y="2651760"/>
            <a:ext cx="11274552" cy="0"/>
          </a:xfrm>
          <a:prstGeom prst="line">
            <a:avLst/>
          </a:prstGeom>
          <a:noFill/>
          <a:ln w="3810">
            <a:solidFill>
              <a:srgbClr val="DDDDDD"/>
            </a:solidFill>
            <a:prstDash val="solid"/>
          </a:ln>
        </p:spPr>
      </p:sp>
      <p:sp>
        <p:nvSpPr>
          <p:cNvPr id="14" name="Text 12"/>
          <p:cNvSpPr/>
          <p:nvPr/>
        </p:nvSpPr>
        <p:spPr>
          <a:xfrm>
            <a:off x="594360" y="270662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Advance Exchange</a:t>
            </a:r>
            <a:endParaRPr lang="en-US" sz="1100" dirty="0"/>
          </a:p>
        </p:txBody>
      </p:sp>
      <p:sp>
        <p:nvSpPr>
          <p:cNvPr id="15" name="Text 13"/>
          <p:cNvSpPr/>
          <p:nvPr/>
        </p:nvSpPr>
        <p:spPr>
          <a:xfrm>
            <a:off x="594360" y="292608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Mail replacement</a:t>
            </a:r>
            <a:endParaRPr lang="en-US" sz="850" dirty="0"/>
          </a:p>
        </p:txBody>
      </p:sp>
      <p:sp>
        <p:nvSpPr>
          <p:cNvPr id="16" name="Text 14"/>
          <p:cNvSpPr/>
          <p:nvPr/>
        </p:nvSpPr>
        <p:spPr>
          <a:xfrm>
            <a:off x="5669280" y="276148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$296.4M</a:t>
            </a:r>
            <a:endParaRPr lang="en-US" sz="1150" dirty="0"/>
          </a:p>
        </p:txBody>
      </p:sp>
      <p:sp>
        <p:nvSpPr>
          <p:cNvPr id="17" name="Text 15"/>
          <p:cNvSpPr/>
          <p:nvPr/>
        </p:nvSpPr>
        <p:spPr>
          <a:xfrm>
            <a:off x="7680960" y="2761488"/>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18" name="Shape 16"/>
          <p:cNvSpPr/>
          <p:nvPr/>
        </p:nvSpPr>
        <p:spPr>
          <a:xfrm>
            <a:off x="10607040" y="2743200"/>
            <a:ext cx="1188720" cy="237744"/>
          </a:xfrm>
          <a:prstGeom prst="roundRect">
            <a:avLst>
              <a:gd name="adj" fmla="val 15385"/>
            </a:avLst>
          </a:prstGeom>
          <a:solidFill>
            <a:srgbClr val="E6F4EA"/>
          </a:solidFill>
          <a:ln w="12700">
            <a:solidFill>
              <a:srgbClr val="E6F4EA"/>
            </a:solidFill>
            <a:prstDash val="solid"/>
          </a:ln>
        </p:spPr>
      </p:sp>
      <p:sp>
        <p:nvSpPr>
          <p:cNvPr id="19" name="Text 17"/>
          <p:cNvSpPr/>
          <p:nvPr/>
        </p:nvSpPr>
        <p:spPr>
          <a:xfrm>
            <a:off x="10607040" y="2743200"/>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0" name="Shape 18"/>
          <p:cNvSpPr/>
          <p:nvPr/>
        </p:nvSpPr>
        <p:spPr>
          <a:xfrm>
            <a:off x="457200" y="3163824"/>
            <a:ext cx="11274552" cy="0"/>
          </a:xfrm>
          <a:prstGeom prst="line">
            <a:avLst/>
          </a:prstGeom>
          <a:noFill/>
          <a:ln w="3810">
            <a:solidFill>
              <a:srgbClr val="DDDDDD"/>
            </a:solidFill>
            <a:prstDash val="solid"/>
          </a:ln>
        </p:spPr>
      </p:sp>
      <p:sp>
        <p:nvSpPr>
          <p:cNvPr id="21" name="Text 19"/>
          <p:cNvSpPr/>
          <p:nvPr/>
        </p:nvSpPr>
        <p:spPr>
          <a:xfrm>
            <a:off x="594360" y="3218688"/>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NDES</a:t>
            </a:r>
            <a:endParaRPr lang="en-US" sz="1100" dirty="0"/>
          </a:p>
        </p:txBody>
      </p:sp>
      <p:sp>
        <p:nvSpPr>
          <p:cNvPr id="22" name="Text 20"/>
          <p:cNvSpPr/>
          <p:nvPr/>
        </p:nvSpPr>
        <p:spPr>
          <a:xfrm>
            <a:off x="594360" y="3438144"/>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Next-Day Expert Delivery &amp; Setup</a:t>
            </a:r>
            <a:endParaRPr lang="en-US" sz="850" dirty="0"/>
          </a:p>
        </p:txBody>
      </p:sp>
      <p:sp>
        <p:nvSpPr>
          <p:cNvPr id="23" name="Text 21"/>
          <p:cNvSpPr/>
          <p:nvPr/>
        </p:nvSpPr>
        <p:spPr>
          <a:xfrm>
            <a:off x="5669280" y="3273552"/>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$15.3M</a:t>
            </a:r>
            <a:endParaRPr lang="en-US" sz="1150" dirty="0"/>
          </a:p>
        </p:txBody>
      </p:sp>
      <p:sp>
        <p:nvSpPr>
          <p:cNvPr id="24" name="Text 22"/>
          <p:cNvSpPr/>
          <p:nvPr/>
        </p:nvSpPr>
        <p:spPr>
          <a:xfrm>
            <a:off x="7680960" y="3273552"/>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25" name="Shape 23"/>
          <p:cNvSpPr/>
          <p:nvPr/>
        </p:nvSpPr>
        <p:spPr>
          <a:xfrm>
            <a:off x="10607040" y="3255264"/>
            <a:ext cx="1188720" cy="237744"/>
          </a:xfrm>
          <a:prstGeom prst="roundRect">
            <a:avLst>
              <a:gd name="adj" fmla="val 15385"/>
            </a:avLst>
          </a:prstGeom>
          <a:solidFill>
            <a:srgbClr val="E6F4EA"/>
          </a:solidFill>
          <a:ln w="12700">
            <a:solidFill>
              <a:srgbClr val="E6F4EA"/>
            </a:solidFill>
            <a:prstDash val="solid"/>
          </a:ln>
        </p:spPr>
      </p:sp>
      <p:sp>
        <p:nvSpPr>
          <p:cNvPr id="26" name="Text 24"/>
          <p:cNvSpPr/>
          <p:nvPr/>
        </p:nvSpPr>
        <p:spPr>
          <a:xfrm>
            <a:off x="10607040" y="3255264"/>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7" name="Shape 25"/>
          <p:cNvSpPr/>
          <p:nvPr/>
        </p:nvSpPr>
        <p:spPr>
          <a:xfrm>
            <a:off x="457200" y="3675888"/>
            <a:ext cx="11274552" cy="0"/>
          </a:xfrm>
          <a:prstGeom prst="line">
            <a:avLst/>
          </a:prstGeom>
          <a:noFill/>
          <a:ln w="3810">
            <a:solidFill>
              <a:srgbClr val="DDDDDD"/>
            </a:solidFill>
            <a:prstDash val="solid"/>
          </a:ln>
        </p:spPr>
      </p:sp>
      <p:sp>
        <p:nvSpPr>
          <p:cNvPr id="28" name="Text 26"/>
          <p:cNvSpPr/>
          <p:nvPr/>
        </p:nvSpPr>
        <p:spPr>
          <a:xfrm>
            <a:off x="594360" y="3730752"/>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DES</a:t>
            </a:r>
            <a:endParaRPr lang="en-US" sz="1100" dirty="0"/>
          </a:p>
        </p:txBody>
      </p:sp>
      <p:sp>
        <p:nvSpPr>
          <p:cNvPr id="29" name="Text 27"/>
          <p:cNvSpPr/>
          <p:nvPr/>
        </p:nvSpPr>
        <p:spPr>
          <a:xfrm>
            <a:off x="594360" y="3950208"/>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Delivery &amp; Expert Setup — replacement via Expert</a:t>
            </a:r>
            <a:endParaRPr lang="en-US" sz="850" dirty="0"/>
          </a:p>
        </p:txBody>
      </p:sp>
      <p:sp>
        <p:nvSpPr>
          <p:cNvPr id="30" name="Text 28"/>
          <p:cNvSpPr/>
          <p:nvPr/>
        </p:nvSpPr>
        <p:spPr>
          <a:xfrm>
            <a:off x="5669280" y="3785616"/>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$78.9M</a:t>
            </a:r>
            <a:endParaRPr lang="en-US" sz="1150" dirty="0"/>
          </a:p>
        </p:txBody>
      </p:sp>
      <p:sp>
        <p:nvSpPr>
          <p:cNvPr id="31" name="Text 29"/>
          <p:cNvSpPr/>
          <p:nvPr/>
        </p:nvSpPr>
        <p:spPr>
          <a:xfrm>
            <a:off x="7680960" y="3785616"/>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32" name="Shape 30"/>
          <p:cNvSpPr/>
          <p:nvPr/>
        </p:nvSpPr>
        <p:spPr>
          <a:xfrm>
            <a:off x="10607040" y="3767328"/>
            <a:ext cx="1188720" cy="237744"/>
          </a:xfrm>
          <a:prstGeom prst="roundRect">
            <a:avLst>
              <a:gd name="adj" fmla="val 15385"/>
            </a:avLst>
          </a:prstGeom>
          <a:solidFill>
            <a:srgbClr val="E6F4EA"/>
          </a:solidFill>
          <a:ln w="12700">
            <a:solidFill>
              <a:srgbClr val="E6F4EA"/>
            </a:solidFill>
            <a:prstDash val="solid"/>
          </a:ln>
        </p:spPr>
      </p:sp>
      <p:sp>
        <p:nvSpPr>
          <p:cNvPr id="33" name="Text 31"/>
          <p:cNvSpPr/>
          <p:nvPr/>
        </p:nvSpPr>
        <p:spPr>
          <a:xfrm>
            <a:off x="10607040" y="3767328"/>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34" name="Shape 32"/>
          <p:cNvSpPr/>
          <p:nvPr/>
        </p:nvSpPr>
        <p:spPr>
          <a:xfrm>
            <a:off x="457200" y="4187952"/>
            <a:ext cx="11274552" cy="0"/>
          </a:xfrm>
          <a:prstGeom prst="line">
            <a:avLst/>
          </a:prstGeom>
          <a:noFill/>
          <a:ln w="6350">
            <a:solidFill>
              <a:srgbClr val="DDDDDD"/>
            </a:solidFill>
            <a:prstDash val="solid"/>
          </a:ln>
        </p:spPr>
      </p:sp>
      <p:sp>
        <p:nvSpPr>
          <p:cNvPr id="35" name="Text 33"/>
          <p:cNvSpPr/>
          <p:nvPr/>
        </p:nvSpPr>
        <p:spPr>
          <a:xfrm>
            <a:off x="594360" y="4242816"/>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REPAIR</a:t>
            </a:r>
            <a:endParaRPr lang="en-US" sz="900" dirty="0"/>
          </a:p>
        </p:txBody>
      </p:sp>
      <p:sp>
        <p:nvSpPr>
          <p:cNvPr id="36" name="Text 34"/>
          <p:cNvSpPr/>
          <p:nvPr/>
        </p:nvSpPr>
        <p:spPr>
          <a:xfrm>
            <a:off x="5669280" y="4242816"/>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$126.3M</a:t>
            </a:r>
            <a:endParaRPr lang="en-US" sz="1000" dirty="0"/>
          </a:p>
        </p:txBody>
      </p:sp>
      <p:sp>
        <p:nvSpPr>
          <p:cNvPr id="37" name="Shape 35"/>
          <p:cNvSpPr/>
          <p:nvPr/>
        </p:nvSpPr>
        <p:spPr>
          <a:xfrm>
            <a:off x="457200" y="4517136"/>
            <a:ext cx="11274552" cy="0"/>
          </a:xfrm>
          <a:prstGeom prst="line">
            <a:avLst/>
          </a:prstGeom>
          <a:noFill/>
          <a:ln w="3810">
            <a:solidFill>
              <a:srgbClr val="DDDDDD"/>
            </a:solidFill>
            <a:prstDash val="solid"/>
          </a:ln>
        </p:spPr>
      </p:sp>
      <p:sp>
        <p:nvSpPr>
          <p:cNvPr id="38" name="Text 36"/>
          <p:cNvSpPr/>
          <p:nvPr/>
        </p:nvSpPr>
        <p:spPr>
          <a:xfrm>
            <a:off x="594360" y="4572000"/>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uBreakiFix</a:t>
            </a:r>
            <a:endParaRPr lang="en-US" sz="1100" dirty="0"/>
          </a:p>
        </p:txBody>
      </p:sp>
      <p:sp>
        <p:nvSpPr>
          <p:cNvPr id="39" name="Text 37"/>
          <p:cNvSpPr/>
          <p:nvPr/>
        </p:nvSpPr>
        <p:spPr>
          <a:xfrm>
            <a:off x="594360" y="4791456"/>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Stores &amp; distribution center</a:t>
            </a:r>
            <a:endParaRPr lang="en-US" sz="850" dirty="0"/>
          </a:p>
        </p:txBody>
      </p:sp>
      <p:sp>
        <p:nvSpPr>
          <p:cNvPr id="40" name="Text 38"/>
          <p:cNvSpPr/>
          <p:nvPr/>
        </p:nvSpPr>
        <p:spPr>
          <a:xfrm>
            <a:off x="5669280" y="4626864"/>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$120.0M</a:t>
            </a:r>
            <a:endParaRPr lang="en-US" sz="1150" dirty="0"/>
          </a:p>
        </p:txBody>
      </p:sp>
      <p:sp>
        <p:nvSpPr>
          <p:cNvPr id="41" name="Text 39"/>
          <p:cNvSpPr/>
          <p:nvPr/>
        </p:nvSpPr>
        <p:spPr>
          <a:xfrm>
            <a:off x="7680960" y="4626864"/>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 + Distro</a:t>
            </a:r>
            <a:endParaRPr lang="en-US" sz="1000" dirty="0"/>
          </a:p>
        </p:txBody>
      </p:sp>
      <p:sp>
        <p:nvSpPr>
          <p:cNvPr id="42" name="Shape 40"/>
          <p:cNvSpPr/>
          <p:nvPr/>
        </p:nvSpPr>
        <p:spPr>
          <a:xfrm>
            <a:off x="10607040" y="4608576"/>
            <a:ext cx="1188720" cy="237744"/>
          </a:xfrm>
          <a:prstGeom prst="roundRect">
            <a:avLst>
              <a:gd name="adj" fmla="val 15385"/>
            </a:avLst>
          </a:prstGeom>
          <a:solidFill>
            <a:srgbClr val="EDE8F5"/>
          </a:solidFill>
          <a:ln w="12700">
            <a:solidFill>
              <a:srgbClr val="EDE8F5"/>
            </a:solidFill>
            <a:prstDash val="solid"/>
          </a:ln>
        </p:spPr>
      </p:sp>
      <p:sp>
        <p:nvSpPr>
          <p:cNvPr id="43" name="Text 41"/>
          <p:cNvSpPr/>
          <p:nvPr/>
        </p:nvSpPr>
        <p:spPr>
          <a:xfrm>
            <a:off x="10607040" y="4608576"/>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44" name="Shape 42"/>
          <p:cNvSpPr/>
          <p:nvPr/>
        </p:nvSpPr>
        <p:spPr>
          <a:xfrm>
            <a:off x="457200" y="5029200"/>
            <a:ext cx="11274552" cy="0"/>
          </a:xfrm>
          <a:prstGeom prst="line">
            <a:avLst/>
          </a:prstGeom>
          <a:noFill/>
          <a:ln w="3810">
            <a:solidFill>
              <a:srgbClr val="DDDDDD"/>
            </a:solidFill>
            <a:prstDash val="solid"/>
          </a:ln>
        </p:spPr>
      </p:sp>
      <p:sp>
        <p:nvSpPr>
          <p:cNvPr id="45" name="Text 43"/>
          <p:cNvSpPr/>
          <p:nvPr/>
        </p:nvSpPr>
        <p:spPr>
          <a:xfrm>
            <a:off x="594360" y="508406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Same-Unit Repair</a:t>
            </a:r>
            <a:endParaRPr lang="en-US" sz="1100" dirty="0"/>
          </a:p>
        </p:txBody>
      </p:sp>
      <p:sp>
        <p:nvSpPr>
          <p:cNvPr id="46" name="Text 44"/>
          <p:cNvSpPr/>
          <p:nvPr/>
        </p:nvSpPr>
        <p:spPr>
          <a:xfrm>
            <a:off x="594360" y="530352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3rd-party repair vendors</a:t>
            </a:r>
            <a:endParaRPr lang="en-US" sz="850" dirty="0"/>
          </a:p>
        </p:txBody>
      </p:sp>
      <p:sp>
        <p:nvSpPr>
          <p:cNvPr id="47" name="Text 45"/>
          <p:cNvSpPr/>
          <p:nvPr/>
        </p:nvSpPr>
        <p:spPr>
          <a:xfrm>
            <a:off x="5669280" y="513892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$6.3M</a:t>
            </a:r>
            <a:endParaRPr lang="en-US" sz="1150" dirty="0"/>
          </a:p>
        </p:txBody>
      </p:sp>
      <p:sp>
        <p:nvSpPr>
          <p:cNvPr id="48" name="Text 46"/>
          <p:cNvSpPr/>
          <p:nvPr/>
        </p:nvSpPr>
        <p:spPr>
          <a:xfrm>
            <a:off x="7680960" y="5138928"/>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a:t>
            </a:r>
            <a:endParaRPr lang="en-US" sz="1000" dirty="0"/>
          </a:p>
        </p:txBody>
      </p:sp>
      <p:sp>
        <p:nvSpPr>
          <p:cNvPr id="49" name="Shape 47"/>
          <p:cNvSpPr/>
          <p:nvPr/>
        </p:nvSpPr>
        <p:spPr>
          <a:xfrm>
            <a:off x="10607040" y="5120640"/>
            <a:ext cx="1188720" cy="237744"/>
          </a:xfrm>
          <a:prstGeom prst="roundRect">
            <a:avLst>
              <a:gd name="adj" fmla="val 15385"/>
            </a:avLst>
          </a:prstGeom>
          <a:solidFill>
            <a:srgbClr val="EDE8F5"/>
          </a:solidFill>
          <a:ln w="12700">
            <a:solidFill>
              <a:srgbClr val="EDE8F5"/>
            </a:solidFill>
            <a:prstDash val="solid"/>
          </a:ln>
        </p:spPr>
      </p:sp>
      <p:sp>
        <p:nvSpPr>
          <p:cNvPr id="50" name="Text 48"/>
          <p:cNvSpPr/>
          <p:nvPr/>
        </p:nvSpPr>
        <p:spPr>
          <a:xfrm>
            <a:off x="10607040" y="5120640"/>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51" name="Shape 49"/>
          <p:cNvSpPr/>
          <p:nvPr/>
        </p:nvSpPr>
        <p:spPr>
          <a:xfrm>
            <a:off x="457200" y="5541264"/>
            <a:ext cx="11274552" cy="0"/>
          </a:xfrm>
          <a:prstGeom prst="line">
            <a:avLst/>
          </a:prstGeom>
          <a:noFill/>
          <a:ln w="6350">
            <a:solidFill>
              <a:srgbClr val="DDDDDD"/>
            </a:solidFill>
            <a:prstDash val="solid"/>
          </a:ln>
        </p:spPr>
      </p:sp>
      <p:sp>
        <p:nvSpPr>
          <p:cNvPr id="52" name="Text 50"/>
          <p:cNvSpPr/>
          <p:nvPr/>
        </p:nvSpPr>
        <p:spPr>
          <a:xfrm>
            <a:off x="594360" y="5632704"/>
            <a:ext cx="5029200" cy="256032"/>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Total inventory value</a:t>
            </a:r>
            <a:endParaRPr lang="en-US" sz="1100" dirty="0"/>
          </a:p>
        </p:txBody>
      </p:sp>
      <p:sp>
        <p:nvSpPr>
          <p:cNvPr id="53" name="Text 51"/>
          <p:cNvSpPr/>
          <p:nvPr/>
        </p:nvSpPr>
        <p:spPr>
          <a:xfrm>
            <a:off x="5669280" y="5632704"/>
            <a:ext cx="1828800" cy="256032"/>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~$516.9M</a:t>
            </a:r>
            <a:endParaRPr lang="en-US" sz="1150" dirty="0"/>
          </a:p>
        </p:txBody>
      </p:sp>
      <p:sp>
        <p:nvSpPr>
          <p:cNvPr id="54" name="Text 52"/>
          <p:cNvSpPr/>
          <p:nvPr/>
        </p:nvSpPr>
        <p:spPr>
          <a:xfrm>
            <a:off x="7680960" y="5632704"/>
            <a:ext cx="4114800" cy="256032"/>
          </a:xfrm>
          <a:prstGeom prst="rect">
            <a:avLst/>
          </a:prstGeom>
          <a:noFill/>
          <a:ln/>
        </p:spPr>
        <p:txBody>
          <a:bodyPr wrap="square" rtlCol="0" anchor="ctr"/>
          <a:lstStyle/>
          <a:p>
            <a:pPr indent="0" marL="0">
              <a:buNone/>
            </a:pPr>
            <a:r>
              <a:rPr lang="en-US" sz="1000" dirty="0">
                <a:solidFill>
                  <a:srgbClr val="888888"/>
                </a:solidFill>
                <a:latin typeface="Calibri" pitchFamily="34" charset="0"/>
                <a:ea typeface="Calibri" pitchFamily="34" charset="-122"/>
                <a:cs typeface="Calibri" pitchFamily="34" charset="-120"/>
              </a:rPr>
              <a:t>Across all programs</a:t>
            </a:r>
            <a:endParaRPr lang="en-US" sz="1000" dirty="0"/>
          </a:p>
        </p:txBody>
      </p:sp>
      <p:sp>
        <p:nvSpPr>
          <p:cNvPr id="55" name="Shape 53"/>
          <p:cNvSpPr/>
          <p:nvPr/>
        </p:nvSpPr>
        <p:spPr>
          <a:xfrm>
            <a:off x="365760" y="5394960"/>
            <a:ext cx="5577840" cy="749808"/>
          </a:xfrm>
          <a:prstGeom prst="roundRect">
            <a:avLst>
              <a:gd name="adj" fmla="val 7317"/>
            </a:avLst>
          </a:prstGeom>
          <a:solidFill>
            <a:srgbClr val="E6F4EA"/>
          </a:solidFill>
          <a:ln w="6350">
            <a:solidFill>
              <a:srgbClr val="C8E6C9"/>
            </a:solidFill>
            <a:prstDash val="solid"/>
          </a:ln>
        </p:spPr>
      </p:sp>
      <p:sp>
        <p:nvSpPr>
          <p:cNvPr id="56" name="Shape 54"/>
          <p:cNvSpPr/>
          <p:nvPr/>
        </p:nvSpPr>
        <p:spPr>
          <a:xfrm>
            <a:off x="512064" y="5614416"/>
            <a:ext cx="310896" cy="310896"/>
          </a:xfrm>
          <a:prstGeom prst="ellipse">
            <a:avLst/>
          </a:prstGeom>
          <a:solidFill>
            <a:srgbClr val="1B6B2B"/>
          </a:solidFill>
          <a:ln w="12700">
            <a:solidFill>
              <a:srgbClr val="1B6B2B"/>
            </a:solidFill>
            <a:prstDash val="solid"/>
          </a:ln>
        </p:spPr>
      </p:sp>
      <p:sp>
        <p:nvSpPr>
          <p:cNvPr id="57" name="Text 55"/>
          <p:cNvSpPr/>
          <p:nvPr/>
        </p:nvSpPr>
        <p:spPr>
          <a:xfrm>
            <a:off x="512064" y="5614416"/>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932688" y="5449824"/>
            <a:ext cx="2286000" cy="365760"/>
          </a:xfrm>
          <a:prstGeom prst="rect">
            <a:avLst/>
          </a:prstGeom>
          <a:noFill/>
          <a:ln/>
        </p:spPr>
        <p:txBody>
          <a:bodyPr wrap="square" rtlCol="0" anchor="t"/>
          <a:lstStyle/>
          <a:p>
            <a:pPr indent="0" marL="0">
              <a:buNone/>
            </a:pPr>
            <a:r>
              <a:rPr lang="en-US" sz="2200" b="1" dirty="0">
                <a:solidFill>
                  <a:srgbClr val="1B6B2B"/>
                </a:solidFill>
                <a:latin typeface="Calibri Light" pitchFamily="34" charset="0"/>
                <a:ea typeface="Calibri Light" pitchFamily="34" charset="-122"/>
                <a:cs typeface="Calibri Light" pitchFamily="34" charset="-120"/>
              </a:rPr>
              <a:t>~$390.6M</a:t>
            </a:r>
            <a:endParaRPr lang="en-US" sz="2200" dirty="0"/>
          </a:p>
        </p:txBody>
      </p:sp>
      <p:sp>
        <p:nvSpPr>
          <p:cNvPr id="59" name="Text 57"/>
          <p:cNvSpPr/>
          <p:nvPr/>
        </p:nvSpPr>
        <p:spPr>
          <a:xfrm>
            <a:off x="93268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Already in D365 F&amp;O</a:t>
            </a:r>
            <a:endParaRPr lang="en-US" sz="900" dirty="0"/>
          </a:p>
        </p:txBody>
      </p:sp>
      <p:sp>
        <p:nvSpPr>
          <p:cNvPr id="60" name="Shape 58"/>
          <p:cNvSpPr/>
          <p:nvPr/>
        </p:nvSpPr>
        <p:spPr>
          <a:xfrm>
            <a:off x="6126480" y="5394960"/>
            <a:ext cx="5669280" cy="749808"/>
          </a:xfrm>
          <a:prstGeom prst="roundRect">
            <a:avLst>
              <a:gd name="adj" fmla="val 7317"/>
            </a:avLst>
          </a:prstGeom>
          <a:solidFill>
            <a:srgbClr val="EDE8F5"/>
          </a:solidFill>
          <a:ln w="6350">
            <a:solidFill>
              <a:srgbClr val="C4AEED"/>
            </a:solidFill>
            <a:prstDash val="solid"/>
          </a:ln>
        </p:spPr>
      </p:sp>
      <p:sp>
        <p:nvSpPr>
          <p:cNvPr id="61" name="Shape 59"/>
          <p:cNvSpPr/>
          <p:nvPr/>
        </p:nvSpPr>
        <p:spPr>
          <a:xfrm>
            <a:off x="6272784" y="5614416"/>
            <a:ext cx="310896" cy="310896"/>
          </a:xfrm>
          <a:prstGeom prst="ellipse">
            <a:avLst/>
          </a:prstGeom>
          <a:solidFill>
            <a:srgbClr val="5B2C8D"/>
          </a:solidFill>
          <a:ln w="12700">
            <a:solidFill>
              <a:srgbClr val="5B2C8D"/>
            </a:solidFill>
            <a:prstDash val="solid"/>
          </a:ln>
        </p:spPr>
      </p:sp>
      <p:sp>
        <p:nvSpPr>
          <p:cNvPr id="62" name="Text 60"/>
          <p:cNvSpPr/>
          <p:nvPr/>
        </p:nvSpPr>
        <p:spPr>
          <a:xfrm>
            <a:off x="6272784" y="5596128"/>
            <a:ext cx="310896" cy="329184"/>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t>
            </a:r>
            <a:endParaRPr lang="en-US" sz="1000" dirty="0"/>
          </a:p>
        </p:txBody>
      </p:sp>
      <p:sp>
        <p:nvSpPr>
          <p:cNvPr id="63" name="Text 61"/>
          <p:cNvSpPr/>
          <p:nvPr/>
        </p:nvSpPr>
        <p:spPr>
          <a:xfrm>
            <a:off x="6693408" y="5449824"/>
            <a:ext cx="2286000" cy="365760"/>
          </a:xfrm>
          <a:prstGeom prst="rect">
            <a:avLst/>
          </a:prstGeom>
          <a:noFill/>
          <a:ln/>
        </p:spPr>
        <p:txBody>
          <a:bodyPr wrap="square" rtlCol="0" anchor="t"/>
          <a:lstStyle/>
          <a:p>
            <a:pPr indent="0" marL="0">
              <a:buNone/>
            </a:pPr>
            <a:r>
              <a:rPr lang="en-US" sz="2200" b="1" dirty="0">
                <a:solidFill>
                  <a:srgbClr val="5B2C8D"/>
                </a:solidFill>
                <a:latin typeface="Calibri Light" pitchFamily="34" charset="0"/>
                <a:ea typeface="Calibri Light" pitchFamily="34" charset="-122"/>
                <a:cs typeface="Calibri Light" pitchFamily="34" charset="-120"/>
              </a:rPr>
              <a:t>$126.3M</a:t>
            </a:r>
            <a:endParaRPr lang="en-US" sz="2200" dirty="0"/>
          </a:p>
        </p:txBody>
      </p:sp>
      <p:sp>
        <p:nvSpPr>
          <p:cNvPr id="64" name="Text 62"/>
          <p:cNvSpPr/>
          <p:nvPr/>
        </p:nvSpPr>
        <p:spPr>
          <a:xfrm>
            <a:off x="669340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The remaining migration (~24%)</a:t>
            </a:r>
            <a:endParaRPr lang="en-US" sz="900" dirty="0"/>
          </a:p>
        </p:txBody>
      </p:sp>
      <p:sp>
        <p:nvSpPr>
          <p:cNvPr id="65" name="Text 63"/>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Advance Exchange is mail replacement; NDES is Next-Day Expert Delivery &amp; Setup; DES is Delivery &amp; Expert Setup (replacement via Expert). Inventory totals ~$516.9M across all programs.</a:t>
            </a:r>
            <a:endParaRPr lang="en-US" sz="650" dirty="0"/>
          </a:p>
        </p:txBody>
      </p:sp>
      <p:sp>
        <p:nvSpPr>
          <p:cNvPr id="66" name="Shape 64"/>
          <p:cNvSpPr/>
          <p:nvPr/>
        </p:nvSpPr>
        <p:spPr>
          <a:xfrm>
            <a:off x="0" y="6473952"/>
            <a:ext cx="12188952" cy="0"/>
          </a:xfrm>
          <a:prstGeom prst="line">
            <a:avLst/>
          </a:prstGeom>
          <a:noFill/>
          <a:ln w="6350">
            <a:solidFill>
              <a:srgbClr val="DDDDDD"/>
            </a:solidFill>
            <a:prstDash val="solid"/>
          </a:ln>
        </p:spPr>
      </p:sp>
      <p:sp>
        <p:nvSpPr>
          <p:cNvPr id="67" name="Text 65"/>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8" name="Text 66"/>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FINANCIAL RISK</a:t>
            </a:r>
            <a:endParaRPr lang="en-US" sz="800" dirty="0"/>
          </a:p>
        </p:txBody>
      </p:sp>
      <p:sp>
        <p:nvSpPr>
          <p:cNvPr id="69" name="Text 67"/>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03 — MECHANISM · FUTURE STATE</a:t>
            </a:r>
            <a:endParaRPr lang="en-US" sz="800" dirty="0"/>
          </a:p>
        </p:txBody>
      </p:sp>
      <p:sp>
        <p:nvSpPr>
          <p:cNvPr id="3" name="Text 1"/>
          <p:cNvSpPr/>
          <p:nvPr/>
        </p:nvSpPr>
        <p:spPr>
          <a:xfrm>
            <a:off x="365760" y="493776"/>
            <a:ext cx="11457432" cy="914400"/>
          </a:xfrm>
          <a:prstGeom prst="rect">
            <a:avLst/>
          </a:prstGeom>
          <a:noFill/>
          <a:ln/>
        </p:spPr>
        <p:txBody>
          <a:bodyPr wrap="square" rtlCol="0" anchor="t"/>
          <a:lstStyle/>
          <a:p>
            <a:pPr indent="0" marL="0">
              <a:buNone/>
            </a:pPr>
            <a:r>
              <a:rPr lang="en-US" sz="2600" dirty="0">
                <a:solidFill>
                  <a:srgbClr val="111111"/>
                </a:solidFill>
                <a:latin typeface="Calibri Light" pitchFamily="34" charset="0"/>
                <a:ea typeface="Calibri Light" pitchFamily="34" charset="-122"/>
                <a:cs typeface="Calibri Light" pitchFamily="34" charset="-120"/>
              </a:rPr>
              <a:t>Fulfillment systems connect every movement</a:t>
            </a:r>
            <a:endParaRPr lang="en-US" sz="2600" dirty="0"/>
          </a:p>
          <a:p>
            <a:pPr indent="0" marL="0">
              <a:buNone/>
            </a:pPr>
            <a:r>
              <a:rPr lang="en-US" sz="2600" dirty="0">
                <a:solidFill>
                  <a:srgbClr val="111111"/>
                </a:solidFill>
                <a:latin typeface="Calibri Light" pitchFamily="34" charset="0"/>
                <a:ea typeface="Calibri Light" pitchFamily="34" charset="-122"/>
                <a:cs typeface="Calibri Light" pitchFamily="34" charset="-120"/>
              </a:rPr>
              <a:t>to one operating model</a:t>
            </a:r>
            <a:endParaRPr lang="en-US" sz="2600" dirty="0"/>
          </a:p>
        </p:txBody>
      </p:sp>
      <p:sp>
        <p:nvSpPr>
          <p:cNvPr id="4" name="Text 2"/>
          <p:cNvSpPr/>
          <p:nvPr/>
        </p:nvSpPr>
        <p:spPr>
          <a:xfrm>
            <a:off x="365760" y="1508760"/>
            <a:ext cx="4754880" cy="182880"/>
          </a:xfrm>
          <a:prstGeom prst="rect">
            <a:avLst/>
          </a:prstGeom>
          <a:noFill/>
          <a:ln/>
        </p:spPr>
        <p:txBody>
          <a:bodyPr wrap="square" rtlCol="0" anchor="ctr"/>
          <a:lstStyle/>
          <a:p>
            <a:pPr indent="0" marL="0">
              <a:buNone/>
            </a:pPr>
            <a:r>
              <a:rPr lang="en-US" sz="750" b="1" spc="200" kern="0" dirty="0">
                <a:solidFill>
                  <a:srgbClr val="888888"/>
                </a:solidFill>
                <a:latin typeface="Calibri" pitchFamily="34" charset="0"/>
                <a:ea typeface="Calibri" pitchFamily="34" charset="-122"/>
                <a:cs typeface="Calibri" pitchFamily="34" charset="-120"/>
              </a:rPr>
              <a:t>PHYSICAL INVENTORY MOVEMENT</a:t>
            </a:r>
            <a:endParaRPr lang="en-US" sz="750" dirty="0"/>
          </a:p>
        </p:txBody>
      </p:sp>
      <p:sp>
        <p:nvSpPr>
          <p:cNvPr id="5" name="Text 3"/>
          <p:cNvSpPr/>
          <p:nvPr/>
        </p:nvSpPr>
        <p:spPr>
          <a:xfrm>
            <a:off x="5303520" y="1508760"/>
            <a:ext cx="2011680" cy="182880"/>
          </a:xfrm>
          <a:prstGeom prst="rect">
            <a:avLst/>
          </a:prstGeom>
          <a:noFill/>
          <a:ln/>
        </p:spPr>
        <p:txBody>
          <a:bodyPr wrap="square" rtlCol="0" anchor="ctr"/>
          <a:lstStyle/>
          <a:p>
            <a:pPr algn="ctr" indent="0" marL="0">
              <a:buNone/>
            </a:pPr>
            <a:r>
              <a:rPr lang="en-US" sz="750" b="1" spc="100" kern="0" dirty="0">
                <a:solidFill>
                  <a:srgbClr val="888888"/>
                </a:solidFill>
                <a:latin typeface="Calibri" pitchFamily="34" charset="0"/>
                <a:ea typeface="Calibri" pitchFamily="34" charset="-122"/>
                <a:cs typeface="Calibri" pitchFamily="34" charset="-120"/>
              </a:rPr>
              <a:t>BECOMES  →</a:t>
            </a:r>
            <a:endParaRPr lang="en-US" sz="750" dirty="0"/>
          </a:p>
        </p:txBody>
      </p:sp>
      <p:sp>
        <p:nvSpPr>
          <p:cNvPr id="6" name="Text 4"/>
          <p:cNvSpPr/>
          <p:nvPr/>
        </p:nvSpPr>
        <p:spPr>
          <a:xfrm>
            <a:off x="8412480" y="1508760"/>
            <a:ext cx="3657600" cy="182880"/>
          </a:xfrm>
          <a:prstGeom prst="rect">
            <a:avLst/>
          </a:prstGeom>
          <a:noFill/>
          <a:ln/>
        </p:spPr>
        <p:txBody>
          <a:bodyPr wrap="square" rtlCol="0" anchor="ctr"/>
          <a:lstStyle/>
          <a:p>
            <a:pPr algn="r" indent="0" marL="0">
              <a:buNone/>
            </a:pPr>
            <a:r>
              <a:rPr lang="en-US" sz="750" b="1" spc="200" kern="0" dirty="0">
                <a:solidFill>
                  <a:srgbClr val="5B2C8D"/>
                </a:solidFill>
                <a:latin typeface="Calibri" pitchFamily="34" charset="0"/>
                <a:ea typeface="Calibri" pitchFamily="34" charset="-122"/>
                <a:cs typeface="Calibri" pitchFamily="34" charset="-120"/>
              </a:rPr>
              <a:t>FINANCIAL ACCOUNTABILITY</a:t>
            </a:r>
            <a:endParaRPr lang="en-US" sz="750" dirty="0"/>
          </a:p>
        </p:txBody>
      </p:sp>
      <p:sp>
        <p:nvSpPr>
          <p:cNvPr id="7" name="Shape 5"/>
          <p:cNvSpPr/>
          <p:nvPr/>
        </p:nvSpPr>
        <p:spPr>
          <a:xfrm>
            <a:off x="365760" y="1709928"/>
            <a:ext cx="11457432" cy="0"/>
          </a:xfrm>
          <a:prstGeom prst="line">
            <a:avLst/>
          </a:prstGeom>
          <a:noFill/>
          <a:ln w="9525">
            <a:solidFill>
              <a:srgbClr val="DDDDDD"/>
            </a:solidFill>
            <a:prstDash val="solid"/>
          </a:ln>
        </p:spPr>
      </p:sp>
      <p:sp>
        <p:nvSpPr>
          <p:cNvPr id="8" name="Shape 6"/>
          <p:cNvSpPr/>
          <p:nvPr/>
        </p:nvSpPr>
        <p:spPr>
          <a:xfrm>
            <a:off x="365760" y="1783080"/>
            <a:ext cx="1426464" cy="877824"/>
          </a:xfrm>
          <a:prstGeom prst="roundRect">
            <a:avLst>
              <a:gd name="adj" fmla="val 8333"/>
            </a:avLst>
          </a:prstGeom>
          <a:solidFill>
            <a:srgbClr val="EDE8F5"/>
          </a:solidFill>
          <a:ln w="9525">
            <a:solidFill>
              <a:srgbClr val="C4AEED"/>
            </a:solidFill>
            <a:prstDash val="solid"/>
          </a:ln>
        </p:spPr>
      </p:sp>
      <p:sp>
        <p:nvSpPr>
          <p:cNvPr id="9" name="Shape 7"/>
          <p:cNvSpPr/>
          <p:nvPr/>
        </p:nvSpPr>
        <p:spPr>
          <a:xfrm>
            <a:off x="914400" y="1874520"/>
            <a:ext cx="329184" cy="329184"/>
          </a:xfrm>
          <a:prstGeom prst="ellipse">
            <a:avLst/>
          </a:prstGeom>
          <a:solidFill>
            <a:srgbClr val="EDE8F5"/>
          </a:solidFill>
          <a:ln w="12700">
            <a:solidFill>
              <a:srgbClr val="EDE8F5"/>
            </a:solidFill>
            <a:prstDash val="solid"/>
          </a:ln>
        </p:spPr>
      </p:sp>
      <p:sp>
        <p:nvSpPr>
          <p:cNvPr id="10" name="Text 8"/>
          <p:cNvSpPr/>
          <p:nvPr/>
        </p:nvSpPr>
        <p:spPr>
          <a:xfrm>
            <a:off x="365760"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Procurement</a:t>
            </a:r>
            <a:endParaRPr lang="en-US" sz="850" dirty="0"/>
          </a:p>
        </p:txBody>
      </p:sp>
      <p:sp>
        <p:nvSpPr>
          <p:cNvPr id="11" name="Text 9"/>
          <p:cNvSpPr/>
          <p:nvPr/>
        </p:nvSpPr>
        <p:spPr>
          <a:xfrm>
            <a:off x="181051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2037588" y="1783080"/>
            <a:ext cx="1426464" cy="877824"/>
          </a:xfrm>
          <a:prstGeom prst="roundRect">
            <a:avLst>
              <a:gd name="adj" fmla="val 8333"/>
            </a:avLst>
          </a:prstGeom>
          <a:solidFill>
            <a:srgbClr val="EDE8F5"/>
          </a:solidFill>
          <a:ln w="9525">
            <a:solidFill>
              <a:srgbClr val="C4AEED"/>
            </a:solidFill>
            <a:prstDash val="solid"/>
          </a:ln>
        </p:spPr>
      </p:sp>
      <p:sp>
        <p:nvSpPr>
          <p:cNvPr id="13" name="Shape 11"/>
          <p:cNvSpPr/>
          <p:nvPr/>
        </p:nvSpPr>
        <p:spPr>
          <a:xfrm>
            <a:off x="2586228" y="1874520"/>
            <a:ext cx="329184" cy="329184"/>
          </a:xfrm>
          <a:prstGeom prst="ellipse">
            <a:avLst/>
          </a:prstGeom>
          <a:solidFill>
            <a:srgbClr val="EDE8F5"/>
          </a:solidFill>
          <a:ln w="12700">
            <a:solidFill>
              <a:srgbClr val="EDE8F5"/>
            </a:solidFill>
            <a:prstDash val="solid"/>
          </a:ln>
        </p:spPr>
      </p:sp>
      <p:sp>
        <p:nvSpPr>
          <p:cNvPr id="14" name="Text 12"/>
          <p:cNvSpPr/>
          <p:nvPr/>
        </p:nvSpPr>
        <p:spPr>
          <a:xfrm>
            <a:off x="2037588"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Warehouse</a:t>
            </a:r>
            <a:endParaRPr lang="en-US" sz="850" dirty="0"/>
          </a:p>
        </p:txBody>
      </p:sp>
      <p:sp>
        <p:nvSpPr>
          <p:cNvPr id="15" name="Text 13"/>
          <p:cNvSpPr/>
          <p:nvPr/>
        </p:nvSpPr>
        <p:spPr>
          <a:xfrm>
            <a:off x="3482340"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709416" y="1783080"/>
            <a:ext cx="1426464" cy="877824"/>
          </a:xfrm>
          <a:prstGeom prst="roundRect">
            <a:avLst>
              <a:gd name="adj" fmla="val 8333"/>
            </a:avLst>
          </a:prstGeom>
          <a:solidFill>
            <a:srgbClr val="EDE8F5"/>
          </a:solidFill>
          <a:ln w="9525">
            <a:solidFill>
              <a:srgbClr val="C4AEED"/>
            </a:solidFill>
            <a:prstDash val="solid"/>
          </a:ln>
        </p:spPr>
      </p:sp>
      <p:sp>
        <p:nvSpPr>
          <p:cNvPr id="17" name="Shape 15"/>
          <p:cNvSpPr/>
          <p:nvPr/>
        </p:nvSpPr>
        <p:spPr>
          <a:xfrm>
            <a:off x="4258056" y="1874520"/>
            <a:ext cx="329184" cy="329184"/>
          </a:xfrm>
          <a:prstGeom prst="ellipse">
            <a:avLst/>
          </a:prstGeom>
          <a:solidFill>
            <a:srgbClr val="EDE8F5"/>
          </a:solidFill>
          <a:ln w="12700">
            <a:solidFill>
              <a:srgbClr val="EDE8F5"/>
            </a:solidFill>
            <a:prstDash val="solid"/>
          </a:ln>
        </p:spPr>
      </p:sp>
      <p:sp>
        <p:nvSpPr>
          <p:cNvPr id="18" name="Text 16"/>
          <p:cNvSpPr/>
          <p:nvPr/>
        </p:nvSpPr>
        <p:spPr>
          <a:xfrm>
            <a:off x="3709416"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Field Location</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 Store</a:t>
            </a:r>
            <a:endParaRPr lang="en-US" sz="850" dirty="0"/>
          </a:p>
        </p:txBody>
      </p:sp>
      <p:sp>
        <p:nvSpPr>
          <p:cNvPr id="19" name="Text 17"/>
          <p:cNvSpPr/>
          <p:nvPr/>
        </p:nvSpPr>
        <p:spPr>
          <a:xfrm>
            <a:off x="5154168"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5381244" y="1783080"/>
            <a:ext cx="1426464" cy="877824"/>
          </a:xfrm>
          <a:prstGeom prst="roundRect">
            <a:avLst>
              <a:gd name="adj" fmla="val 8333"/>
            </a:avLst>
          </a:prstGeom>
          <a:solidFill>
            <a:srgbClr val="EDE8F5"/>
          </a:solidFill>
          <a:ln w="9525">
            <a:solidFill>
              <a:srgbClr val="C4AEED"/>
            </a:solidFill>
            <a:prstDash val="solid"/>
          </a:ln>
        </p:spPr>
      </p:sp>
      <p:sp>
        <p:nvSpPr>
          <p:cNvPr id="21" name="Shape 19"/>
          <p:cNvSpPr/>
          <p:nvPr/>
        </p:nvSpPr>
        <p:spPr>
          <a:xfrm>
            <a:off x="5929884" y="1874520"/>
            <a:ext cx="329184" cy="329184"/>
          </a:xfrm>
          <a:prstGeom prst="ellipse">
            <a:avLst/>
          </a:prstGeom>
          <a:solidFill>
            <a:srgbClr val="EDE8F5"/>
          </a:solidFill>
          <a:ln w="12700">
            <a:solidFill>
              <a:srgbClr val="EDE8F5"/>
            </a:solidFill>
            <a:prstDash val="solid"/>
          </a:ln>
        </p:spPr>
      </p:sp>
      <p:sp>
        <p:nvSpPr>
          <p:cNvPr id="22" name="Text 20"/>
          <p:cNvSpPr/>
          <p:nvPr/>
        </p:nvSpPr>
        <p:spPr>
          <a:xfrm>
            <a:off x="5381244"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Customer</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Fulfillment</a:t>
            </a:r>
            <a:endParaRPr lang="en-US" sz="850" dirty="0"/>
          </a:p>
        </p:txBody>
      </p:sp>
      <p:sp>
        <p:nvSpPr>
          <p:cNvPr id="23" name="Text 21"/>
          <p:cNvSpPr/>
          <p:nvPr/>
        </p:nvSpPr>
        <p:spPr>
          <a:xfrm>
            <a:off x="6825996"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4" name="Shape 22"/>
          <p:cNvSpPr/>
          <p:nvPr/>
        </p:nvSpPr>
        <p:spPr>
          <a:xfrm>
            <a:off x="7053072" y="1783080"/>
            <a:ext cx="1426464" cy="877824"/>
          </a:xfrm>
          <a:prstGeom prst="roundRect">
            <a:avLst>
              <a:gd name="adj" fmla="val 8333"/>
            </a:avLst>
          </a:prstGeom>
          <a:solidFill>
            <a:srgbClr val="7B4FBA"/>
          </a:solidFill>
          <a:ln w="9525">
            <a:solidFill>
              <a:srgbClr val="7B4FBA"/>
            </a:solidFill>
            <a:prstDash val="solid"/>
          </a:ln>
        </p:spPr>
      </p:sp>
      <p:sp>
        <p:nvSpPr>
          <p:cNvPr id="25" name="Shape 23"/>
          <p:cNvSpPr/>
          <p:nvPr/>
        </p:nvSpPr>
        <p:spPr>
          <a:xfrm>
            <a:off x="7601712" y="1874520"/>
            <a:ext cx="329184" cy="329184"/>
          </a:xfrm>
          <a:prstGeom prst="ellipse">
            <a:avLst/>
          </a:prstGeom>
          <a:solidFill>
            <a:srgbClr val="9B72CC"/>
          </a:solidFill>
          <a:ln w="12700">
            <a:solidFill>
              <a:srgbClr val="9B72CC"/>
            </a:solidFill>
            <a:prstDash val="solid"/>
          </a:ln>
        </p:spPr>
      </p:sp>
      <p:sp>
        <p:nvSpPr>
          <p:cNvPr id="26" name="Text 24"/>
          <p:cNvSpPr/>
          <p:nvPr/>
        </p:nvSpPr>
        <p:spPr>
          <a:xfrm>
            <a:off x="7053072"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Inventory</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Consumption</a:t>
            </a:r>
            <a:endParaRPr lang="en-US" sz="850" dirty="0"/>
          </a:p>
        </p:txBody>
      </p:sp>
      <p:sp>
        <p:nvSpPr>
          <p:cNvPr id="27" name="Text 25"/>
          <p:cNvSpPr/>
          <p:nvPr/>
        </p:nvSpPr>
        <p:spPr>
          <a:xfrm>
            <a:off x="8497824"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8724900" y="1783080"/>
            <a:ext cx="1426464" cy="877824"/>
          </a:xfrm>
          <a:prstGeom prst="roundRect">
            <a:avLst>
              <a:gd name="adj" fmla="val 8333"/>
            </a:avLst>
          </a:prstGeom>
          <a:solidFill>
            <a:srgbClr val="5B2C8D"/>
          </a:solidFill>
          <a:ln w="9525">
            <a:solidFill>
              <a:srgbClr val="5B2C8D"/>
            </a:solidFill>
            <a:prstDash val="solid"/>
          </a:ln>
        </p:spPr>
      </p:sp>
      <p:sp>
        <p:nvSpPr>
          <p:cNvPr id="29" name="Shape 27"/>
          <p:cNvSpPr/>
          <p:nvPr/>
        </p:nvSpPr>
        <p:spPr>
          <a:xfrm>
            <a:off x="9273540" y="1874520"/>
            <a:ext cx="329184" cy="329184"/>
          </a:xfrm>
          <a:prstGeom prst="ellipse">
            <a:avLst/>
          </a:prstGeom>
          <a:solidFill>
            <a:srgbClr val="7B4FBA"/>
          </a:solidFill>
          <a:ln w="12700">
            <a:solidFill>
              <a:srgbClr val="7B4FBA"/>
            </a:solidFill>
            <a:prstDash val="solid"/>
          </a:ln>
        </p:spPr>
      </p:sp>
      <p:sp>
        <p:nvSpPr>
          <p:cNvPr id="30" name="Text 28"/>
          <p:cNvSpPr/>
          <p:nvPr/>
        </p:nvSpPr>
        <p:spPr>
          <a:xfrm>
            <a:off x="8724900"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Financial</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Reconciliation</a:t>
            </a:r>
            <a:endParaRPr lang="en-US" sz="850" dirty="0"/>
          </a:p>
        </p:txBody>
      </p:sp>
      <p:sp>
        <p:nvSpPr>
          <p:cNvPr id="31" name="Text 29"/>
          <p:cNvSpPr/>
          <p:nvPr/>
        </p:nvSpPr>
        <p:spPr>
          <a:xfrm>
            <a:off x="1016965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10396728" y="1783080"/>
            <a:ext cx="1426464" cy="877824"/>
          </a:xfrm>
          <a:prstGeom prst="roundRect">
            <a:avLst>
              <a:gd name="adj" fmla="val 8333"/>
            </a:avLst>
          </a:prstGeom>
          <a:solidFill>
            <a:srgbClr val="5B2C8D"/>
          </a:solidFill>
          <a:ln w="9525">
            <a:solidFill>
              <a:srgbClr val="5B2C8D"/>
            </a:solidFill>
            <a:prstDash val="solid"/>
          </a:ln>
        </p:spPr>
      </p:sp>
      <p:sp>
        <p:nvSpPr>
          <p:cNvPr id="33" name="Shape 31"/>
          <p:cNvSpPr/>
          <p:nvPr/>
        </p:nvSpPr>
        <p:spPr>
          <a:xfrm>
            <a:off x="10945368" y="1874520"/>
            <a:ext cx="329184" cy="329184"/>
          </a:xfrm>
          <a:prstGeom prst="ellipse">
            <a:avLst/>
          </a:prstGeom>
          <a:solidFill>
            <a:srgbClr val="7B4FBA"/>
          </a:solidFill>
          <a:ln w="12700">
            <a:solidFill>
              <a:srgbClr val="7B4FBA"/>
            </a:solidFill>
            <a:prstDash val="solid"/>
          </a:ln>
        </p:spPr>
      </p:sp>
      <p:sp>
        <p:nvSpPr>
          <p:cNvPr id="34" name="Text 32"/>
          <p:cNvSpPr/>
          <p:nvPr/>
        </p:nvSpPr>
        <p:spPr>
          <a:xfrm>
            <a:off x="10396728"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Client Billing</a:t>
            </a:r>
            <a:endParaRPr lang="en-US" sz="850" dirty="0"/>
          </a:p>
        </p:txBody>
      </p:sp>
      <p:sp>
        <p:nvSpPr>
          <p:cNvPr id="35" name="Shape 33"/>
          <p:cNvSpPr/>
          <p:nvPr/>
        </p:nvSpPr>
        <p:spPr>
          <a:xfrm>
            <a:off x="365760" y="2825496"/>
            <a:ext cx="11457432" cy="0"/>
          </a:xfrm>
          <a:prstGeom prst="line">
            <a:avLst/>
          </a:prstGeom>
          <a:noFill/>
          <a:ln w="6350">
            <a:solidFill>
              <a:srgbClr val="DDDDDD"/>
            </a:solidFill>
            <a:prstDash val="solid"/>
          </a:ln>
        </p:spPr>
      </p:sp>
      <p:sp>
        <p:nvSpPr>
          <p:cNvPr id="36" name="Shape 34"/>
          <p:cNvSpPr/>
          <p:nvPr/>
        </p:nvSpPr>
        <p:spPr>
          <a:xfrm>
            <a:off x="365760" y="2916936"/>
            <a:ext cx="5285232" cy="2798064"/>
          </a:xfrm>
          <a:prstGeom prst="roundRect">
            <a:avLst>
              <a:gd name="adj" fmla="val 2288"/>
            </a:avLst>
          </a:prstGeom>
          <a:solidFill>
            <a:srgbClr val="F9F9F9"/>
          </a:solidFill>
          <a:ln w="9525">
            <a:solidFill>
              <a:srgbClr val="DDDDDD"/>
            </a:solidFill>
            <a:prstDash val="solid"/>
          </a:ln>
        </p:spPr>
      </p:sp>
      <p:sp>
        <p:nvSpPr>
          <p:cNvPr id="37" name="Text 35"/>
          <p:cNvSpPr/>
          <p:nvPr/>
        </p:nvSpPr>
        <p:spPr>
          <a:xfrm>
            <a:off x="548640" y="3063240"/>
            <a:ext cx="1280160" cy="219456"/>
          </a:xfrm>
          <a:prstGeom prst="rect">
            <a:avLst/>
          </a:prstGeom>
          <a:noFill/>
          <a:ln/>
        </p:spPr>
        <p:txBody>
          <a:bodyPr wrap="square" rtlCol="0" anchor="ctr"/>
          <a:lstStyle/>
          <a:p>
            <a:pPr indent="0" marL="0">
              <a:buNone/>
            </a:pPr>
            <a:r>
              <a:rPr lang="en-US" sz="850" b="1" spc="200" kern="0" dirty="0">
                <a:solidFill>
                  <a:srgbClr val="888888"/>
                </a:solidFill>
                <a:latin typeface="Calibri" pitchFamily="34" charset="0"/>
                <a:ea typeface="Calibri" pitchFamily="34" charset="-122"/>
                <a:cs typeface="Calibri" pitchFamily="34" charset="-120"/>
              </a:rPr>
              <a:t>TODAY</a:t>
            </a:r>
            <a:endParaRPr lang="en-US" sz="850" dirty="0"/>
          </a:p>
        </p:txBody>
      </p:sp>
      <p:sp>
        <p:nvSpPr>
          <p:cNvPr id="38" name="Shape 36"/>
          <p:cNvSpPr/>
          <p:nvPr/>
        </p:nvSpPr>
        <p:spPr>
          <a:xfrm>
            <a:off x="2103120" y="3044952"/>
            <a:ext cx="3337560" cy="256032"/>
          </a:xfrm>
          <a:prstGeom prst="roundRect">
            <a:avLst>
              <a:gd name="adj" fmla="val 14286"/>
            </a:avLst>
          </a:prstGeom>
          <a:solidFill>
            <a:srgbClr val="DDDDDD"/>
          </a:solidFill>
          <a:ln w="12700">
            <a:solidFill>
              <a:srgbClr val="DDDDDD"/>
            </a:solidFill>
            <a:prstDash val="solid"/>
          </a:ln>
        </p:spPr>
      </p:sp>
      <p:sp>
        <p:nvSpPr>
          <p:cNvPr id="39" name="Text 37"/>
          <p:cNvSpPr/>
          <p:nvPr/>
        </p:nvSpPr>
        <p:spPr>
          <a:xfrm>
            <a:off x="2139696" y="3044952"/>
            <a:ext cx="3264408" cy="256032"/>
          </a:xfrm>
          <a:prstGeom prst="rect">
            <a:avLst/>
          </a:prstGeom>
          <a:noFill/>
          <a:ln/>
        </p:spPr>
        <p:txBody>
          <a:bodyPr wrap="square" rtlCol="0" anchor="ctr"/>
          <a:lstStyle/>
          <a:p>
            <a:pPr algn="ctr" indent="0" marL="0">
              <a:buNone/>
            </a:pPr>
            <a:r>
              <a:rPr lang="en-US" sz="850" dirty="0">
                <a:solidFill>
                  <a:srgbClr val="555555"/>
                </a:solidFill>
                <a:latin typeface="Calibri" pitchFamily="34" charset="0"/>
                <a:ea typeface="Calibri" pitchFamily="34" charset="-122"/>
                <a:cs typeface="Calibri" pitchFamily="34" charset="-120"/>
              </a:rPr>
              <a:t>Multiple disconnected systems</a:t>
            </a:r>
            <a:endParaRPr lang="en-US" sz="850" dirty="0"/>
          </a:p>
        </p:txBody>
      </p:sp>
      <p:sp>
        <p:nvSpPr>
          <p:cNvPr id="40" name="Text 38"/>
          <p:cNvSpPr/>
          <p:nvPr/>
        </p:nvSpPr>
        <p:spPr>
          <a:xfrm>
            <a:off x="548640" y="3392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synchronization</a:t>
            </a:r>
            <a:endParaRPr lang="en-US" sz="1000" dirty="0"/>
          </a:p>
        </p:txBody>
      </p:sp>
      <p:sp>
        <p:nvSpPr>
          <p:cNvPr id="41" name="Shape 39"/>
          <p:cNvSpPr/>
          <p:nvPr/>
        </p:nvSpPr>
        <p:spPr>
          <a:xfrm>
            <a:off x="493776" y="3736848"/>
            <a:ext cx="5029200" cy="0"/>
          </a:xfrm>
          <a:prstGeom prst="line">
            <a:avLst/>
          </a:prstGeom>
          <a:noFill/>
          <a:ln w="4445">
            <a:solidFill>
              <a:srgbClr val="DDDDDD"/>
            </a:solidFill>
            <a:prstDash val="solid"/>
          </a:ln>
        </p:spPr>
      </p:sp>
      <p:sp>
        <p:nvSpPr>
          <p:cNvPr id="42" name="Text 40"/>
          <p:cNvSpPr/>
          <p:nvPr/>
        </p:nvSpPr>
        <p:spPr>
          <a:xfrm>
            <a:off x="548640" y="3773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Manual reconciliation</a:t>
            </a:r>
            <a:endParaRPr lang="en-US" sz="1000" dirty="0"/>
          </a:p>
        </p:txBody>
      </p:sp>
      <p:sp>
        <p:nvSpPr>
          <p:cNvPr id="43" name="Shape 41"/>
          <p:cNvSpPr/>
          <p:nvPr/>
        </p:nvSpPr>
        <p:spPr>
          <a:xfrm>
            <a:off x="493776" y="4117848"/>
            <a:ext cx="5029200" cy="0"/>
          </a:xfrm>
          <a:prstGeom prst="line">
            <a:avLst/>
          </a:prstGeom>
          <a:noFill/>
          <a:ln w="4445">
            <a:solidFill>
              <a:srgbClr val="DDDDDD"/>
            </a:solidFill>
            <a:prstDash val="solid"/>
          </a:ln>
        </p:spPr>
      </p:sp>
      <p:sp>
        <p:nvSpPr>
          <p:cNvPr id="44" name="Text 42"/>
          <p:cNvSpPr/>
          <p:nvPr/>
        </p:nvSpPr>
        <p:spPr>
          <a:xfrm>
            <a:off x="548640" y="4154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Billing disputes</a:t>
            </a:r>
            <a:endParaRPr lang="en-US" sz="1000" dirty="0"/>
          </a:p>
        </p:txBody>
      </p:sp>
      <p:sp>
        <p:nvSpPr>
          <p:cNvPr id="45" name="Shape 43"/>
          <p:cNvSpPr/>
          <p:nvPr/>
        </p:nvSpPr>
        <p:spPr>
          <a:xfrm>
            <a:off x="493776" y="4498848"/>
            <a:ext cx="5029200" cy="0"/>
          </a:xfrm>
          <a:prstGeom prst="line">
            <a:avLst/>
          </a:prstGeom>
          <a:noFill/>
          <a:ln w="4445">
            <a:solidFill>
              <a:srgbClr val="DDDDDD"/>
            </a:solidFill>
            <a:prstDash val="solid"/>
          </a:ln>
        </p:spPr>
      </p:sp>
      <p:sp>
        <p:nvSpPr>
          <p:cNvPr id="46" name="Text 44"/>
          <p:cNvSpPr/>
          <p:nvPr/>
        </p:nvSpPr>
        <p:spPr>
          <a:xfrm>
            <a:off x="548640" y="4535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Delayed visibility</a:t>
            </a:r>
            <a:endParaRPr lang="en-US" sz="1000" dirty="0"/>
          </a:p>
        </p:txBody>
      </p:sp>
      <p:sp>
        <p:nvSpPr>
          <p:cNvPr id="47" name="Shape 45"/>
          <p:cNvSpPr/>
          <p:nvPr/>
        </p:nvSpPr>
        <p:spPr>
          <a:xfrm>
            <a:off x="493776" y="4879848"/>
            <a:ext cx="5029200" cy="0"/>
          </a:xfrm>
          <a:prstGeom prst="line">
            <a:avLst/>
          </a:prstGeom>
          <a:noFill/>
          <a:ln w="4445">
            <a:solidFill>
              <a:srgbClr val="DDDDDD"/>
            </a:solidFill>
            <a:prstDash val="solid"/>
          </a:ln>
        </p:spPr>
      </p:sp>
      <p:sp>
        <p:nvSpPr>
          <p:cNvPr id="48" name="Text 46"/>
          <p:cNvSpPr/>
          <p:nvPr/>
        </p:nvSpPr>
        <p:spPr>
          <a:xfrm>
            <a:off x="548640" y="4916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Platform maintenance</a:t>
            </a:r>
            <a:endParaRPr lang="en-US" sz="1000" dirty="0"/>
          </a:p>
        </p:txBody>
      </p:sp>
      <p:sp>
        <p:nvSpPr>
          <p:cNvPr id="49" name="Shape 47"/>
          <p:cNvSpPr/>
          <p:nvPr/>
        </p:nvSpPr>
        <p:spPr>
          <a:xfrm>
            <a:off x="493776" y="5260848"/>
            <a:ext cx="5029200" cy="0"/>
          </a:xfrm>
          <a:prstGeom prst="line">
            <a:avLst/>
          </a:prstGeom>
          <a:noFill/>
          <a:ln w="4445">
            <a:solidFill>
              <a:srgbClr val="DDDDDD"/>
            </a:solidFill>
            <a:prstDash val="solid"/>
          </a:ln>
        </p:spPr>
      </p:sp>
      <p:sp>
        <p:nvSpPr>
          <p:cNvPr id="50" name="Text 48"/>
          <p:cNvSpPr/>
          <p:nvPr/>
        </p:nvSpPr>
        <p:spPr>
          <a:xfrm>
            <a:off x="548640" y="5297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Custom integrations</a:t>
            </a:r>
            <a:endParaRPr lang="en-US" sz="1000" dirty="0"/>
          </a:p>
        </p:txBody>
      </p:sp>
      <p:sp>
        <p:nvSpPr>
          <p:cNvPr id="51" name="Shape 49"/>
          <p:cNvSpPr/>
          <p:nvPr/>
        </p:nvSpPr>
        <p:spPr>
          <a:xfrm>
            <a:off x="5833872" y="4078224"/>
            <a:ext cx="475488" cy="475488"/>
          </a:xfrm>
          <a:prstGeom prst="ellipse">
            <a:avLst/>
          </a:prstGeom>
          <a:solidFill>
            <a:srgbClr val="5B2C8D"/>
          </a:solidFill>
          <a:ln w="12700">
            <a:solidFill>
              <a:srgbClr val="5B2C8D"/>
            </a:solidFill>
            <a:prstDash val="solid"/>
          </a:ln>
        </p:spPr>
      </p:sp>
      <p:sp>
        <p:nvSpPr>
          <p:cNvPr id="52" name="Text 50"/>
          <p:cNvSpPr/>
          <p:nvPr/>
        </p:nvSpPr>
        <p:spPr>
          <a:xfrm>
            <a:off x="5833872" y="4078224"/>
            <a:ext cx="475488" cy="47548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3" name="Shape 51"/>
          <p:cNvSpPr/>
          <p:nvPr/>
        </p:nvSpPr>
        <p:spPr>
          <a:xfrm>
            <a:off x="6537960" y="2916936"/>
            <a:ext cx="5285232" cy="2798064"/>
          </a:xfrm>
          <a:prstGeom prst="roundRect">
            <a:avLst>
              <a:gd name="adj" fmla="val 2288"/>
            </a:avLst>
          </a:prstGeom>
          <a:solidFill>
            <a:srgbClr val="EDE8F5"/>
          </a:solidFill>
          <a:ln w="9525">
            <a:solidFill>
              <a:srgbClr val="C4AEED"/>
            </a:solidFill>
            <a:prstDash val="solid"/>
          </a:ln>
        </p:spPr>
      </p:sp>
      <p:sp>
        <p:nvSpPr>
          <p:cNvPr id="54" name="Text 52"/>
          <p:cNvSpPr/>
          <p:nvPr/>
        </p:nvSpPr>
        <p:spPr>
          <a:xfrm>
            <a:off x="6720840" y="3063240"/>
            <a:ext cx="1280160" cy="219456"/>
          </a:xfrm>
          <a:prstGeom prst="rect">
            <a:avLst/>
          </a:prstGeom>
          <a:noFill/>
          <a:ln/>
        </p:spPr>
        <p:txBody>
          <a:bodyPr wrap="square" rtlCol="0" anchor="ctr"/>
          <a:lstStyle/>
          <a:p>
            <a:pPr indent="0" marL="0">
              <a:buNone/>
            </a:pPr>
            <a:r>
              <a:rPr lang="en-US" sz="850" b="1" spc="200" kern="0" dirty="0">
                <a:solidFill>
                  <a:srgbClr val="5B2C8D"/>
                </a:solidFill>
                <a:latin typeface="Calibri" pitchFamily="34" charset="0"/>
                <a:ea typeface="Calibri" pitchFamily="34" charset="-122"/>
                <a:cs typeface="Calibri" pitchFamily="34" charset="-120"/>
              </a:rPr>
              <a:t>FUTURE</a:t>
            </a:r>
            <a:endParaRPr lang="en-US" sz="850" dirty="0"/>
          </a:p>
        </p:txBody>
      </p:sp>
      <p:sp>
        <p:nvSpPr>
          <p:cNvPr id="55" name="Shape 53"/>
          <p:cNvSpPr/>
          <p:nvPr/>
        </p:nvSpPr>
        <p:spPr>
          <a:xfrm>
            <a:off x="8366760" y="3044952"/>
            <a:ext cx="3246120" cy="256032"/>
          </a:xfrm>
          <a:prstGeom prst="roundRect">
            <a:avLst>
              <a:gd name="adj" fmla="val 14286"/>
            </a:avLst>
          </a:prstGeom>
          <a:solidFill>
            <a:srgbClr val="5B2C8D"/>
          </a:solidFill>
          <a:ln w="12700">
            <a:solidFill>
              <a:srgbClr val="5B2C8D"/>
            </a:solidFill>
            <a:prstDash val="solid"/>
          </a:ln>
        </p:spPr>
      </p:sp>
      <p:sp>
        <p:nvSpPr>
          <p:cNvPr id="56" name="Text 54"/>
          <p:cNvSpPr/>
          <p:nvPr/>
        </p:nvSpPr>
        <p:spPr>
          <a:xfrm>
            <a:off x="8403336" y="3044952"/>
            <a:ext cx="3172968" cy="256032"/>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Unified operating model</a:t>
            </a:r>
            <a:endParaRPr lang="en-US" sz="850" dirty="0"/>
          </a:p>
        </p:txBody>
      </p:sp>
      <p:sp>
        <p:nvSpPr>
          <p:cNvPr id="57" name="Text 55"/>
          <p:cNvSpPr/>
          <p:nvPr/>
        </p:nvSpPr>
        <p:spPr>
          <a:xfrm>
            <a:off x="6720840" y="3392424"/>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and finance move together</a:t>
            </a:r>
            <a:endParaRPr lang="en-US" sz="1000" dirty="0"/>
          </a:p>
        </p:txBody>
      </p:sp>
      <p:sp>
        <p:nvSpPr>
          <p:cNvPr id="58" name="Shape 56"/>
          <p:cNvSpPr/>
          <p:nvPr/>
        </p:nvSpPr>
        <p:spPr>
          <a:xfrm>
            <a:off x="6665976" y="3682419"/>
            <a:ext cx="5029200" cy="0"/>
          </a:xfrm>
          <a:prstGeom prst="line">
            <a:avLst/>
          </a:prstGeom>
          <a:noFill/>
          <a:ln w="4445">
            <a:solidFill>
              <a:srgbClr val="C4AEED"/>
            </a:solidFill>
            <a:prstDash val="solid"/>
          </a:ln>
        </p:spPr>
      </p:sp>
      <p:sp>
        <p:nvSpPr>
          <p:cNvPr id="59" name="Text 57"/>
          <p:cNvSpPr/>
          <p:nvPr/>
        </p:nvSpPr>
        <p:spPr>
          <a:xfrm>
            <a:off x="6720840" y="3718995"/>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Real-time visibility</a:t>
            </a:r>
            <a:endParaRPr lang="en-US" sz="1000" dirty="0"/>
          </a:p>
        </p:txBody>
      </p:sp>
      <p:sp>
        <p:nvSpPr>
          <p:cNvPr id="60" name="Shape 58"/>
          <p:cNvSpPr/>
          <p:nvPr/>
        </p:nvSpPr>
        <p:spPr>
          <a:xfrm>
            <a:off x="6665976" y="4008991"/>
            <a:ext cx="5029200" cy="0"/>
          </a:xfrm>
          <a:prstGeom prst="line">
            <a:avLst/>
          </a:prstGeom>
          <a:noFill/>
          <a:ln w="4445">
            <a:solidFill>
              <a:srgbClr val="C4AEED"/>
            </a:solidFill>
            <a:prstDash val="solid"/>
          </a:ln>
        </p:spPr>
      </p:sp>
      <p:sp>
        <p:nvSpPr>
          <p:cNvPr id="61" name="Text 59"/>
          <p:cNvSpPr/>
          <p:nvPr/>
        </p:nvSpPr>
        <p:spPr>
          <a:xfrm>
            <a:off x="6720840" y="4045567"/>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inventory movement</a:t>
            </a:r>
            <a:endParaRPr lang="en-US" sz="1000" dirty="0"/>
          </a:p>
        </p:txBody>
      </p:sp>
      <p:sp>
        <p:nvSpPr>
          <p:cNvPr id="62" name="Shape 60"/>
          <p:cNvSpPr/>
          <p:nvPr/>
        </p:nvSpPr>
        <p:spPr>
          <a:xfrm>
            <a:off x="6665976" y="4335562"/>
            <a:ext cx="5029200" cy="0"/>
          </a:xfrm>
          <a:prstGeom prst="line">
            <a:avLst/>
          </a:prstGeom>
          <a:noFill/>
          <a:ln w="4445">
            <a:solidFill>
              <a:srgbClr val="C4AEED"/>
            </a:solidFill>
            <a:prstDash val="solid"/>
          </a:ln>
        </p:spPr>
      </p:sp>
      <p:sp>
        <p:nvSpPr>
          <p:cNvPr id="63" name="Text 61"/>
          <p:cNvSpPr/>
          <p:nvPr/>
        </p:nvSpPr>
        <p:spPr>
          <a:xfrm>
            <a:off x="6720840" y="4372138"/>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dollars</a:t>
            </a:r>
            <a:endParaRPr lang="en-US" sz="1000" dirty="0"/>
          </a:p>
        </p:txBody>
      </p:sp>
      <p:sp>
        <p:nvSpPr>
          <p:cNvPr id="64" name="Shape 62"/>
          <p:cNvSpPr/>
          <p:nvPr/>
        </p:nvSpPr>
        <p:spPr>
          <a:xfrm>
            <a:off x="6665976" y="4662134"/>
            <a:ext cx="5029200" cy="0"/>
          </a:xfrm>
          <a:prstGeom prst="line">
            <a:avLst/>
          </a:prstGeom>
          <a:noFill/>
          <a:ln w="4445">
            <a:solidFill>
              <a:srgbClr val="C4AEED"/>
            </a:solidFill>
            <a:prstDash val="solid"/>
          </a:ln>
        </p:spPr>
      </p:sp>
      <p:sp>
        <p:nvSpPr>
          <p:cNvPr id="65" name="Text 63"/>
          <p:cNvSpPr/>
          <p:nvPr/>
        </p:nvSpPr>
        <p:spPr>
          <a:xfrm>
            <a:off x="6720840" y="4698710"/>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Unified fulfillment</a:t>
            </a:r>
            <a:endParaRPr lang="en-US" sz="1000" dirty="0"/>
          </a:p>
        </p:txBody>
      </p:sp>
      <p:sp>
        <p:nvSpPr>
          <p:cNvPr id="66" name="Shape 64"/>
          <p:cNvSpPr/>
          <p:nvPr/>
        </p:nvSpPr>
        <p:spPr>
          <a:xfrm>
            <a:off x="6665976" y="4988705"/>
            <a:ext cx="5029200" cy="0"/>
          </a:xfrm>
          <a:prstGeom prst="line">
            <a:avLst/>
          </a:prstGeom>
          <a:noFill/>
          <a:ln w="4445">
            <a:solidFill>
              <a:srgbClr val="C4AEED"/>
            </a:solidFill>
            <a:prstDash val="solid"/>
          </a:ln>
        </p:spPr>
      </p:sp>
      <p:sp>
        <p:nvSpPr>
          <p:cNvPr id="67" name="Text 65"/>
          <p:cNvSpPr/>
          <p:nvPr/>
        </p:nvSpPr>
        <p:spPr>
          <a:xfrm>
            <a:off x="6720840" y="5025281"/>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Faster product launches</a:t>
            </a:r>
            <a:endParaRPr lang="en-US" sz="1000" dirty="0"/>
          </a:p>
        </p:txBody>
      </p:sp>
      <p:sp>
        <p:nvSpPr>
          <p:cNvPr id="68" name="Shape 66"/>
          <p:cNvSpPr/>
          <p:nvPr/>
        </p:nvSpPr>
        <p:spPr>
          <a:xfrm>
            <a:off x="6665976" y="5315277"/>
            <a:ext cx="5029200" cy="0"/>
          </a:xfrm>
          <a:prstGeom prst="line">
            <a:avLst/>
          </a:prstGeom>
          <a:noFill/>
          <a:ln w="4445">
            <a:solidFill>
              <a:srgbClr val="C4AEED"/>
            </a:solidFill>
            <a:prstDash val="solid"/>
          </a:ln>
        </p:spPr>
      </p:sp>
      <p:sp>
        <p:nvSpPr>
          <p:cNvPr id="69" name="Text 67"/>
          <p:cNvSpPr/>
          <p:nvPr/>
        </p:nvSpPr>
        <p:spPr>
          <a:xfrm>
            <a:off x="6720840" y="5351853"/>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Better AI foundation</a:t>
            </a:r>
            <a:endParaRPr lang="en-US" sz="1000" dirty="0"/>
          </a:p>
        </p:txBody>
      </p:sp>
      <p:sp>
        <p:nvSpPr>
          <p:cNvPr id="70" name="Shape 68"/>
          <p:cNvSpPr/>
          <p:nvPr/>
        </p:nvSpPr>
        <p:spPr>
          <a:xfrm>
            <a:off x="365760" y="5843016"/>
            <a:ext cx="45720" cy="457200"/>
          </a:xfrm>
          <a:prstGeom prst="rect">
            <a:avLst/>
          </a:prstGeom>
          <a:solidFill>
            <a:srgbClr val="5B2C8D"/>
          </a:solidFill>
          <a:ln w="12700">
            <a:solidFill>
              <a:srgbClr val="5B2C8D"/>
            </a:solidFill>
            <a:prstDash val="solid"/>
          </a:ln>
        </p:spPr>
      </p:sp>
      <p:sp>
        <p:nvSpPr>
          <p:cNvPr id="71" name="Text 69"/>
          <p:cNvSpPr/>
          <p:nvPr/>
        </p:nvSpPr>
        <p:spPr>
          <a:xfrm>
            <a:off x="548640" y="5888736"/>
            <a:ext cx="11228832" cy="36576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and financial records should remain </a:t>
            </a:r>
            <a:pPr indent="0" marL="0">
              <a:buNone/>
            </a:pPr>
            <a:r>
              <a:rPr lang="en-US" sz="1100" b="1" dirty="0">
                <a:solidFill>
                  <a:srgbClr val="333333"/>
                </a:solidFill>
                <a:latin typeface="Calibri" pitchFamily="34" charset="0"/>
                <a:ea typeface="Calibri" pitchFamily="34" charset="-122"/>
                <a:cs typeface="Calibri" pitchFamily="34" charset="-120"/>
              </a:rPr>
              <a:t>connected throughout the fulfillment lifecycle</a:t>
            </a:r>
            <a:pPr indent="0" marL="0">
              <a:buNone/>
            </a:pPr>
            <a:r>
              <a:rPr lang="en-US" sz="1100" dirty="0">
                <a:solidFill>
                  <a:srgbClr val="333333"/>
                </a:solidFill>
                <a:latin typeface="Calibri" pitchFamily="34" charset="0"/>
                <a:ea typeface="Calibri" pitchFamily="34" charset="-122"/>
                <a:cs typeface="Calibri" pitchFamily="34" charset="-120"/>
              </a:rPr>
              <a:t> — reconciliation becomes a natural outcome, not a separate activity.</a:t>
            </a:r>
            <a:endParaRPr lang="en-US" sz="1100" dirty="0"/>
          </a:p>
        </p:txBody>
      </p:sp>
      <p:sp>
        <p:nvSpPr>
          <p:cNvPr id="72" name="Text 70"/>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Key message: Every inventory movement eventually becomes a financial event — accountability must hold across every system handoff. Inventory accountability and financial accountability should be inseparable.</a:t>
            </a:r>
            <a:endParaRPr lang="en-US" sz="650" dirty="0"/>
          </a:p>
        </p:txBody>
      </p:sp>
      <p:sp>
        <p:nvSpPr>
          <p:cNvPr id="73" name="Shape 71"/>
          <p:cNvSpPr/>
          <p:nvPr/>
        </p:nvSpPr>
        <p:spPr>
          <a:xfrm>
            <a:off x="0" y="6473952"/>
            <a:ext cx="12188952" cy="0"/>
          </a:xfrm>
          <a:prstGeom prst="line">
            <a:avLst/>
          </a:prstGeom>
          <a:noFill/>
          <a:ln w="6350">
            <a:solidFill>
              <a:srgbClr val="DDDDDD"/>
            </a:solidFill>
            <a:prstDash val="solid"/>
          </a:ln>
        </p:spPr>
      </p:sp>
      <p:sp>
        <p:nvSpPr>
          <p:cNvPr id="74" name="Text 72"/>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75" name="Text 73"/>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MECHANISM &amp; FUTURE STATE</a:t>
            </a:r>
            <a:endParaRPr lang="en-US" sz="800" dirty="0"/>
          </a:p>
        </p:txBody>
      </p:sp>
      <p:sp>
        <p:nvSpPr>
          <p:cNvPr id="76" name="Text 74"/>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04 — ROADMAP</a:t>
            </a:r>
            <a:endParaRPr lang="en-US" sz="800" dirty="0"/>
          </a:p>
        </p:txBody>
      </p:sp>
      <p:sp>
        <p:nvSpPr>
          <p:cNvPr id="3" name="Text 1"/>
          <p:cNvSpPr/>
          <p:nvPr/>
        </p:nvSpPr>
        <p:spPr>
          <a:xfrm>
            <a:off x="365760" y="502920"/>
            <a:ext cx="8686800"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A phased path to consolidate every inventory</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program onto a single ERP</a:t>
            </a:r>
            <a:endParaRPr lang="en-US" sz="2800" dirty="0"/>
          </a:p>
        </p:txBody>
      </p:sp>
      <p:sp>
        <p:nvSpPr>
          <p:cNvPr id="4" name="Shape 2"/>
          <p:cNvSpPr/>
          <p:nvPr/>
        </p:nvSpPr>
        <p:spPr>
          <a:xfrm>
            <a:off x="8961120" y="566928"/>
            <a:ext cx="201168" cy="201168"/>
          </a:xfrm>
          <a:prstGeom prst="ellipse">
            <a:avLst/>
          </a:prstGeom>
          <a:solidFill>
            <a:srgbClr val="E6F4EA"/>
          </a:solidFill>
          <a:ln w="12700">
            <a:solidFill>
              <a:srgbClr val="E6F4EA"/>
            </a:solidFill>
            <a:prstDash val="solid"/>
          </a:ln>
        </p:spPr>
      </p:sp>
      <p:sp>
        <p:nvSpPr>
          <p:cNvPr id="5" name="Text 3"/>
          <p:cNvSpPr/>
          <p:nvPr/>
        </p:nvSpPr>
        <p:spPr>
          <a:xfrm>
            <a:off x="8961120" y="566928"/>
            <a:ext cx="201168" cy="20116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6" name="Text 4"/>
          <p:cNvSpPr/>
          <p:nvPr/>
        </p:nvSpPr>
        <p:spPr>
          <a:xfrm>
            <a:off x="9217152"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Completed</a:t>
            </a:r>
            <a:endParaRPr lang="en-US" sz="850" dirty="0"/>
          </a:p>
        </p:txBody>
      </p:sp>
      <p:sp>
        <p:nvSpPr>
          <p:cNvPr id="7" name="Shape 5"/>
          <p:cNvSpPr/>
          <p:nvPr/>
        </p:nvSpPr>
        <p:spPr>
          <a:xfrm>
            <a:off x="10040112" y="566928"/>
            <a:ext cx="201168" cy="201168"/>
          </a:xfrm>
          <a:prstGeom prst="ellipse">
            <a:avLst/>
          </a:prstGeom>
          <a:solidFill>
            <a:srgbClr val="5B2C8D"/>
          </a:solidFill>
          <a:ln w="12700">
            <a:solidFill>
              <a:srgbClr val="5B2C8D"/>
            </a:solidFill>
            <a:prstDash val="solid"/>
          </a:ln>
        </p:spPr>
      </p:sp>
      <p:sp>
        <p:nvSpPr>
          <p:cNvPr id="8" name="Text 6"/>
          <p:cNvSpPr/>
          <p:nvPr/>
        </p:nvSpPr>
        <p:spPr>
          <a:xfrm>
            <a:off x="10296144"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In progress</a:t>
            </a:r>
            <a:endParaRPr lang="en-US" sz="850" dirty="0"/>
          </a:p>
        </p:txBody>
      </p:sp>
      <p:sp>
        <p:nvSpPr>
          <p:cNvPr id="9" name="Shape 7"/>
          <p:cNvSpPr/>
          <p:nvPr/>
        </p:nvSpPr>
        <p:spPr>
          <a:xfrm>
            <a:off x="11119104" y="566928"/>
            <a:ext cx="201168" cy="201168"/>
          </a:xfrm>
          <a:prstGeom prst="ellipse">
            <a:avLst/>
          </a:prstGeom>
          <a:solidFill>
            <a:srgbClr val="FFFFFF"/>
          </a:solidFill>
          <a:ln w="12700">
            <a:solidFill>
              <a:srgbClr val="AAAAAA"/>
            </a:solidFill>
            <a:prstDash val="solid"/>
          </a:ln>
        </p:spPr>
      </p:sp>
      <p:sp>
        <p:nvSpPr>
          <p:cNvPr id="10" name="Text 8"/>
          <p:cNvSpPr/>
          <p:nvPr/>
        </p:nvSpPr>
        <p:spPr>
          <a:xfrm>
            <a:off x="11375136"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Planned</a:t>
            </a:r>
            <a:endParaRPr lang="en-US" sz="850" dirty="0"/>
          </a:p>
        </p:txBody>
      </p:sp>
      <p:sp>
        <p:nvSpPr>
          <p:cNvPr id="11" name="Text 9"/>
          <p:cNvSpPr/>
          <p:nvPr/>
        </p:nvSpPr>
        <p:spPr>
          <a:xfrm>
            <a:off x="365760" y="1572768"/>
            <a:ext cx="11457432" cy="40233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Managing inventory and financials across separate systems creates reconciliation gaps where loss accumulates. Each phase consolidates another fragmented system into Dynamics 365 F&amp;O, establishing a single source of truth that improves financial control and visibility across every program.</a:t>
            </a:r>
            <a:endParaRPr lang="en-US" sz="950" dirty="0"/>
          </a:p>
        </p:txBody>
      </p:sp>
      <p:sp>
        <p:nvSpPr>
          <p:cNvPr id="12" name="Shape 10"/>
          <p:cNvSpPr/>
          <p:nvPr/>
        </p:nvSpPr>
        <p:spPr>
          <a:xfrm>
            <a:off x="365760" y="2066544"/>
            <a:ext cx="11457432" cy="4114800"/>
          </a:xfrm>
          <a:prstGeom prst="roundRect">
            <a:avLst>
              <a:gd name="adj" fmla="val 1333"/>
            </a:avLst>
          </a:prstGeom>
          <a:solidFill>
            <a:srgbClr val="FFFFFF"/>
          </a:solidFill>
          <a:ln w="9525">
            <a:solidFill>
              <a:srgbClr val="DDDDDD"/>
            </a:solidFill>
            <a:prstDash val="solid"/>
          </a:ln>
        </p:spPr>
      </p:sp>
      <p:sp>
        <p:nvSpPr>
          <p:cNvPr id="13" name="Text 11"/>
          <p:cNvSpPr/>
          <p:nvPr/>
        </p:nvSpPr>
        <p:spPr>
          <a:xfrm>
            <a:off x="548640" y="2157984"/>
            <a:ext cx="1234440" cy="512064"/>
          </a:xfrm>
          <a:prstGeom prst="rect">
            <a:avLst/>
          </a:prstGeom>
          <a:noFill/>
          <a:ln/>
        </p:spPr>
        <p:txBody>
          <a:bodyPr wrap="square" rtlCol="0" anchor="ctr"/>
          <a:lstStyle/>
          <a:p>
            <a:pPr indent="0" marL="0">
              <a:buNone/>
            </a:pPr>
            <a:r>
              <a:rPr lang="en-US" sz="850" b="1" spc="100" kern="0" dirty="0">
                <a:solidFill>
                  <a:srgbClr val="888888"/>
                </a:solidFill>
                <a:latin typeface="Calibri" pitchFamily="34" charset="0"/>
                <a:ea typeface="Calibri" pitchFamily="34" charset="-122"/>
                <a:cs typeface="Calibri" pitchFamily="34" charset="-120"/>
              </a:rPr>
              <a:t>PHASE</a:t>
            </a:r>
            <a:endParaRPr lang="en-US" sz="850" dirty="0"/>
          </a:p>
        </p:txBody>
      </p:sp>
      <p:sp>
        <p:nvSpPr>
          <p:cNvPr id="14" name="Shape 12"/>
          <p:cNvSpPr/>
          <p:nvPr/>
        </p:nvSpPr>
        <p:spPr>
          <a:xfrm>
            <a:off x="1965960" y="2194560"/>
            <a:ext cx="256032" cy="256032"/>
          </a:xfrm>
          <a:prstGeom prst="ellipse">
            <a:avLst/>
          </a:prstGeom>
          <a:solidFill>
            <a:srgbClr val="1B6B2B"/>
          </a:solidFill>
          <a:ln w="12700">
            <a:solidFill>
              <a:srgbClr val="1B6B2B"/>
            </a:solidFill>
            <a:prstDash val="solid"/>
          </a:ln>
        </p:spPr>
      </p:sp>
      <p:sp>
        <p:nvSpPr>
          <p:cNvPr id="15" name="Text 13"/>
          <p:cNvSpPr/>
          <p:nvPr/>
        </p:nvSpPr>
        <p:spPr>
          <a:xfrm>
            <a:off x="1965960" y="2194560"/>
            <a:ext cx="256032" cy="256032"/>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2295144"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2024</a:t>
            </a:r>
            <a:endParaRPr lang="en-US" sz="1300" dirty="0"/>
          </a:p>
        </p:txBody>
      </p:sp>
      <p:sp>
        <p:nvSpPr>
          <p:cNvPr id="17" name="Text 15"/>
          <p:cNvSpPr/>
          <p:nvPr/>
        </p:nvSpPr>
        <p:spPr>
          <a:xfrm>
            <a:off x="2898648"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1</a:t>
            </a:r>
            <a:endParaRPr lang="en-US" sz="850" dirty="0"/>
          </a:p>
        </p:txBody>
      </p:sp>
      <p:sp>
        <p:nvSpPr>
          <p:cNvPr id="18" name="Text 16"/>
          <p:cNvSpPr/>
          <p:nvPr/>
        </p:nvSpPr>
        <p:spPr>
          <a:xfrm>
            <a:off x="1965960"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DES / NDES</a:t>
            </a:r>
            <a:endParaRPr lang="en-US" sz="950" dirty="0"/>
          </a:p>
        </p:txBody>
      </p:sp>
      <p:sp>
        <p:nvSpPr>
          <p:cNvPr id="19" name="Shape 17"/>
          <p:cNvSpPr/>
          <p:nvPr/>
        </p:nvSpPr>
        <p:spPr>
          <a:xfrm>
            <a:off x="4453128" y="2194560"/>
            <a:ext cx="256032" cy="256032"/>
          </a:xfrm>
          <a:prstGeom prst="ellipse">
            <a:avLst/>
          </a:prstGeom>
          <a:solidFill>
            <a:srgbClr val="5B2C8D"/>
          </a:solidFill>
          <a:ln w="12700">
            <a:solidFill>
              <a:srgbClr val="5B2C8D"/>
            </a:solidFill>
            <a:prstDash val="solid"/>
          </a:ln>
        </p:spPr>
      </p:sp>
      <p:sp>
        <p:nvSpPr>
          <p:cNvPr id="20" name="Text 18"/>
          <p:cNvSpPr/>
          <p:nvPr/>
        </p:nvSpPr>
        <p:spPr>
          <a:xfrm>
            <a:off x="4782312"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1" name="Text 19"/>
          <p:cNvSpPr/>
          <p:nvPr/>
        </p:nvSpPr>
        <p:spPr>
          <a:xfrm>
            <a:off x="5385816"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2</a:t>
            </a:r>
            <a:endParaRPr lang="en-US" sz="850" dirty="0"/>
          </a:p>
        </p:txBody>
      </p:sp>
      <p:sp>
        <p:nvSpPr>
          <p:cNvPr id="22" name="Text 20"/>
          <p:cNvSpPr/>
          <p:nvPr/>
        </p:nvSpPr>
        <p:spPr>
          <a:xfrm>
            <a:off x="4453128"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Next Gen Portal migration</a:t>
            </a:r>
            <a:endParaRPr lang="en-US" sz="950" dirty="0"/>
          </a:p>
        </p:txBody>
      </p:sp>
      <p:sp>
        <p:nvSpPr>
          <p:cNvPr id="23" name="Shape 21"/>
          <p:cNvSpPr/>
          <p:nvPr/>
        </p:nvSpPr>
        <p:spPr>
          <a:xfrm>
            <a:off x="6940296" y="2194560"/>
            <a:ext cx="256032" cy="256032"/>
          </a:xfrm>
          <a:prstGeom prst="ellipse">
            <a:avLst/>
          </a:prstGeom>
          <a:solidFill>
            <a:srgbClr val="5B2C8D"/>
          </a:solidFill>
          <a:ln w="12700">
            <a:solidFill>
              <a:srgbClr val="5B2C8D"/>
            </a:solidFill>
            <a:prstDash val="solid"/>
          </a:ln>
        </p:spPr>
      </p:sp>
      <p:sp>
        <p:nvSpPr>
          <p:cNvPr id="24" name="Text 22"/>
          <p:cNvSpPr/>
          <p:nvPr/>
        </p:nvSpPr>
        <p:spPr>
          <a:xfrm>
            <a:off x="7269480"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5" name="Text 23"/>
          <p:cNvSpPr/>
          <p:nvPr/>
        </p:nvSpPr>
        <p:spPr>
          <a:xfrm>
            <a:off x="7872984"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3</a:t>
            </a:r>
            <a:endParaRPr lang="en-US" sz="850" dirty="0"/>
          </a:p>
        </p:txBody>
      </p:sp>
      <p:sp>
        <p:nvSpPr>
          <p:cNvPr id="26" name="Text 24"/>
          <p:cNvSpPr/>
          <p:nvPr/>
        </p:nvSpPr>
        <p:spPr>
          <a:xfrm>
            <a:off x="6940296"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SUR</a:t>
            </a:r>
            <a:endParaRPr lang="en-US" sz="950" dirty="0"/>
          </a:p>
        </p:txBody>
      </p:sp>
      <p:sp>
        <p:nvSpPr>
          <p:cNvPr id="27" name="Shape 25"/>
          <p:cNvSpPr/>
          <p:nvPr/>
        </p:nvSpPr>
        <p:spPr>
          <a:xfrm>
            <a:off x="6940296" y="2752344"/>
            <a:ext cx="2340864" cy="219456"/>
          </a:xfrm>
          <a:prstGeom prst="roundRect">
            <a:avLst>
              <a:gd name="adj" fmla="val 16667"/>
            </a:avLst>
          </a:prstGeom>
          <a:solidFill>
            <a:srgbClr val="EDE8F5"/>
          </a:solidFill>
          <a:ln w="12700">
            <a:solidFill>
              <a:srgbClr val="EDE8F5"/>
            </a:solidFill>
            <a:prstDash val="solid"/>
          </a:ln>
        </p:spPr>
      </p:sp>
      <p:sp>
        <p:nvSpPr>
          <p:cNvPr id="28" name="Text 26"/>
          <p:cNvSpPr/>
          <p:nvPr/>
        </p:nvSpPr>
        <p:spPr>
          <a:xfrm>
            <a:off x="6976872" y="2752344"/>
            <a:ext cx="2267712" cy="219456"/>
          </a:xfrm>
          <a:prstGeom prst="rect">
            <a:avLst/>
          </a:prstGeom>
          <a:noFill/>
          <a:ln/>
        </p:spPr>
        <p:txBody>
          <a:bodyPr wrap="square" rtlCol="0" anchor="ctr"/>
          <a:lstStyle/>
          <a:p>
            <a:pPr indent="0" marL="0">
              <a:buNone/>
            </a:pPr>
            <a:r>
              <a:rPr lang="en-US" sz="750" dirty="0">
                <a:solidFill>
                  <a:srgbClr val="5B2C8D"/>
                </a:solidFill>
                <a:latin typeface="Calibri" pitchFamily="34" charset="0"/>
                <a:ea typeface="Calibri" pitchFamily="34" charset="-122"/>
                <a:cs typeface="Calibri" pitchFamily="34" charset="-120"/>
              </a:rPr>
              <a:t>⇄  Depends on Next Gen Portal migration</a:t>
            </a:r>
            <a:endParaRPr lang="en-US" sz="750" dirty="0"/>
          </a:p>
        </p:txBody>
      </p:sp>
      <p:sp>
        <p:nvSpPr>
          <p:cNvPr id="29" name="Shape 27"/>
          <p:cNvSpPr/>
          <p:nvPr/>
        </p:nvSpPr>
        <p:spPr>
          <a:xfrm>
            <a:off x="9427464" y="2194560"/>
            <a:ext cx="256032" cy="256032"/>
          </a:xfrm>
          <a:prstGeom prst="ellipse">
            <a:avLst/>
          </a:prstGeom>
          <a:solidFill>
            <a:srgbClr val="FFFFFF"/>
          </a:solidFill>
          <a:ln w="12700">
            <a:solidFill>
              <a:srgbClr val="AAAAAA"/>
            </a:solidFill>
            <a:prstDash val="solid"/>
          </a:ln>
        </p:spPr>
      </p:sp>
      <p:sp>
        <p:nvSpPr>
          <p:cNvPr id="30" name="Text 28"/>
          <p:cNvSpPr/>
          <p:nvPr/>
        </p:nvSpPr>
        <p:spPr>
          <a:xfrm>
            <a:off x="9756648"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2027</a:t>
            </a:r>
            <a:endParaRPr lang="en-US" sz="1300" dirty="0"/>
          </a:p>
        </p:txBody>
      </p:sp>
      <p:sp>
        <p:nvSpPr>
          <p:cNvPr id="31" name="Text 29"/>
          <p:cNvSpPr/>
          <p:nvPr/>
        </p:nvSpPr>
        <p:spPr>
          <a:xfrm>
            <a:off x="10360152"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4</a:t>
            </a:r>
            <a:endParaRPr lang="en-US" sz="850" dirty="0"/>
          </a:p>
        </p:txBody>
      </p:sp>
      <p:sp>
        <p:nvSpPr>
          <p:cNvPr id="32" name="Text 30"/>
          <p:cNvSpPr/>
          <p:nvPr/>
        </p:nvSpPr>
        <p:spPr>
          <a:xfrm>
            <a:off x="9427464"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Distro migration</a:t>
            </a:r>
            <a:endParaRPr lang="en-US" sz="950" dirty="0"/>
          </a:p>
        </p:txBody>
      </p:sp>
      <p:sp>
        <p:nvSpPr>
          <p:cNvPr id="33" name="Shape 31"/>
          <p:cNvSpPr/>
          <p:nvPr/>
        </p:nvSpPr>
        <p:spPr>
          <a:xfrm>
            <a:off x="457200" y="2962656"/>
            <a:ext cx="11274552" cy="0"/>
          </a:xfrm>
          <a:prstGeom prst="line">
            <a:avLst/>
          </a:prstGeom>
          <a:noFill/>
          <a:ln w="6350">
            <a:solidFill>
              <a:srgbClr val="DDDDDD"/>
            </a:solidFill>
            <a:prstDash val="solid"/>
          </a:ln>
        </p:spPr>
      </p:sp>
      <p:sp>
        <p:nvSpPr>
          <p:cNvPr id="34" name="Text 32"/>
          <p:cNvSpPr/>
          <p:nvPr/>
        </p:nvSpPr>
        <p:spPr>
          <a:xfrm>
            <a:off x="475488" y="2999232"/>
            <a:ext cx="1252728" cy="1920240"/>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CONSOLIDATION</a:t>
            </a:r>
            <a:endParaRPr lang="en-US" sz="850" dirty="0"/>
          </a:p>
        </p:txBody>
      </p:sp>
      <p:sp>
        <p:nvSpPr>
          <p:cNvPr id="35" name="Shape 33"/>
          <p:cNvSpPr/>
          <p:nvPr/>
        </p:nvSpPr>
        <p:spPr>
          <a:xfrm>
            <a:off x="1929384" y="3090672"/>
            <a:ext cx="2377440" cy="237744"/>
          </a:xfrm>
          <a:prstGeom prst="roundRect">
            <a:avLst>
              <a:gd name="adj" fmla="val 15385"/>
            </a:avLst>
          </a:prstGeom>
          <a:solidFill>
            <a:srgbClr val="EDE8F5"/>
          </a:solidFill>
          <a:ln w="12700">
            <a:solidFill>
              <a:srgbClr val="EDE8F5"/>
            </a:solidFill>
            <a:prstDash val="solid"/>
          </a:ln>
        </p:spPr>
      </p:sp>
      <p:sp>
        <p:nvSpPr>
          <p:cNvPr id="36" name="Text 34"/>
          <p:cNvSpPr/>
          <p:nvPr/>
        </p:nvSpPr>
        <p:spPr>
          <a:xfrm>
            <a:off x="1965960"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DAX + ServiceBench + KitKat → D365 F&amp;O</a:t>
            </a:r>
            <a:endParaRPr lang="en-US" sz="750" dirty="0"/>
          </a:p>
        </p:txBody>
      </p:sp>
      <p:sp>
        <p:nvSpPr>
          <p:cNvPr id="37" name="Text 35"/>
          <p:cNvSpPr/>
          <p:nvPr/>
        </p:nvSpPr>
        <p:spPr>
          <a:xfrm>
            <a:off x="1965960"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Mobility Warehouse (DAX) and DES/NDES field inventory (ServiceBench, incl. the KitKat FSL UI) consolidated into the D365 F&amp;O ERP.</a:t>
            </a:r>
            <a:endParaRPr lang="en-US" sz="850" dirty="0"/>
          </a:p>
        </p:txBody>
      </p:sp>
      <p:sp>
        <p:nvSpPr>
          <p:cNvPr id="38" name="Shape 36"/>
          <p:cNvSpPr/>
          <p:nvPr/>
        </p:nvSpPr>
        <p:spPr>
          <a:xfrm>
            <a:off x="4416552" y="3090672"/>
            <a:ext cx="2377440" cy="237744"/>
          </a:xfrm>
          <a:prstGeom prst="roundRect">
            <a:avLst>
              <a:gd name="adj" fmla="val 15385"/>
            </a:avLst>
          </a:prstGeom>
          <a:solidFill>
            <a:srgbClr val="EDE8F5"/>
          </a:solidFill>
          <a:ln w="12700">
            <a:solidFill>
              <a:srgbClr val="EDE8F5"/>
            </a:solidFill>
            <a:prstDash val="solid"/>
          </a:ln>
        </p:spPr>
      </p:sp>
      <p:sp>
        <p:nvSpPr>
          <p:cNvPr id="39" name="Text 37"/>
          <p:cNvSpPr/>
          <p:nvPr/>
        </p:nvSpPr>
        <p:spPr>
          <a:xfrm>
            <a:off x="4453128"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BAU Portal → D365 F&amp;O</a:t>
            </a:r>
            <a:endParaRPr lang="en-US" sz="750" dirty="0"/>
          </a:p>
        </p:txBody>
      </p:sp>
      <p:sp>
        <p:nvSpPr>
          <p:cNvPr id="40" name="Text 38"/>
          <p:cNvSpPr/>
          <p:nvPr/>
        </p:nvSpPr>
        <p:spPr>
          <a:xfrm>
            <a:off x="4453128"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uBreakiFix store inventory moves from the BAU Portal into the D365 F&amp;O ERP, giving stores visibility of inventory order and management in one system.</a:t>
            </a:r>
            <a:endParaRPr lang="en-US" sz="850" dirty="0"/>
          </a:p>
        </p:txBody>
      </p:sp>
      <p:sp>
        <p:nvSpPr>
          <p:cNvPr id="41" name="Shape 39"/>
          <p:cNvSpPr/>
          <p:nvPr/>
        </p:nvSpPr>
        <p:spPr>
          <a:xfrm>
            <a:off x="6903720" y="3090672"/>
            <a:ext cx="2377440" cy="237744"/>
          </a:xfrm>
          <a:prstGeom prst="roundRect">
            <a:avLst>
              <a:gd name="adj" fmla="val 15385"/>
            </a:avLst>
          </a:prstGeom>
          <a:solidFill>
            <a:srgbClr val="EDE8F5"/>
          </a:solidFill>
          <a:ln w="12700">
            <a:solidFill>
              <a:srgbClr val="EDE8F5"/>
            </a:solidFill>
            <a:prstDash val="solid"/>
          </a:ln>
        </p:spPr>
      </p:sp>
      <p:sp>
        <p:nvSpPr>
          <p:cNvPr id="42" name="Text 40"/>
          <p:cNvSpPr/>
          <p:nvPr/>
        </p:nvSpPr>
        <p:spPr>
          <a:xfrm>
            <a:off x="6940296"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ServiceBench + SBX → D365 F&amp;O</a:t>
            </a:r>
            <a:endParaRPr lang="en-US" sz="750" dirty="0"/>
          </a:p>
        </p:txBody>
      </p:sp>
      <p:sp>
        <p:nvSpPr>
          <p:cNvPr id="43" name="Text 41"/>
          <p:cNvSpPr/>
          <p:nvPr/>
        </p:nvSpPr>
        <p:spPr>
          <a:xfrm>
            <a:off x="6940296"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Moves inventory management configurations supporting repair claims and fulfillment from ServiceBench into D365 F&amp;O, and replaces SBX Cycle Count with DAX WMA.</a:t>
            </a:r>
            <a:endParaRPr lang="en-US" sz="850" dirty="0"/>
          </a:p>
        </p:txBody>
      </p:sp>
      <p:sp>
        <p:nvSpPr>
          <p:cNvPr id="44" name="Shape 42"/>
          <p:cNvSpPr/>
          <p:nvPr/>
        </p:nvSpPr>
        <p:spPr>
          <a:xfrm>
            <a:off x="9390888" y="3090672"/>
            <a:ext cx="2377440" cy="237744"/>
          </a:xfrm>
          <a:prstGeom prst="roundRect">
            <a:avLst>
              <a:gd name="adj" fmla="val 15385"/>
            </a:avLst>
          </a:prstGeom>
          <a:solidFill>
            <a:srgbClr val="EDE8F5"/>
          </a:solidFill>
          <a:ln w="12700">
            <a:solidFill>
              <a:srgbClr val="EDE8F5"/>
            </a:solidFill>
            <a:prstDash val="solid"/>
          </a:ln>
        </p:spPr>
      </p:sp>
      <p:sp>
        <p:nvSpPr>
          <p:cNvPr id="45" name="Text 43"/>
          <p:cNvSpPr/>
          <p:nvPr/>
        </p:nvSpPr>
        <p:spPr>
          <a:xfrm>
            <a:off x="9427464"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Distro → D365 F&amp;O</a:t>
            </a:r>
            <a:endParaRPr lang="en-US" sz="750" dirty="0"/>
          </a:p>
        </p:txBody>
      </p:sp>
      <p:sp>
        <p:nvSpPr>
          <p:cNvPr id="46" name="Text 44"/>
          <p:cNvSpPr/>
          <p:nvPr/>
        </p:nvSpPr>
        <p:spPr>
          <a:xfrm>
            <a:off x="9427464"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Store warehouse inventory moves from the in-house Distro platform into D365 F&amp;O — the last system outside the single source of truth.</a:t>
            </a:r>
            <a:endParaRPr lang="en-US" sz="850" dirty="0"/>
          </a:p>
        </p:txBody>
      </p:sp>
      <p:sp>
        <p:nvSpPr>
          <p:cNvPr id="47" name="Shape 45"/>
          <p:cNvSpPr/>
          <p:nvPr/>
        </p:nvSpPr>
        <p:spPr>
          <a:xfrm>
            <a:off x="457200" y="4919472"/>
            <a:ext cx="11274552" cy="0"/>
          </a:xfrm>
          <a:prstGeom prst="line">
            <a:avLst/>
          </a:prstGeom>
          <a:noFill/>
          <a:ln w="6350">
            <a:solidFill>
              <a:srgbClr val="DDDDDD"/>
            </a:solidFill>
            <a:prstDash val="solid"/>
          </a:ln>
        </p:spPr>
      </p:sp>
      <p:sp>
        <p:nvSpPr>
          <p:cNvPr id="48" name="Text 46"/>
          <p:cNvSpPr/>
          <p:nvPr/>
        </p:nvSpPr>
        <p:spPr>
          <a:xfrm>
            <a:off x="475488" y="4956048"/>
            <a:ext cx="1252728" cy="1755648"/>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DELIVERED</a:t>
            </a:r>
            <a:endParaRPr lang="en-US" sz="850" dirty="0"/>
          </a:p>
          <a:p>
            <a:pPr algn="ctr" indent="0" marL="0">
              <a:buNone/>
            </a:pPr>
            <a:r>
              <a:rPr lang="en-US" sz="850" b="1" spc="100" kern="0" dirty="0">
                <a:solidFill>
                  <a:srgbClr val="888888"/>
                </a:solidFill>
                <a:latin typeface="Calibri" pitchFamily="34" charset="0"/>
                <a:ea typeface="Calibri" pitchFamily="34" charset="-122"/>
                <a:cs typeface="Calibri" pitchFamily="34" charset="-120"/>
              </a:rPr>
              <a:t>BENEFITS</a:t>
            </a:r>
            <a:endParaRPr lang="en-US" sz="850" dirty="0"/>
          </a:p>
        </p:txBody>
      </p:sp>
      <p:sp>
        <p:nvSpPr>
          <p:cNvPr id="49" name="Text 47"/>
          <p:cNvSpPr/>
          <p:nvPr/>
        </p:nvSpPr>
        <p:spPr>
          <a:xfrm>
            <a:off x="1965960"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$5.7M better than forecast</a:t>
            </a:r>
            <a:endParaRPr lang="en-US" sz="850" dirty="0"/>
          </a:p>
        </p:txBody>
      </p:sp>
      <p:sp>
        <p:nvSpPr>
          <p:cNvPr id="50" name="Text 48"/>
          <p:cNvSpPr/>
          <p:nvPr/>
        </p:nvSpPr>
        <p:spPr>
          <a:xfrm>
            <a:off x="1965960"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$2.4M/yr AT&amp;T billing gain</a:t>
            </a:r>
            <a:endParaRPr lang="en-US" sz="850" dirty="0"/>
          </a:p>
        </p:txBody>
      </p:sp>
      <p:sp>
        <p:nvSpPr>
          <p:cNvPr id="51" name="Text 49"/>
          <p:cNvSpPr/>
          <p:nvPr/>
        </p:nvSpPr>
        <p:spPr>
          <a:xfrm>
            <a:off x="1965960"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138k fewer manual touches</a:t>
            </a:r>
            <a:endParaRPr lang="en-US" sz="850" dirty="0"/>
          </a:p>
        </p:txBody>
      </p:sp>
      <p:sp>
        <p:nvSpPr>
          <p:cNvPr id="52" name="Text 50"/>
          <p:cNvSpPr/>
          <p:nvPr/>
        </p:nvSpPr>
        <p:spPr>
          <a:xfrm>
            <a:off x="4453128"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Store inventory in D365 F&amp;O</a:t>
            </a:r>
            <a:endParaRPr lang="en-US" sz="850" dirty="0"/>
          </a:p>
        </p:txBody>
      </p:sp>
      <p:sp>
        <p:nvSpPr>
          <p:cNvPr id="53" name="Text 51"/>
          <p:cNvSpPr/>
          <p:nvPr/>
        </p:nvSpPr>
        <p:spPr>
          <a:xfrm>
            <a:off x="4453128"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uBreakiFix under one source of truth</a:t>
            </a:r>
            <a:endParaRPr lang="en-US" sz="850" dirty="0"/>
          </a:p>
        </p:txBody>
      </p:sp>
      <p:sp>
        <p:nvSpPr>
          <p:cNvPr id="54" name="Text 52"/>
          <p:cNvSpPr/>
          <p:nvPr/>
        </p:nvSpPr>
        <p:spPr>
          <a:xfrm>
            <a:off x="4453128"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Foundation for the SUR repair SSoT</a:t>
            </a:r>
            <a:endParaRPr lang="en-US" sz="850" dirty="0"/>
          </a:p>
        </p:txBody>
      </p:sp>
      <p:sp>
        <p:nvSpPr>
          <p:cNvPr id="55" name="Text 53"/>
          <p:cNvSpPr/>
          <p:nvPr/>
        </p:nvSpPr>
        <p:spPr>
          <a:xfrm>
            <a:off x="6940296"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Repair-claim &amp; fulfillment configs in D365 F&amp;O</a:t>
            </a:r>
            <a:endParaRPr lang="en-US" sz="850" dirty="0"/>
          </a:p>
        </p:txBody>
      </p:sp>
      <p:sp>
        <p:nvSpPr>
          <p:cNvPr id="56" name="Text 54"/>
          <p:cNvSpPr/>
          <p:nvPr/>
        </p:nvSpPr>
        <p:spPr>
          <a:xfrm>
            <a:off x="6940296"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SBX Cycle Count replaced by DAX WMA</a:t>
            </a:r>
            <a:endParaRPr lang="en-US" sz="850" dirty="0"/>
          </a:p>
        </p:txBody>
      </p:sp>
      <p:sp>
        <p:nvSpPr>
          <p:cNvPr id="57" name="Text 55"/>
          <p:cNvSpPr/>
          <p:nvPr/>
        </p:nvSpPr>
        <p:spPr>
          <a:xfrm>
            <a:off x="6940296"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Removes ServiceBench from inventory management</a:t>
            </a:r>
            <a:endParaRPr lang="en-US" sz="850" dirty="0"/>
          </a:p>
        </p:txBody>
      </p:sp>
      <p:sp>
        <p:nvSpPr>
          <p:cNvPr id="58" name="Text 56"/>
          <p:cNvSpPr/>
          <p:nvPr/>
        </p:nvSpPr>
        <p:spPr>
          <a:xfrm>
            <a:off x="9427464"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100% of inventory in one ERP</a:t>
            </a:r>
            <a:endParaRPr lang="en-US" sz="850" dirty="0"/>
          </a:p>
        </p:txBody>
      </p:sp>
      <p:sp>
        <p:nvSpPr>
          <p:cNvPr id="59" name="Text 57"/>
          <p:cNvSpPr/>
          <p:nvPr/>
        </p:nvSpPr>
        <p:spPr>
          <a:xfrm>
            <a:off x="9427464"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One operating model, warehouse to store</a:t>
            </a:r>
            <a:endParaRPr lang="en-US" sz="850" dirty="0"/>
          </a:p>
        </p:txBody>
      </p:sp>
      <p:sp>
        <p:nvSpPr>
          <p:cNvPr id="60" name="Text 58"/>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Per the UBIF inventory SSoT roadmap: each phase consolidates a legacy source system (Mobility Warehouse DAX, DES/NDES &amp; SUR field inventory in ServiceBench, Store Inventory BAU Portal, in-house Distro) into the Dynamics 365 F&amp;O ERP as the single source of truth. Phases 2 (SUR) and 3 (UBIF Next Gen Portal) run in parallel in 2026; Phase 4 (UBIF Distro) is slotted for 2027 and completes warehouse-to-store traceability.</a:t>
            </a:r>
            <a:endParaRPr lang="en-US" sz="650" dirty="0"/>
          </a:p>
        </p:txBody>
      </p:sp>
      <p:sp>
        <p:nvSpPr>
          <p:cNvPr id="61" name="Shape 59"/>
          <p:cNvSpPr/>
          <p:nvPr/>
        </p:nvSpPr>
        <p:spPr>
          <a:xfrm>
            <a:off x="0" y="6473952"/>
            <a:ext cx="12188952" cy="0"/>
          </a:xfrm>
          <a:prstGeom prst="line">
            <a:avLst/>
          </a:prstGeom>
          <a:noFill/>
          <a:ln w="6350">
            <a:solidFill>
              <a:srgbClr val="DDDDDD"/>
            </a:solidFill>
            <a:prstDash val="solid"/>
          </a:ln>
        </p:spPr>
      </p:sp>
      <p:sp>
        <p:nvSpPr>
          <p:cNvPr id="62" name="Text 60"/>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3" name="Text 61"/>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ROADMAP</a:t>
            </a:r>
            <a:endParaRPr lang="en-US" sz="800" dirty="0"/>
          </a:p>
        </p:txBody>
      </p:sp>
      <p:sp>
        <p:nvSpPr>
          <p:cNvPr id="64" name="Text 62"/>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05 — WHY DISTRO MATTERS</a:t>
            </a:r>
            <a:endParaRPr lang="en-US" sz="800" dirty="0"/>
          </a:p>
        </p:txBody>
      </p:sp>
      <p:sp>
        <p:nvSpPr>
          <p:cNvPr id="3" name="Text 1"/>
          <p:cNvSpPr/>
          <p:nvPr/>
        </p:nvSpPr>
        <p:spPr>
          <a:xfrm>
            <a:off x="365760" y="475488"/>
            <a:ext cx="11457432" cy="182880"/>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PHASE 4 — UBIF DISTRO MIGRATION, SLOTTED FOR 2027</a:t>
            </a:r>
            <a:endParaRPr lang="en-US" sz="800" dirty="0"/>
          </a:p>
        </p:txBody>
      </p:sp>
      <p:sp>
        <p:nvSpPr>
          <p:cNvPr id="4" name="Text 2"/>
          <p:cNvSpPr/>
          <p:nvPr/>
        </p:nvSpPr>
        <p:spPr>
          <a:xfrm>
            <a:off x="365760" y="676656"/>
            <a:ext cx="11457432" cy="118872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Distro is the last system standing — and the most</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strategic to retire</a:t>
            </a:r>
            <a:endParaRPr lang="en-US" sz="2800" dirty="0"/>
          </a:p>
        </p:txBody>
      </p:sp>
      <p:sp>
        <p:nvSpPr>
          <p:cNvPr id="5" name="Shape 3"/>
          <p:cNvSpPr/>
          <p:nvPr/>
        </p:nvSpPr>
        <p:spPr>
          <a:xfrm>
            <a:off x="365760" y="1901952"/>
            <a:ext cx="11457432" cy="713232"/>
          </a:xfrm>
          <a:prstGeom prst="roundRect">
            <a:avLst>
              <a:gd name="adj" fmla="val 7692"/>
            </a:avLst>
          </a:prstGeom>
          <a:solidFill>
            <a:srgbClr val="FFFFFF"/>
          </a:solidFill>
          <a:ln w="12700">
            <a:solidFill>
              <a:srgbClr val="DDDDDD"/>
            </a:solidFill>
            <a:prstDash val="solid"/>
          </a:ln>
        </p:spPr>
      </p:sp>
      <p:sp>
        <p:nvSpPr>
          <p:cNvPr id="6" name="Text 4"/>
          <p:cNvSpPr/>
          <p:nvPr/>
        </p:nvSpPr>
        <p:spPr>
          <a:xfrm>
            <a:off x="548640" y="1938528"/>
            <a:ext cx="11091672" cy="621792"/>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There's </a:t>
            </a:r>
            <a:pPr indent="0" marL="0">
              <a:buNone/>
            </a:pPr>
            <a:r>
              <a:rPr lang="en-US" sz="1050" b="1" dirty="0">
                <a:solidFill>
                  <a:srgbClr val="333333"/>
                </a:solidFill>
                <a:latin typeface="Calibri" pitchFamily="34" charset="0"/>
                <a:ea typeface="Calibri" pitchFamily="34" charset="-122"/>
                <a:cs typeface="Calibri" pitchFamily="34" charset="-120"/>
              </a:rPr>
              <a:t>no single technical blocker</a:t>
            </a:r>
            <a:pPr indent="0" marL="0">
              <a:buNone/>
            </a:pPr>
            <a:r>
              <a:rPr lang="en-US" sz="1050" dirty="0">
                <a:solidFill>
                  <a:srgbClr val="333333"/>
                </a:solidFill>
                <a:latin typeface="Calibri" pitchFamily="34" charset="0"/>
                <a:ea typeface="Calibri" pitchFamily="34" charset="-122"/>
                <a:cs typeface="Calibri" pitchFamily="34" charset="-120"/>
              </a:rPr>
              <a:t> — Distro is stable and could run on our stack indefinitely. The case for moving it in 2027 is </a:t>
            </a:r>
            <a:pPr indent="0" marL="0">
              <a:buNone/>
            </a:pPr>
            <a:r>
              <a:rPr lang="en-US" sz="1050" b="1" dirty="0">
                <a:solidFill>
                  <a:srgbClr val="333333"/>
                </a:solidFill>
                <a:latin typeface="Calibri" pitchFamily="34" charset="0"/>
                <a:ea typeface="Calibri" pitchFamily="34" charset="-122"/>
                <a:cs typeface="Calibri" pitchFamily="34" charset="-120"/>
              </a:rPr>
              <a:t>structural</a:t>
            </a:r>
            <a:pPr indent="0" marL="0">
              <a:buNone/>
            </a:pPr>
            <a:r>
              <a:rPr lang="en-US" sz="1050" dirty="0">
                <a:solidFill>
                  <a:srgbClr val="333333"/>
                </a:solidFill>
                <a:latin typeface="Calibri" pitchFamily="34" charset="0"/>
                <a:ea typeface="Calibri" pitchFamily="34" charset="-122"/>
                <a:cs typeface="Calibri" pitchFamily="34" charset="-120"/>
              </a:rPr>
              <a:t>: keeping the in-house warehouse platform separate compounds </a:t>
            </a:r>
            <a:pPr indent="0" marL="0">
              <a:buNone/>
            </a:pPr>
            <a:r>
              <a:rPr lang="en-US" sz="1050" b="1" dirty="0">
                <a:solidFill>
                  <a:srgbClr val="333333"/>
                </a:solidFill>
                <a:latin typeface="Calibri" pitchFamily="34" charset="0"/>
                <a:ea typeface="Calibri" pitchFamily="34" charset="-122"/>
                <a:cs typeface="Calibri" pitchFamily="34" charset="-120"/>
              </a:rPr>
              <a:t>financial</a:t>
            </a:r>
            <a:pPr indent="0" marL="0">
              <a:buNone/>
            </a:pPr>
            <a:r>
              <a:rPr lang="en-US" sz="1050" dirty="0">
                <a:solidFill>
                  <a:srgbClr val="333333"/>
                </a:solidFill>
                <a:latin typeface="Calibri" pitchFamily="34" charset="0"/>
                <a:ea typeface="Calibri" pitchFamily="34" charset="-122"/>
                <a:cs typeface="Calibri" pitchFamily="34" charset="-120"/>
              </a:rPr>
              <a:t>, </a:t>
            </a:r>
            <a:pPr indent="0" marL="0">
              <a:buNone/>
            </a:pPr>
            <a:r>
              <a:rPr lang="en-US" sz="1050" b="1" dirty="0">
                <a:solidFill>
                  <a:srgbClr val="333333"/>
                </a:solidFill>
                <a:latin typeface="Calibri" pitchFamily="34" charset="0"/>
                <a:ea typeface="Calibri" pitchFamily="34" charset="-122"/>
                <a:cs typeface="Calibri" pitchFamily="34" charset="-120"/>
              </a:rPr>
              <a:t>operational</a:t>
            </a:r>
            <a:pPr indent="0" marL="0">
              <a:buNone/>
            </a:pPr>
            <a:r>
              <a:rPr lang="en-US" sz="1050" dirty="0">
                <a:solidFill>
                  <a:srgbClr val="333333"/>
                </a:solidFill>
                <a:latin typeface="Calibri" pitchFamily="34" charset="0"/>
                <a:ea typeface="Calibri" pitchFamily="34" charset="-122"/>
                <a:cs typeface="Calibri" pitchFamily="34" charset="-120"/>
              </a:rPr>
              <a:t>, and </a:t>
            </a:r>
            <a:pPr indent="0" marL="0">
              <a:buNone/>
            </a:pPr>
            <a:r>
              <a:rPr lang="en-US" sz="1050" b="1" dirty="0">
                <a:solidFill>
                  <a:srgbClr val="333333"/>
                </a:solidFill>
                <a:latin typeface="Calibri" pitchFamily="34" charset="0"/>
                <a:ea typeface="Calibri" pitchFamily="34" charset="-122"/>
                <a:cs typeface="Calibri" pitchFamily="34" charset="-120"/>
              </a:rPr>
              <a:t>commercial</a:t>
            </a:r>
            <a:pPr indent="0" marL="0">
              <a:buNone/>
            </a:pPr>
            <a:r>
              <a:rPr lang="en-US" sz="1050" dirty="0">
                <a:solidFill>
                  <a:srgbClr val="333333"/>
                </a:solidFill>
                <a:latin typeface="Calibri" pitchFamily="34" charset="0"/>
                <a:ea typeface="Calibri" pitchFamily="34" charset="-122"/>
                <a:cs typeface="Calibri" pitchFamily="34" charset="-120"/>
              </a:rPr>
              <a:t> risk as we scale.</a:t>
            </a:r>
            <a:endParaRPr lang="en-US" sz="1050" dirty="0"/>
          </a:p>
        </p:txBody>
      </p:sp>
      <p:sp>
        <p:nvSpPr>
          <p:cNvPr id="7" name="Shape 5"/>
          <p:cNvSpPr/>
          <p:nvPr/>
        </p:nvSpPr>
        <p:spPr>
          <a:xfrm>
            <a:off x="365760" y="2779776"/>
            <a:ext cx="2795778" cy="2560320"/>
          </a:xfrm>
          <a:prstGeom prst="roundRect">
            <a:avLst>
              <a:gd name="adj" fmla="val 2500"/>
            </a:avLst>
          </a:prstGeom>
          <a:solidFill>
            <a:srgbClr val="FFFFFF"/>
          </a:solidFill>
          <a:ln w="9525">
            <a:solidFill>
              <a:srgbClr val="DDDDDD"/>
            </a:solidFill>
            <a:prstDash val="solid"/>
          </a:ln>
        </p:spPr>
      </p:sp>
      <p:sp>
        <p:nvSpPr>
          <p:cNvPr id="8" name="Shape 6"/>
          <p:cNvSpPr/>
          <p:nvPr/>
        </p:nvSpPr>
        <p:spPr>
          <a:xfrm>
            <a:off x="493776" y="2926080"/>
            <a:ext cx="384048" cy="384048"/>
          </a:xfrm>
          <a:prstGeom prst="ellipse">
            <a:avLst/>
          </a:prstGeom>
          <a:solidFill>
            <a:srgbClr val="EDE8F5"/>
          </a:solidFill>
          <a:ln w="12700">
            <a:solidFill>
              <a:srgbClr val="EDE8F5"/>
            </a:solidFill>
            <a:prstDash val="solid"/>
          </a:ln>
        </p:spPr>
      </p:sp>
      <p:sp>
        <p:nvSpPr>
          <p:cNvPr id="9" name="Text 7"/>
          <p:cNvSpPr/>
          <p:nvPr/>
        </p:nvSpPr>
        <p:spPr>
          <a:xfrm>
            <a:off x="493776"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Financial single source of truth</a:t>
            </a:r>
            <a:endParaRPr lang="en-US" sz="1050" dirty="0"/>
          </a:p>
        </p:txBody>
      </p:sp>
      <p:sp>
        <p:nvSpPr>
          <p:cNvPr id="10" name="Text 8"/>
          <p:cNvSpPr/>
          <p:nvPr/>
        </p:nvSpPr>
        <p:spPr>
          <a:xfrm>
            <a:off x="493776"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1" name="Text 9"/>
          <p:cNvSpPr/>
          <p:nvPr/>
        </p:nvSpPr>
        <p:spPr>
          <a:xfrm>
            <a:off x="493776"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Intercompany transfers across Portal → Next-Gen Portal → Distro aren't unified, and we pay stores for activity that lives outside the ERP.</a:t>
            </a:r>
            <a:endParaRPr lang="en-US" sz="850" dirty="0"/>
          </a:p>
        </p:txBody>
      </p:sp>
      <p:sp>
        <p:nvSpPr>
          <p:cNvPr id="12" name="Shape 10"/>
          <p:cNvSpPr/>
          <p:nvPr/>
        </p:nvSpPr>
        <p:spPr>
          <a:xfrm>
            <a:off x="493776" y="4828032"/>
            <a:ext cx="2539746" cy="0"/>
          </a:xfrm>
          <a:prstGeom prst="line">
            <a:avLst/>
          </a:prstGeom>
          <a:noFill/>
          <a:ln w="6350">
            <a:solidFill>
              <a:srgbClr val="DDDDDD"/>
            </a:solidFill>
            <a:prstDash val="solid"/>
          </a:ln>
        </p:spPr>
      </p:sp>
      <p:sp>
        <p:nvSpPr>
          <p:cNvPr id="13" name="Text 11"/>
          <p:cNvSpPr/>
          <p:nvPr/>
        </p:nvSpPr>
        <p:spPr>
          <a:xfrm>
            <a:off x="493776"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14" name="Text 12"/>
          <p:cNvSpPr/>
          <p:nvPr/>
        </p:nvSpPr>
        <p:spPr>
          <a:xfrm>
            <a:off x="493776"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Transfers and financials settle automatically in one ledger — every dollar reconciled.</a:t>
            </a:r>
            <a:endParaRPr lang="en-US" sz="850" dirty="0"/>
          </a:p>
        </p:txBody>
      </p:sp>
      <p:sp>
        <p:nvSpPr>
          <p:cNvPr id="15" name="Shape 13"/>
          <p:cNvSpPr/>
          <p:nvPr/>
        </p:nvSpPr>
        <p:spPr>
          <a:xfrm>
            <a:off x="3252978" y="2779776"/>
            <a:ext cx="2795778" cy="2560320"/>
          </a:xfrm>
          <a:prstGeom prst="roundRect">
            <a:avLst>
              <a:gd name="adj" fmla="val 2500"/>
            </a:avLst>
          </a:prstGeom>
          <a:solidFill>
            <a:srgbClr val="FFFFFF"/>
          </a:solidFill>
          <a:ln w="9525">
            <a:solidFill>
              <a:srgbClr val="DDDDDD"/>
            </a:solidFill>
            <a:prstDash val="solid"/>
          </a:ln>
        </p:spPr>
      </p:sp>
      <p:sp>
        <p:nvSpPr>
          <p:cNvPr id="16" name="Shape 14"/>
          <p:cNvSpPr/>
          <p:nvPr/>
        </p:nvSpPr>
        <p:spPr>
          <a:xfrm>
            <a:off x="3380994" y="2926080"/>
            <a:ext cx="384048" cy="384048"/>
          </a:xfrm>
          <a:prstGeom prst="ellipse">
            <a:avLst/>
          </a:prstGeom>
          <a:solidFill>
            <a:srgbClr val="EDE8F5"/>
          </a:solidFill>
          <a:ln w="12700">
            <a:solidFill>
              <a:srgbClr val="EDE8F5"/>
            </a:solidFill>
            <a:prstDash val="solid"/>
          </a:ln>
        </p:spPr>
      </p:sp>
      <p:sp>
        <p:nvSpPr>
          <p:cNvPr id="17" name="Text 15"/>
          <p:cNvSpPr/>
          <p:nvPr/>
        </p:nvSpPr>
        <p:spPr>
          <a:xfrm>
            <a:off x="3380994"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Designed-out loss exposure</a:t>
            </a:r>
            <a:endParaRPr lang="en-US" sz="1050" dirty="0"/>
          </a:p>
        </p:txBody>
      </p:sp>
      <p:sp>
        <p:nvSpPr>
          <p:cNvPr id="18" name="Text 16"/>
          <p:cNvSpPr/>
          <p:nvPr/>
        </p:nvSpPr>
        <p:spPr>
          <a:xfrm>
            <a:off x="3380994"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9" name="Text 17"/>
          <p:cNvSpPr/>
          <p:nvPr/>
        </p:nvSpPr>
        <p:spPr>
          <a:xfrm>
            <a:off x="3380994"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Inventory losses surface in the integrations between Portal, Next-Gen Portal and Distro — latent risk that grows with volume.</a:t>
            </a:r>
            <a:endParaRPr lang="en-US" sz="850" dirty="0"/>
          </a:p>
        </p:txBody>
      </p:sp>
      <p:sp>
        <p:nvSpPr>
          <p:cNvPr id="20" name="Shape 18"/>
          <p:cNvSpPr/>
          <p:nvPr/>
        </p:nvSpPr>
        <p:spPr>
          <a:xfrm>
            <a:off x="3380994" y="4828032"/>
            <a:ext cx="2539746" cy="0"/>
          </a:xfrm>
          <a:prstGeom prst="line">
            <a:avLst/>
          </a:prstGeom>
          <a:noFill/>
          <a:ln w="6350">
            <a:solidFill>
              <a:srgbClr val="DDDDDD"/>
            </a:solidFill>
            <a:prstDash val="solid"/>
          </a:ln>
        </p:spPr>
      </p:sp>
      <p:sp>
        <p:nvSpPr>
          <p:cNvPr id="21" name="Text 19"/>
          <p:cNvSpPr/>
          <p:nvPr/>
        </p:nvSpPr>
        <p:spPr>
          <a:xfrm>
            <a:off x="3380994"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22" name="Text 20"/>
          <p:cNvSpPr/>
          <p:nvPr/>
        </p:nvSpPr>
        <p:spPr>
          <a:xfrm>
            <a:off x="3380994"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Fewer systems and handoffs means no integration seams for inventory to disappear in.</a:t>
            </a:r>
            <a:endParaRPr lang="en-US" sz="850" dirty="0"/>
          </a:p>
        </p:txBody>
      </p:sp>
      <p:sp>
        <p:nvSpPr>
          <p:cNvPr id="23" name="Shape 21"/>
          <p:cNvSpPr/>
          <p:nvPr/>
        </p:nvSpPr>
        <p:spPr>
          <a:xfrm>
            <a:off x="6140196" y="2779776"/>
            <a:ext cx="2795778" cy="2560320"/>
          </a:xfrm>
          <a:prstGeom prst="roundRect">
            <a:avLst>
              <a:gd name="adj" fmla="val 2500"/>
            </a:avLst>
          </a:prstGeom>
          <a:solidFill>
            <a:srgbClr val="FFFFFF"/>
          </a:solidFill>
          <a:ln w="9525">
            <a:solidFill>
              <a:srgbClr val="DDDDDD"/>
            </a:solidFill>
            <a:prstDash val="solid"/>
          </a:ln>
        </p:spPr>
      </p:sp>
      <p:sp>
        <p:nvSpPr>
          <p:cNvPr id="24" name="Shape 22"/>
          <p:cNvSpPr/>
          <p:nvPr/>
        </p:nvSpPr>
        <p:spPr>
          <a:xfrm>
            <a:off x="6268212" y="2926080"/>
            <a:ext cx="384048" cy="384048"/>
          </a:xfrm>
          <a:prstGeom prst="ellipse">
            <a:avLst/>
          </a:prstGeom>
          <a:solidFill>
            <a:srgbClr val="EDE8F5"/>
          </a:solidFill>
          <a:ln w="12700">
            <a:solidFill>
              <a:srgbClr val="EDE8F5"/>
            </a:solidFill>
            <a:prstDash val="solid"/>
          </a:ln>
        </p:spPr>
      </p:sp>
      <p:sp>
        <p:nvSpPr>
          <p:cNvPr id="25" name="Text 23"/>
          <p:cNvSpPr/>
          <p:nvPr/>
        </p:nvSpPr>
        <p:spPr>
          <a:xfrm>
            <a:off x="6268212"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Operational resilience</a:t>
            </a:r>
            <a:endParaRPr lang="en-US" sz="1050" dirty="0"/>
          </a:p>
        </p:txBody>
      </p:sp>
      <p:sp>
        <p:nvSpPr>
          <p:cNvPr id="26" name="Text 24"/>
          <p:cNvSpPr/>
          <p:nvPr/>
        </p:nvSpPr>
        <p:spPr>
          <a:xfrm>
            <a:off x="6268212"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27" name="Text 25"/>
          <p:cNvSpPr/>
          <p:nvPr/>
        </p:nvSpPr>
        <p:spPr>
          <a:xfrm>
            <a:off x="6268212"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Distro is a separate application maintained by only a couple of specialists — the skill set isn't fungible (key-person risk).</a:t>
            </a:r>
            <a:endParaRPr lang="en-US" sz="850" dirty="0"/>
          </a:p>
        </p:txBody>
      </p:sp>
      <p:sp>
        <p:nvSpPr>
          <p:cNvPr id="28" name="Shape 26"/>
          <p:cNvSpPr/>
          <p:nvPr/>
        </p:nvSpPr>
        <p:spPr>
          <a:xfrm>
            <a:off x="6268212" y="4828032"/>
            <a:ext cx="2539746" cy="0"/>
          </a:xfrm>
          <a:prstGeom prst="line">
            <a:avLst/>
          </a:prstGeom>
          <a:noFill/>
          <a:ln w="6350">
            <a:solidFill>
              <a:srgbClr val="DDDDDD"/>
            </a:solidFill>
            <a:prstDash val="solid"/>
          </a:ln>
        </p:spPr>
      </p:sp>
      <p:sp>
        <p:nvSpPr>
          <p:cNvPr id="29" name="Text 27"/>
          <p:cNvSpPr/>
          <p:nvPr/>
        </p:nvSpPr>
        <p:spPr>
          <a:xfrm>
            <a:off x="6268212"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0" name="Text 28"/>
          <p:cNvSpPr/>
          <p:nvPr/>
        </p:nvSpPr>
        <p:spPr>
          <a:xfrm>
            <a:off x="6268212"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One platform and one skill base — a team that flexes across the business.</a:t>
            </a:r>
            <a:endParaRPr lang="en-US" sz="850" dirty="0"/>
          </a:p>
        </p:txBody>
      </p:sp>
      <p:sp>
        <p:nvSpPr>
          <p:cNvPr id="31" name="Shape 29"/>
          <p:cNvSpPr/>
          <p:nvPr/>
        </p:nvSpPr>
        <p:spPr>
          <a:xfrm>
            <a:off x="9027414" y="2779776"/>
            <a:ext cx="2795778" cy="2560320"/>
          </a:xfrm>
          <a:prstGeom prst="roundRect">
            <a:avLst>
              <a:gd name="adj" fmla="val 2500"/>
            </a:avLst>
          </a:prstGeom>
          <a:solidFill>
            <a:srgbClr val="FFFFFF"/>
          </a:solidFill>
          <a:ln w="9525">
            <a:solidFill>
              <a:srgbClr val="DDDDDD"/>
            </a:solidFill>
            <a:prstDash val="solid"/>
          </a:ln>
        </p:spPr>
      </p:sp>
      <p:sp>
        <p:nvSpPr>
          <p:cNvPr id="32" name="Shape 30"/>
          <p:cNvSpPr/>
          <p:nvPr/>
        </p:nvSpPr>
        <p:spPr>
          <a:xfrm>
            <a:off x="9155430" y="2926080"/>
            <a:ext cx="384048" cy="384048"/>
          </a:xfrm>
          <a:prstGeom prst="ellipse">
            <a:avLst/>
          </a:prstGeom>
          <a:solidFill>
            <a:srgbClr val="EDE8F5"/>
          </a:solidFill>
          <a:ln w="12700">
            <a:solidFill>
              <a:srgbClr val="EDE8F5"/>
            </a:solidFill>
            <a:prstDash val="solid"/>
          </a:ln>
        </p:spPr>
      </p:sp>
      <p:sp>
        <p:nvSpPr>
          <p:cNvPr id="33" name="Text 31"/>
          <p:cNvSpPr/>
          <p:nvPr/>
        </p:nvSpPr>
        <p:spPr>
          <a:xfrm>
            <a:off x="9155430"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Vendor-driven request</a:t>
            </a:r>
            <a:endParaRPr lang="en-US" sz="1050" dirty="0"/>
          </a:p>
        </p:txBody>
      </p:sp>
      <p:sp>
        <p:nvSpPr>
          <p:cNvPr id="34" name="Text 32"/>
          <p:cNvSpPr/>
          <p:nvPr/>
        </p:nvSpPr>
        <p:spPr>
          <a:xfrm>
            <a:off x="9155430"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35" name="Text 33"/>
          <p:cNvSpPr/>
          <p:nvPr/>
        </p:nvSpPr>
        <p:spPr>
          <a:xfrm>
            <a:off x="9155430"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UPS, an Asurion vendor, is moving off their legacy platform; staying on Distro forces them to re-integrate with it — they already run D365 for mobility pick/pack/ship.</a:t>
            </a:r>
            <a:endParaRPr lang="en-US" sz="850" dirty="0"/>
          </a:p>
        </p:txBody>
      </p:sp>
      <p:sp>
        <p:nvSpPr>
          <p:cNvPr id="36" name="Shape 34"/>
          <p:cNvSpPr/>
          <p:nvPr/>
        </p:nvSpPr>
        <p:spPr>
          <a:xfrm>
            <a:off x="9155430" y="4828032"/>
            <a:ext cx="2539746" cy="0"/>
          </a:xfrm>
          <a:prstGeom prst="line">
            <a:avLst/>
          </a:prstGeom>
          <a:noFill/>
          <a:ln w="6350">
            <a:solidFill>
              <a:srgbClr val="DDDDDD"/>
            </a:solidFill>
            <a:prstDash val="solid"/>
          </a:ln>
        </p:spPr>
      </p:sp>
      <p:sp>
        <p:nvSpPr>
          <p:cNvPr id="37" name="Text 35"/>
          <p:cNvSpPr/>
          <p:nvPr/>
        </p:nvSpPr>
        <p:spPr>
          <a:xfrm>
            <a:off x="9155430"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8" name="Text 36"/>
          <p:cNvSpPr/>
          <p:nvPr/>
        </p:nvSpPr>
        <p:spPr>
          <a:xfrm>
            <a:off x="9155430"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A common D365 platform our vendors are asking us to standardize on.</a:t>
            </a:r>
            <a:endParaRPr lang="en-US" sz="850" dirty="0"/>
          </a:p>
        </p:txBody>
      </p:sp>
      <p:sp>
        <p:nvSpPr>
          <p:cNvPr id="39" name="Shape 37"/>
          <p:cNvSpPr/>
          <p:nvPr/>
        </p:nvSpPr>
        <p:spPr>
          <a:xfrm>
            <a:off x="365760" y="5486400"/>
            <a:ext cx="11457432" cy="658368"/>
          </a:xfrm>
          <a:prstGeom prst="roundRect">
            <a:avLst>
              <a:gd name="adj" fmla="val 8333"/>
            </a:avLst>
          </a:prstGeom>
          <a:solidFill>
            <a:srgbClr val="5B2C8D"/>
          </a:solidFill>
          <a:ln w="12700">
            <a:solidFill>
              <a:srgbClr val="5B2C8D"/>
            </a:solidFill>
            <a:prstDash val="solid"/>
          </a:ln>
        </p:spPr>
      </p:sp>
      <p:sp>
        <p:nvSpPr>
          <p:cNvPr id="40" name="Text 38"/>
          <p:cNvSpPr/>
          <p:nvPr/>
        </p:nvSpPr>
        <p:spPr>
          <a:xfrm>
            <a:off x="594360" y="5541264"/>
            <a:ext cx="11000232" cy="54864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The end state: </a:t>
            </a:r>
            <a:pPr algn="ctr" indent="0" marL="0">
              <a:buNone/>
            </a:pPr>
            <a:r>
              <a:rPr lang="en-US" sz="1050" dirty="0">
                <a:solidFill>
                  <a:srgbClr val="FFFFFF"/>
                </a:solidFill>
                <a:latin typeface="Calibri" pitchFamily="34" charset="0"/>
                <a:ea typeface="Calibri" pitchFamily="34" charset="-122"/>
                <a:cs typeface="Calibri" pitchFamily="34" charset="-120"/>
              </a:rPr>
              <a:t>retiring Distro puts every unit and every dollar in one ERP — explainable movement, explainable finances, a resilient team, and a client-ready foundation to scale and build AI on.</a:t>
            </a:r>
            <a:endParaRPr lang="en-US" sz="1050" dirty="0"/>
          </a:p>
        </p:txBody>
      </p:sp>
      <p:sp>
        <p:nvSpPr>
          <p:cNvPr id="41" name="Text 39"/>
          <p:cNvSpPr/>
          <p:nvPr/>
        </p:nvSpPr>
        <p:spPr>
          <a:xfrm>
            <a:off x="365760" y="6291072"/>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Distro review: no single technical blocker — Distro's tech stack is stable and could run on Asurion infrastructure. The 2027 migration case is structural, not a stability fire drill.</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Drivers surfaced in review: intercompany financial reconciliation, inter-system inventory loss, key-person operational risk, and vendor (UPS) request for a common platform.</a:t>
            </a:r>
            <a:endParaRPr lang="en-US" sz="650" dirty="0"/>
          </a:p>
        </p:txBody>
      </p:sp>
      <p:sp>
        <p:nvSpPr>
          <p:cNvPr id="42" name="Shape 40"/>
          <p:cNvSpPr/>
          <p:nvPr/>
        </p:nvSpPr>
        <p:spPr>
          <a:xfrm>
            <a:off x="0" y="6473952"/>
            <a:ext cx="12188952" cy="0"/>
          </a:xfrm>
          <a:prstGeom prst="line">
            <a:avLst/>
          </a:prstGeom>
          <a:noFill/>
          <a:ln w="6350">
            <a:solidFill>
              <a:srgbClr val="DDDDDD"/>
            </a:solidFill>
            <a:prstDash val="solid"/>
          </a:ln>
        </p:spPr>
      </p:sp>
      <p:sp>
        <p:nvSpPr>
          <p:cNvPr id="43" name="Text 4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4" name="Text 4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WHY DISTRO MATTERS</a:t>
            </a:r>
            <a:endParaRPr lang="en-US" sz="800" dirty="0"/>
          </a:p>
        </p:txBody>
      </p:sp>
      <p:sp>
        <p:nvSpPr>
          <p:cNvPr id="45" name="Text 4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2026-06-09T19:02:41Z</dcterms:created>
  <dcterms:modified xsi:type="dcterms:W3CDTF">2026-06-09T19:02:41Z</dcterms:modified>
</cp:coreProperties>
</file>