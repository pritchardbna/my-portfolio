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1188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38221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0" y="361188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657600" y="38221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411480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35508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Inventory at Asurion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Agenda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29184" cy="32918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09928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70992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Supports Every Fulfillment Motion Across Asurion's Service Network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96312"/>
            <a:ext cx="329184" cy="32918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14600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Split Across Multiple Systems of Record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300984"/>
            <a:ext cx="329184" cy="32918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19272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319272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 Systems Connect Inventory Movement to Financial Accountability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105656"/>
            <a:ext cx="329184" cy="32918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123944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123944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Operating Model Improves Visibility, Control, and Scale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910328"/>
            <a:ext cx="329184" cy="329184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928616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492861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Proven Inventory Model Across Every Program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Agenda — Today's Discussion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SCALE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719072"/>
            <a:ext cx="3291840" cy="1234440"/>
          </a:xfrm>
          <a:prstGeom prst="roundRect">
            <a:avLst>
              <a:gd name="adj" fmla="val 4444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79222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48640" y="19933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023360" y="1719072"/>
            <a:ext cx="2926080" cy="1234440"/>
          </a:xfrm>
          <a:prstGeom prst="roundRect">
            <a:avLst>
              <a:gd name="adj" fmla="val 4444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0520" y="1792224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114800" y="1975104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114800" y="26517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697224" cy="2331720"/>
          </a:xfrm>
          <a:prstGeom prst="roundRect">
            <a:avLst>
              <a:gd name="adj" fmla="val 2353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00400"/>
            <a:ext cx="3422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Fulfillment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20440"/>
            <a:ext cx="342290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611880"/>
            <a:ext cx="342290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Advance Exchange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Corporate Stores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Franchise Partners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Recovery &amp; Disposition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45864" y="3108960"/>
            <a:ext cx="3697224" cy="2331720"/>
          </a:xfrm>
          <a:prstGeom prst="roundRect">
            <a:avLst>
              <a:gd name="adj" fmla="val 2353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3024" y="3200400"/>
            <a:ext cx="3422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83024" y="3520440"/>
            <a:ext cx="342290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3024" y="3611880"/>
            <a:ext cx="342290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Corporate Stores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uBreakiFix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Mail-In Repair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Third-Party Repair Providers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034528" y="3108960"/>
            <a:ext cx="3697224" cy="2331720"/>
          </a:xfrm>
          <a:prstGeom prst="roundRect">
            <a:avLst>
              <a:gd name="adj" fmla="val 2353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1688" y="3200400"/>
            <a:ext cx="3422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Logistics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71688" y="3520440"/>
            <a:ext cx="342290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71688" y="3611880"/>
            <a:ext cx="342290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Insurance Devices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Return Parts</a:t>
            </a:r>
            <a:endParaRPr lang="en-US" sz="95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Recovery &amp; Disposition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5577840"/>
            <a:ext cx="11274552" cy="566928"/>
          </a:xfrm>
          <a:prstGeom prst="roundRect">
            <a:avLst>
              <a:gd name="adj" fmla="val 8065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623560"/>
            <a:ext cx="10908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 — constantly moving across warehouses, field locations, stores, partners, and customer channels. Every movement requires visibility and accountability.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Inventory supports every fulfillment motion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HIDE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finances live in one system, every unit and dollar is traceable — $366M is already reconciled. $346 F&amp;O is remaining in Distro; $13.9M sits on legacy systems.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74552" cy="274320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20240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0" y="19202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Value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0" y="19202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24160" y="192024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218541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280720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59736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49631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$206.6M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249631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424160" y="2505456"/>
            <a:ext cx="114300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2505456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843784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N&amp;S3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3072384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Day payment delivery w/ Setup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486400" y="28803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$153M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0" y="28803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424160" y="2889504"/>
            <a:ext cx="114300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24160" y="2889504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337560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5661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Export Setup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486400" y="337413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0" y="337413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424160" y="3383280"/>
            <a:ext cx="114300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0" y="338328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48640" y="381304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REFURB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08736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0" y="412394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0" y="412394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424160" y="4133088"/>
            <a:ext cx="1143000" cy="237744"/>
          </a:xfrm>
          <a:prstGeom prst="roundRect">
            <a:avLst>
              <a:gd name="adj" fmla="val 15385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0" y="4133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818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471416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0" y="450799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0" y="450799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424160" y="4517136"/>
            <a:ext cx="1143000" cy="237744"/>
          </a:xfrm>
          <a:prstGeom prst="roundRect">
            <a:avLst>
              <a:gd name="adj" fmla="val 15385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424160" y="4517136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138928"/>
            <a:ext cx="5394960" cy="877824"/>
          </a:xfrm>
          <a:prstGeom prst="roundRect">
            <a:avLst>
              <a:gd name="adj" fmla="val 6250"/>
            </a:avLst>
          </a:prstGeom>
          <a:solidFill>
            <a:srgbClr val="FDECEA"/>
          </a:solidFill>
          <a:ln w="9525">
            <a:solidFill>
              <a:srgbClr val="FFCDD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" y="521208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/ Unreconciled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66928" y="5413248"/>
            <a:ext cx="5029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1C1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~$390.8M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6035040" y="5138928"/>
            <a:ext cx="5669280" cy="877824"/>
          </a:xfrm>
          <a:prstGeom prst="roundRect">
            <a:avLst>
              <a:gd name="adj" fmla="val 6250"/>
            </a:avLst>
          </a:prstGeom>
          <a:solidFill>
            <a:srgbClr val="E6F4EA"/>
          </a:solidFill>
          <a:ln w="9525">
            <a:solidFill>
              <a:srgbClr val="C8E6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99632" y="5212080"/>
            <a:ext cx="5303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144768" y="5413248"/>
            <a:ext cx="5303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8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Limited traceability creates financial risk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MECHANISM · CENTERPIECE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inventory movement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financial accountability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72768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unit travels a single chain — from a physical movement to a financial record. The goal isn't inventory in one place; it's keeping that chain unbroken across every system it touches.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0" y="2148840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901952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98548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98548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3300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9896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39896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84648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381244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81244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25996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22592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22592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67344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63940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63940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08692" y="2834640"/>
            <a:ext cx="214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305288" y="2487168"/>
            <a:ext cx="1426464" cy="1005840"/>
          </a:xfrm>
          <a:prstGeom prst="roundRect">
            <a:avLst>
              <a:gd name="adj" fmla="val 5455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05288" y="2578608"/>
            <a:ext cx="1426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730752"/>
            <a:ext cx="11274552" cy="658368"/>
          </a:xfrm>
          <a:prstGeom prst="roundRect">
            <a:avLst>
              <a:gd name="adj" fmla="val 6944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76472"/>
            <a:ext cx="109087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inventory in one system — it is maintaining accountability from procurement through financial close. Every inventory movement eventually becomes a financial event.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Fulfillment systems connect movement to accountability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FUTURE STATE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operating model improves visibility, control, and 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536192"/>
            <a:ext cx="5500116" cy="4315968"/>
          </a:xfrm>
          <a:prstGeom prst="roundRect">
            <a:avLst>
              <a:gd name="adj" fmla="val 1271"/>
            </a:avLst>
          </a:prstGeom>
          <a:solidFill>
            <a:srgbClr val="F5F4F8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651760" y="1645920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66420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systems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211226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122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151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05840" y="260604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11810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181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05840" y="310896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62102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2102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61188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visibility gaps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239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2394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05840" y="411480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traceability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62686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268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5840" y="461772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31636" y="1536192"/>
            <a:ext cx="5500116" cy="4315968"/>
          </a:xfrm>
          <a:prstGeom prst="roundRect">
            <a:avLst>
              <a:gd name="adj" fmla="val 1271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14516" y="1645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426196" y="1645920"/>
            <a:ext cx="2468880" cy="237744"/>
          </a:xfrm>
          <a:prstGeom prst="roundRect">
            <a:avLst>
              <a:gd name="adj" fmla="val 19231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17636" y="166420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14516" y="210312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4516" y="210312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80276" y="2093976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14516" y="254203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4516" y="254203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80276" y="2532888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 visibility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14516" y="29809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14516" y="298094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80276" y="2971800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inventory movement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14516" y="341985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4516" y="34198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780276" y="3410712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actions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14516" y="385876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14516" y="38587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780276" y="3849624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14516" y="429768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14516" y="429768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780276" y="4288536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product bundles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14516" y="473659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14516" y="473659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780276" y="4727448"/>
            <a:ext cx="48143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961888"/>
            <a:ext cx="11274552" cy="530352"/>
          </a:xfrm>
          <a:prstGeom prst="roundRect">
            <a:avLst>
              <a:gd name="adj" fmla="val 8621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" y="6007608"/>
            <a:ext cx="109087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connected throughout the fulfillment lifecycle — reconciliation becomes a natural outcome, not a separate activity.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One operating model improves visibility &amp; scale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 program onto a single ERP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inventory and finances across separate systems creates reconciliation gaps where loss accumulates. Each phase consolidates one fragmented system into D365 F&amp;O, establishing a single source of truth that exposes financial controls and visibility across every program.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377440" y="1993392"/>
            <a:ext cx="229285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377440" y="2176272"/>
            <a:ext cx="22928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43450" y="1993392"/>
            <a:ext cx="229285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43450" y="2176272"/>
            <a:ext cx="22928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09460" y="1993392"/>
            <a:ext cx="229285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109460" y="2176272"/>
            <a:ext cx="22928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475470" y="1993392"/>
            <a:ext cx="229285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475470" y="2176272"/>
            <a:ext cx="22928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578608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578608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2578608"/>
            <a:ext cx="2292858" cy="685800"/>
          </a:xfrm>
          <a:prstGeom prst="roundRect">
            <a:avLst>
              <a:gd name="adj" fmla="val 666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633472"/>
            <a:ext cx="229285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/ N&amp;S3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43450" y="2578608"/>
            <a:ext cx="2292858" cy="685800"/>
          </a:xfrm>
          <a:prstGeom prst="roundRect">
            <a:avLst>
              <a:gd name="adj" fmla="val 666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43450" y="2633472"/>
            <a:ext cx="229285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Non-Portal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09460" y="2578608"/>
            <a:ext cx="2292858" cy="685800"/>
          </a:xfrm>
          <a:prstGeom prst="roundRect">
            <a:avLst>
              <a:gd name="adj" fmla="val 666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09460" y="2633472"/>
            <a:ext cx="229285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SLIR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475470" y="2578608"/>
            <a:ext cx="2292858" cy="685800"/>
          </a:xfrm>
          <a:prstGeom prst="roundRect">
            <a:avLst>
              <a:gd name="adj" fmla="val 666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75470" y="2633472"/>
            <a:ext cx="229285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1828800" cy="2286000"/>
          </a:xfrm>
          <a:prstGeom prst="roundRect">
            <a:avLst>
              <a:gd name="adj" fmla="val 2500"/>
            </a:avLst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346704"/>
            <a:ext cx="1828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3346704"/>
            <a:ext cx="2292858" cy="2286000"/>
          </a:xfrm>
          <a:prstGeom prst="roundRect">
            <a:avLst>
              <a:gd name="adj" fmla="val 2000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3438144"/>
            <a:ext cx="210997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$2.1M billing gap gains</a:t>
            </a:r>
            <a:endParaRPr lang="en-US" sz="9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$4.8M+ trailing gains</a:t>
            </a:r>
            <a:endParaRPr lang="en-US" sz="9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SUR repair ERP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43450" y="3346704"/>
            <a:ext cx="2292858" cy="2286000"/>
          </a:xfrm>
          <a:prstGeom prst="roundRect">
            <a:avLst>
              <a:gd name="adj" fmla="val 2000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4890" y="3438144"/>
            <a:ext cx="210997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inventory moves to D365 F&amp;O</a:t>
            </a:r>
            <a:endParaRPr lang="en-US" sz="9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Coord recovered by D&amp;S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09460" y="3346704"/>
            <a:ext cx="2292858" cy="2286000"/>
          </a:xfrm>
          <a:prstGeom prst="roundRect">
            <a:avLst>
              <a:gd name="adj" fmla="val 2000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00900" y="3438144"/>
            <a:ext cx="210997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inventory in D365 F&amp;O</a:t>
            </a:r>
            <a:endParaRPr lang="en-US" sz="9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inventory in one ERP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475470" y="3346704"/>
            <a:ext cx="2292858" cy="2286000"/>
          </a:xfrm>
          <a:prstGeom prst="roundRect">
            <a:avLst>
              <a:gd name="adj" fmla="val 2000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66910" y="3438144"/>
            <a:ext cx="210997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one ERP</a:t>
            </a:r>
            <a:endParaRPr lang="en-US" sz="9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operating model, accountable in one ledger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5907024"/>
            <a:ext cx="182880" cy="182880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5907024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68880" y="5907024"/>
            <a:ext cx="182880" cy="182880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24912" y="5907024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480560" y="5907024"/>
            <a:ext cx="182880" cy="182880"/>
          </a:xfrm>
          <a:prstGeom prst="ellipse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36592" y="5907024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Scaling the proven inventory model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WHY DISTRO MATTERS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UBIF DISTRO MIGRATION: SLOTTED FOR 2027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 strategic to retire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technical blocker — Distro is stable and could run on our stack indefinitely. The case for moving in 2027 is structural: keeping the in-house warehouse platform separate cannibalizes financial, operational, and commercial risk as we scale.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2750058" cy="3200400"/>
          </a:xfrm>
          <a:prstGeom prst="roundRect">
            <a:avLst>
              <a:gd name="adj" fmla="val 19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31061" y="2240280"/>
            <a:ext cx="402336" cy="40233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743200"/>
            <a:ext cx="25671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256717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becomes fully accessible across Portal + integrations between Portal and Distro. Inventory in Distro activates the activity that flows outside the ERP.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2567178" cy="0"/>
          </a:xfrm>
          <a:prstGeom prst="line">
            <a:avLst/>
          </a:prstGeom>
          <a:noFill/>
          <a:ln w="6350">
            <a:solidFill>
              <a:srgbClr val="C4AE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370832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Transactions and financials update automatically in one ledger — every dollar reconciled.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8698" y="2148840"/>
            <a:ext cx="2750058" cy="3200400"/>
          </a:xfrm>
          <a:prstGeom prst="roundRect">
            <a:avLst>
              <a:gd name="adj" fmla="val 19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2559" y="2240280"/>
            <a:ext cx="402336" cy="40233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90138" y="2743200"/>
            <a:ext cx="25671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exposure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90138" y="3337560"/>
            <a:ext cx="256717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systems and handoffs remain integrated where inventory is handled so that flows across the business are protected and traceable.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390138" y="4315968"/>
            <a:ext cx="2567178" cy="0"/>
          </a:xfrm>
          <a:prstGeom prst="line">
            <a:avLst/>
          </a:prstGeom>
          <a:noFill/>
          <a:ln w="6350">
            <a:solidFill>
              <a:srgbClr val="C4AE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90138" y="4370832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One platform and one ERP — a clean slate that flows across the business.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40196" y="2148840"/>
            <a:ext cx="2750058" cy="3200400"/>
          </a:xfrm>
          <a:prstGeom prst="roundRect">
            <a:avLst>
              <a:gd name="adj" fmla="val 19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4057" y="2240280"/>
            <a:ext cx="402336" cy="40233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1636" y="2743200"/>
            <a:ext cx="25671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31636" y="3337560"/>
            <a:ext cx="256717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optimized for a couple of operations. The D&amp;S toolkit for logistics already runs on D365.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31636" y="4315968"/>
            <a:ext cx="2567178" cy="0"/>
          </a:xfrm>
          <a:prstGeom prst="line">
            <a:avLst/>
          </a:prstGeom>
          <a:noFill/>
          <a:ln w="6350">
            <a:solidFill>
              <a:srgbClr val="C4AE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1636" y="4370832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2 partners (D365) whose platform our processes are standardizing on.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981694" y="2148840"/>
            <a:ext cx="2750058" cy="3200400"/>
          </a:xfrm>
          <a:prstGeom prst="roundRect">
            <a:avLst>
              <a:gd name="adj" fmla="val 19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55555" y="2240280"/>
            <a:ext cx="402336" cy="40233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73134" y="2743200"/>
            <a:ext cx="25671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073134" y="3337560"/>
            <a:ext cx="256717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as a carrier vendor is retiring all mapping on Distro. The D&amp;S tool is integrated with it — it's already the SDK for mobile units.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73134" y="4315968"/>
            <a:ext cx="2567178" cy="0"/>
          </a:xfrm>
          <a:prstGeom prst="line">
            <a:avLst/>
          </a:prstGeom>
          <a:noFill/>
          <a:ln w="6350">
            <a:solidFill>
              <a:srgbClr val="C4AE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3134" y="4370832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2 partners (D365) whose platform our processes are standardizing on.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6944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568696"/>
            <a:ext cx="109087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 retiring Distro puts every unit and every dollar in one ERP — explainable movement, explainable finances, a resilient team, and a client-ready foundation to scale and build AI on.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6601968"/>
            <a:ext cx="11457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 Why simplifying systems matters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2026-06-09T01:46:58Z</dcterms:created>
  <dcterms:modified xsi:type="dcterms:W3CDTF">2026-06-09T01:46:58Z</dcterms:modified>
</cp:coreProperties>
</file>