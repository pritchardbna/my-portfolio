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notesMasterIdLst>
    <p:notesMasterId r:id="rId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notesMaster" Target="notesMasters/notes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256032"/>
            <a:ext cx="2286000" cy="34747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5B2C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asurion</a:t>
            </a:r>
            <a:endParaRPr lang="en-US" sz="2200" dirty="0"/>
          </a:p>
        </p:txBody>
      </p:sp>
      <p:sp>
        <p:nvSpPr>
          <p:cNvPr id="3" name="Text 1"/>
          <p:cNvSpPr/>
          <p:nvPr/>
        </p:nvSpPr>
        <p:spPr>
          <a:xfrm>
            <a:off x="8714232" y="292608"/>
            <a:ext cx="3200400" cy="21945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r" indent="0" marL="0">
              <a:buNone/>
            </a:pPr>
            <a:r>
              <a:rPr lang="en-US" sz="750" b="1" spc="150" kern="0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MONTHLY PRODUCT REVIEW</a:t>
            </a:r>
            <a:endParaRPr lang="en-US" sz="750" dirty="0"/>
          </a:p>
        </p:txBody>
      </p:sp>
      <p:sp>
        <p:nvSpPr>
          <p:cNvPr id="4" name="Shape 2"/>
          <p:cNvSpPr/>
          <p:nvPr/>
        </p:nvSpPr>
        <p:spPr>
          <a:xfrm>
            <a:off x="365760" y="694944"/>
            <a:ext cx="11457432" cy="0"/>
          </a:xfrm>
          <a:prstGeom prst="line">
            <a:avLst/>
          </a:prstGeom>
          <a:noFill/>
          <a:ln w="9525">
            <a:solidFill>
              <a:srgbClr val="DDDDDD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365760" y="960120"/>
            <a:ext cx="2926080" cy="237744"/>
          </a:xfrm>
          <a:prstGeom prst="roundRect">
            <a:avLst>
              <a:gd name="adj" fmla="val 15385"/>
            </a:avLst>
          </a:prstGeom>
          <a:solidFill>
            <a:srgbClr val="EDE8F5"/>
          </a:solidFill>
          <a:ln w="12700">
            <a:solidFill>
              <a:srgbClr val="EDE8F5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75488" y="978408"/>
            <a:ext cx="27432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spc="100" kern="0" dirty="0">
                <a:solidFill>
                  <a:srgbClr val="5B2C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MONTHLY PRODUCT REVIEW DEEP DIVE</a:t>
            </a:r>
            <a:endParaRPr lang="en-US" sz="750" dirty="0"/>
          </a:p>
        </p:txBody>
      </p:sp>
      <p:sp>
        <p:nvSpPr>
          <p:cNvPr id="7" name="Text 5"/>
          <p:cNvSpPr/>
          <p:nvPr/>
        </p:nvSpPr>
        <p:spPr>
          <a:xfrm>
            <a:off x="365760" y="1353312"/>
            <a:ext cx="9144000" cy="1417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4800" b="1" dirty="0">
                <a:solidFill>
                  <a:srgbClr val="111111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Inventory at Asurion</a:t>
            </a:r>
            <a:endParaRPr lang="en-US" sz="4800" dirty="0"/>
          </a:p>
        </p:txBody>
      </p:sp>
      <p:sp>
        <p:nvSpPr>
          <p:cNvPr id="8" name="Text 6"/>
          <p:cNvSpPr/>
          <p:nvPr/>
        </p:nvSpPr>
        <p:spPr>
          <a:xfrm>
            <a:off x="365760" y="2834640"/>
            <a:ext cx="8229600" cy="34747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55555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How fulfillment systems enable visibility, accountability, and scale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365760" y="3337560"/>
            <a:ext cx="5029200" cy="0"/>
          </a:xfrm>
          <a:prstGeom prst="line">
            <a:avLst/>
          </a:prstGeom>
          <a:noFill/>
          <a:ln w="9525">
            <a:solidFill>
              <a:srgbClr val="DDDDDD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65760" y="3493008"/>
            <a:ext cx="3200400" cy="182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700" b="1" spc="200" kern="0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PRESENTED BY</a:t>
            </a:r>
            <a:endParaRPr lang="en-US" sz="700" dirty="0"/>
          </a:p>
        </p:txBody>
      </p:sp>
      <p:sp>
        <p:nvSpPr>
          <p:cNvPr id="11" name="Text 9"/>
          <p:cNvSpPr/>
          <p:nvPr/>
        </p:nvSpPr>
        <p:spPr>
          <a:xfrm>
            <a:off x="365760" y="3712464"/>
            <a:ext cx="3200400" cy="2560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Bryant Mayne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365760" y="3986784"/>
            <a:ext cx="3200400" cy="21945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Director, D2M Fulfillment &amp; Finance</a:t>
            </a:r>
            <a:endParaRPr lang="en-US" sz="950" dirty="0"/>
          </a:p>
        </p:txBody>
      </p:sp>
      <p:sp>
        <p:nvSpPr>
          <p:cNvPr id="13" name="Text 11"/>
          <p:cNvSpPr/>
          <p:nvPr/>
        </p:nvSpPr>
        <p:spPr>
          <a:xfrm>
            <a:off x="3840480" y="3493008"/>
            <a:ext cx="3200400" cy="182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700" b="1" spc="200" kern="0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PRESENTED BY</a:t>
            </a:r>
            <a:endParaRPr lang="en-US" sz="700" dirty="0"/>
          </a:p>
        </p:txBody>
      </p:sp>
      <p:sp>
        <p:nvSpPr>
          <p:cNvPr id="14" name="Text 12"/>
          <p:cNvSpPr/>
          <p:nvPr/>
        </p:nvSpPr>
        <p:spPr>
          <a:xfrm>
            <a:off x="3840480" y="3712464"/>
            <a:ext cx="3200400" cy="2560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Thays Pritchard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3840480" y="3986784"/>
            <a:ext cx="3200400" cy="21945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 Management</a:t>
            </a:r>
            <a:endParaRPr lang="en-US" sz="950" dirty="0"/>
          </a:p>
        </p:txBody>
      </p:sp>
      <p:sp>
        <p:nvSpPr>
          <p:cNvPr id="16" name="Text 14"/>
          <p:cNvSpPr/>
          <p:nvPr/>
        </p:nvSpPr>
        <p:spPr>
          <a:xfrm>
            <a:off x="10360152" y="6291072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r" indent="0" marL="0">
              <a:buNone/>
            </a:pPr>
            <a:r>
              <a:rPr lang="en-US" sz="700" b="1" spc="200" kern="0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CONFIDENTIAL</a:t>
            </a:r>
            <a:endParaRPr lang="en-US" sz="700" dirty="0"/>
          </a:p>
        </p:txBody>
      </p:sp>
      <p:sp>
        <p:nvSpPr>
          <p:cNvPr id="17" name="Shape 15"/>
          <p:cNvSpPr/>
          <p:nvPr/>
        </p:nvSpPr>
        <p:spPr>
          <a:xfrm>
            <a:off x="0" y="6473952"/>
            <a:ext cx="12188952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6510528"/>
            <a:ext cx="13716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5B2C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asurion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0" y="6510528"/>
            <a:ext cx="12188952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endParaRPr lang="en-US" sz="800" dirty="0"/>
          </a:p>
        </p:txBody>
      </p:sp>
      <p:sp>
        <p:nvSpPr>
          <p:cNvPr id="20" name="Text 18"/>
          <p:cNvSpPr/>
          <p:nvPr/>
        </p:nvSpPr>
        <p:spPr>
          <a:xfrm>
            <a:off x="11548872" y="6510528"/>
            <a:ext cx="4572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292608"/>
            <a:ext cx="73152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5B2C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TODAY'S DISCUSSION</a:t>
            </a:r>
            <a:endParaRPr lang="en-US" sz="800" dirty="0"/>
          </a:p>
        </p:txBody>
      </p:sp>
      <p:sp>
        <p:nvSpPr>
          <p:cNvPr id="3" name="Text 1"/>
          <p:cNvSpPr/>
          <p:nvPr/>
        </p:nvSpPr>
        <p:spPr>
          <a:xfrm>
            <a:off x="365760" y="502920"/>
            <a:ext cx="11457432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3000" dirty="0">
                <a:solidFill>
                  <a:srgbClr val="111111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What we're covering — and why it matters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365760" y="1261872"/>
            <a:ext cx="11457432" cy="658368"/>
          </a:xfrm>
          <a:prstGeom prst="roundRect">
            <a:avLst>
              <a:gd name="adj" fmla="val 8333"/>
            </a:avLst>
          </a:prstGeom>
          <a:solidFill>
            <a:srgbClr val="EDE8F5"/>
          </a:solidFill>
          <a:ln w="9525">
            <a:solidFill>
              <a:srgbClr val="C4AEED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40080" y="1316736"/>
            <a:ext cx="10908792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Inventory is a </a:t>
            </a:r>
            <a:pPr indent="0" marL="0">
              <a:buNone/>
            </a:pPr>
            <a:r>
              <a:rPr lang="en-US" sz="1100" b="1" dirty="0">
                <a:solidFill>
                  <a:srgbClr val="5B2C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~$609M asset</a:t>
            </a:r>
            <a:pPr indent="0" marL="0">
              <a:buNone/>
            </a:pPr>
            <a:r>
              <a:rPr lang="en-US" sz="11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moving across </a:t>
            </a:r>
            <a:pPr indent="0" marL="0">
              <a:buNone/>
            </a:pPr>
            <a:r>
              <a:rPr lang="en-US" sz="1100" b="1" dirty="0">
                <a:solidFill>
                  <a:srgbClr val="5B2C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~890 locations</a:t>
            </a:r>
            <a:pPr indent="0" marL="0">
              <a:buNone/>
            </a:pPr>
            <a:r>
              <a:rPr lang="en-US" sz="11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every day. Today, </a:t>
            </a:r>
            <a:pPr indent="0" marL="0">
              <a:buNone/>
            </a:pPr>
            <a:r>
              <a:rPr lang="en-US" sz="1100" b="1" dirty="0">
                <a:solidFill>
                  <a:srgbClr val="5B2C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$207M of it lives outside our ERP</a:t>
            </a:r>
            <a:pPr indent="0" marL="0">
              <a:buNone/>
            </a:pPr>
            <a:r>
              <a:rPr lang="en-US" sz="11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creating financial blind spots, reconciliation gaps, and operational risk. This session explains what we have, what's broken, and the plan to fix it.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365760" y="2103120"/>
            <a:ext cx="3697224" cy="4041648"/>
          </a:xfrm>
          <a:prstGeom prst="roundRect">
            <a:avLst>
              <a:gd name="adj" fmla="val 1731"/>
            </a:avLst>
          </a:prstGeom>
          <a:solidFill>
            <a:srgbClr val="FFFFFF"/>
          </a:solidFill>
          <a:ln w="9525">
            <a:solidFill>
              <a:srgbClr val="DDDDDD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365760" y="2103120"/>
            <a:ext cx="3697224" cy="658368"/>
          </a:xfrm>
          <a:prstGeom prst="roundRect">
            <a:avLst>
              <a:gd name="adj" fmla="val 9722"/>
            </a:avLst>
          </a:prstGeom>
          <a:solidFill>
            <a:srgbClr val="F5F4F8"/>
          </a:solidFill>
          <a:ln w="12700">
            <a:solidFill>
              <a:srgbClr val="F5F4F8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65760" y="2578608"/>
            <a:ext cx="3697224" cy="182880"/>
          </a:xfrm>
          <a:prstGeom prst="rect">
            <a:avLst/>
          </a:prstGeom>
          <a:solidFill>
            <a:srgbClr val="F5F4F8"/>
          </a:solidFill>
          <a:ln w="12700">
            <a:solidFill>
              <a:srgbClr val="F5F4F8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548640" y="2194560"/>
            <a:ext cx="384048" cy="384048"/>
          </a:xfrm>
          <a:prstGeom prst="ellipse">
            <a:avLst/>
          </a:prstGeom>
          <a:solidFill>
            <a:srgbClr val="5B2C8D"/>
          </a:solidFill>
          <a:ln w="12700">
            <a:solidFill>
              <a:srgbClr val="5B2C8D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48640" y="2194560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1060704" y="2267712"/>
            <a:ext cx="2874264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150" kern="0" dirty="0">
                <a:solidFill>
                  <a:srgbClr val="5B2C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ASSET</a:t>
            </a:r>
            <a:endParaRPr lang="en-US" sz="800" dirty="0"/>
          </a:p>
        </p:txBody>
      </p:sp>
      <p:sp>
        <p:nvSpPr>
          <p:cNvPr id="12" name="Shape 10"/>
          <p:cNvSpPr/>
          <p:nvPr/>
        </p:nvSpPr>
        <p:spPr>
          <a:xfrm>
            <a:off x="548640" y="2761488"/>
            <a:ext cx="3331464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48640" y="2834640"/>
            <a:ext cx="3331464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5B2C8D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~$609M</a:t>
            </a:r>
            <a:endParaRPr lang="en-US" sz="2600" dirty="0"/>
          </a:p>
        </p:txBody>
      </p:sp>
      <p:sp>
        <p:nvSpPr>
          <p:cNvPr id="14" name="Text 12"/>
          <p:cNvSpPr/>
          <p:nvPr/>
        </p:nvSpPr>
        <p:spPr>
          <a:xfrm>
            <a:off x="548640" y="3291840"/>
            <a:ext cx="3331464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inventory value</a:t>
            </a:r>
            <a:endParaRPr lang="en-US" sz="800" dirty="0"/>
          </a:p>
        </p:txBody>
      </p:sp>
      <p:sp>
        <p:nvSpPr>
          <p:cNvPr id="15" name="Shape 13"/>
          <p:cNvSpPr/>
          <p:nvPr/>
        </p:nvSpPr>
        <p:spPr>
          <a:xfrm>
            <a:off x="548640" y="3547872"/>
            <a:ext cx="3331464" cy="0"/>
          </a:xfrm>
          <a:prstGeom prst="line">
            <a:avLst/>
          </a:prstGeom>
          <a:noFill/>
          <a:ln w="5080">
            <a:solidFill>
              <a:srgbClr val="DDDDDD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48640" y="3621024"/>
            <a:ext cx="3331464" cy="594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inventory is</a:t>
            </a:r>
            <a:endParaRPr lang="en-US" sz="1200" dirty="0"/>
          </a:p>
          <a:p>
            <a:pPr indent="0" marL="0">
              <a:buNone/>
            </a:pPr>
            <a:r>
              <a:rPr lang="en-US" sz="1200" b="1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and where it lives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548640" y="4261104"/>
            <a:ext cx="3331464" cy="56692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Inventory is Asurion's operational backbone — every service motion depends on it being in the right place at the right time.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548640" y="4983480"/>
            <a:ext cx="73152" cy="73152"/>
          </a:xfrm>
          <a:prstGeom prst="ellipse">
            <a:avLst/>
          </a:prstGeom>
          <a:solidFill>
            <a:srgbClr val="5B2C8D"/>
          </a:solidFill>
          <a:ln w="12700">
            <a:solidFill>
              <a:srgbClr val="5B2C8D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94944" y="4901184"/>
            <a:ext cx="31851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$401.8M in Replacement (AE, DES, NDES, ISP)</a:t>
            </a:r>
            <a:endParaRPr lang="en-US" sz="900" dirty="0"/>
          </a:p>
        </p:txBody>
      </p:sp>
      <p:sp>
        <p:nvSpPr>
          <p:cNvPr id="20" name="Shape 18"/>
          <p:cNvSpPr/>
          <p:nvPr/>
        </p:nvSpPr>
        <p:spPr>
          <a:xfrm>
            <a:off x="548640" y="5349240"/>
            <a:ext cx="73152" cy="73152"/>
          </a:xfrm>
          <a:prstGeom prst="ellipse">
            <a:avLst/>
          </a:prstGeom>
          <a:solidFill>
            <a:srgbClr val="5B2C8D"/>
          </a:solidFill>
          <a:ln w="12700">
            <a:solidFill>
              <a:srgbClr val="5B2C8D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94944" y="5266944"/>
            <a:ext cx="31851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$207M in Repair (uBreakiFix, SUR, UROC)</a:t>
            </a:r>
            <a:endParaRPr lang="en-US" sz="900" dirty="0"/>
          </a:p>
        </p:txBody>
      </p:sp>
      <p:sp>
        <p:nvSpPr>
          <p:cNvPr id="22" name="Shape 20"/>
          <p:cNvSpPr/>
          <p:nvPr/>
        </p:nvSpPr>
        <p:spPr>
          <a:xfrm>
            <a:off x="548640" y="5715000"/>
            <a:ext cx="73152" cy="73152"/>
          </a:xfrm>
          <a:prstGeom prst="ellipse">
            <a:avLst/>
          </a:prstGeom>
          <a:solidFill>
            <a:srgbClr val="5B2C8D"/>
          </a:solidFill>
          <a:ln w="12700">
            <a:solidFill>
              <a:srgbClr val="5B2C8D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94944" y="5632704"/>
            <a:ext cx="31851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~890 locations: warehouses, FSLs, stores &amp; vendors</a:t>
            </a:r>
            <a:endParaRPr lang="en-US" sz="900" dirty="0"/>
          </a:p>
        </p:txBody>
      </p:sp>
      <p:sp>
        <p:nvSpPr>
          <p:cNvPr id="24" name="Shape 22"/>
          <p:cNvSpPr/>
          <p:nvPr/>
        </p:nvSpPr>
        <p:spPr>
          <a:xfrm>
            <a:off x="548640" y="5797296"/>
            <a:ext cx="3331464" cy="237744"/>
          </a:xfrm>
          <a:prstGeom prst="roundRect">
            <a:avLst>
              <a:gd name="adj" fmla="val 15385"/>
            </a:avLst>
          </a:prstGeom>
          <a:solidFill>
            <a:srgbClr val="F5F4F8"/>
          </a:solidFill>
          <a:ln w="6350">
            <a:solidFill>
              <a:srgbClr val="DDDDDD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548640" y="5797296"/>
            <a:ext cx="3331464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Slides 03 – 04</a:t>
            </a:r>
            <a:endParaRPr lang="en-US" sz="800" dirty="0"/>
          </a:p>
        </p:txBody>
      </p:sp>
      <p:sp>
        <p:nvSpPr>
          <p:cNvPr id="26" name="Shape 24"/>
          <p:cNvSpPr/>
          <p:nvPr/>
        </p:nvSpPr>
        <p:spPr>
          <a:xfrm>
            <a:off x="4245864" y="2103120"/>
            <a:ext cx="3697224" cy="4041648"/>
          </a:xfrm>
          <a:prstGeom prst="roundRect">
            <a:avLst>
              <a:gd name="adj" fmla="val 1731"/>
            </a:avLst>
          </a:prstGeom>
          <a:solidFill>
            <a:srgbClr val="FFFFFF"/>
          </a:solidFill>
          <a:ln w="9525">
            <a:solidFill>
              <a:srgbClr val="DDDDDD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4245864" y="2103120"/>
            <a:ext cx="3697224" cy="658368"/>
          </a:xfrm>
          <a:prstGeom prst="roundRect">
            <a:avLst>
              <a:gd name="adj" fmla="val 9722"/>
            </a:avLst>
          </a:prstGeom>
          <a:solidFill>
            <a:srgbClr val="F5EEF8"/>
          </a:solidFill>
          <a:ln w="12700">
            <a:solidFill>
              <a:srgbClr val="F5EEF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4245864" y="2578608"/>
            <a:ext cx="3697224" cy="182880"/>
          </a:xfrm>
          <a:prstGeom prst="rect">
            <a:avLst/>
          </a:prstGeom>
          <a:solidFill>
            <a:srgbClr val="F5EEF8"/>
          </a:solidFill>
          <a:ln w="12700">
            <a:solidFill>
              <a:srgbClr val="F5EEF8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4428744" y="2194560"/>
            <a:ext cx="384048" cy="384048"/>
          </a:xfrm>
          <a:prstGeom prst="ellipse">
            <a:avLst/>
          </a:prstGeom>
          <a:solidFill>
            <a:srgbClr val="5B2C8D"/>
          </a:solidFill>
          <a:ln w="12700">
            <a:solidFill>
              <a:srgbClr val="5B2C8D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4428744" y="2194560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1100" dirty="0"/>
          </a:p>
        </p:txBody>
      </p:sp>
      <p:sp>
        <p:nvSpPr>
          <p:cNvPr id="31" name="Text 29"/>
          <p:cNvSpPr/>
          <p:nvPr/>
        </p:nvSpPr>
        <p:spPr>
          <a:xfrm>
            <a:off x="4940808" y="2267712"/>
            <a:ext cx="2874264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150" kern="0" dirty="0">
                <a:solidFill>
                  <a:srgbClr val="5B2C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PROBLEM</a:t>
            </a:r>
            <a:endParaRPr lang="en-US" sz="800" dirty="0"/>
          </a:p>
        </p:txBody>
      </p:sp>
      <p:sp>
        <p:nvSpPr>
          <p:cNvPr id="32" name="Shape 30"/>
          <p:cNvSpPr/>
          <p:nvPr/>
        </p:nvSpPr>
        <p:spPr>
          <a:xfrm>
            <a:off x="4428744" y="2761488"/>
            <a:ext cx="3331464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4428744" y="2834640"/>
            <a:ext cx="3331464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5B2C8D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$207M</a:t>
            </a:r>
            <a:endParaRPr lang="en-US" sz="2600" dirty="0"/>
          </a:p>
        </p:txBody>
      </p:sp>
      <p:sp>
        <p:nvSpPr>
          <p:cNvPr id="34" name="Text 32"/>
          <p:cNvSpPr/>
          <p:nvPr/>
        </p:nvSpPr>
        <p:spPr>
          <a:xfrm>
            <a:off x="4428744" y="3291840"/>
            <a:ext cx="3331464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outside D365 F&amp;O today</a:t>
            </a:r>
            <a:endParaRPr lang="en-US" sz="800" dirty="0"/>
          </a:p>
        </p:txBody>
      </p:sp>
      <p:sp>
        <p:nvSpPr>
          <p:cNvPr id="35" name="Shape 33"/>
          <p:cNvSpPr/>
          <p:nvPr/>
        </p:nvSpPr>
        <p:spPr>
          <a:xfrm>
            <a:off x="4428744" y="3547872"/>
            <a:ext cx="3331464" cy="0"/>
          </a:xfrm>
          <a:prstGeom prst="line">
            <a:avLst/>
          </a:prstGeom>
          <a:noFill/>
          <a:ln w="5080">
            <a:solidFill>
              <a:srgbClr val="DDDDDD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4428744" y="3621024"/>
            <a:ext cx="3331464" cy="594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fragmented systems</a:t>
            </a:r>
            <a:endParaRPr lang="en-US" sz="1200" dirty="0"/>
          </a:p>
          <a:p>
            <a:pPr indent="0" marL="0">
              <a:buNone/>
            </a:pPr>
            <a:r>
              <a:rPr lang="en-US" sz="1200" b="1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create financial risk</a:t>
            </a:r>
            <a:endParaRPr lang="en-US" sz="1200" dirty="0"/>
          </a:p>
        </p:txBody>
      </p:sp>
      <p:sp>
        <p:nvSpPr>
          <p:cNvPr id="37" name="Text 35"/>
          <p:cNvSpPr/>
          <p:nvPr/>
        </p:nvSpPr>
        <p:spPr>
          <a:xfrm>
            <a:off x="4428744" y="4261104"/>
            <a:ext cx="3331464" cy="56692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When inventory and financials live in separate systems, every unit and dollar becomes harder to trace — and risk grows with volume.</a:t>
            </a:r>
            <a:endParaRPr lang="en-US" sz="900" dirty="0"/>
          </a:p>
        </p:txBody>
      </p:sp>
      <p:sp>
        <p:nvSpPr>
          <p:cNvPr id="38" name="Shape 36"/>
          <p:cNvSpPr/>
          <p:nvPr/>
        </p:nvSpPr>
        <p:spPr>
          <a:xfrm>
            <a:off x="4428744" y="4983480"/>
            <a:ext cx="73152" cy="73152"/>
          </a:xfrm>
          <a:prstGeom prst="ellipse">
            <a:avLst/>
          </a:prstGeom>
          <a:solidFill>
            <a:srgbClr val="5B2C8D"/>
          </a:solidFill>
          <a:ln w="12700">
            <a:solidFill>
              <a:srgbClr val="5B2C8D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4575048" y="4901184"/>
            <a:ext cx="31851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legacy systems: PRISM, Distro, SBX Cycle Count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4428744" y="5349240"/>
            <a:ext cx="73152" cy="73152"/>
          </a:xfrm>
          <a:prstGeom prst="ellipse">
            <a:avLst/>
          </a:prstGeom>
          <a:solidFill>
            <a:srgbClr val="5B2C8D"/>
          </a:solidFill>
          <a:ln w="12700">
            <a:solidFill>
              <a:srgbClr val="5B2C8D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4575048" y="5266944"/>
            <a:ext cx="31851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Manual reconciliation, billing disputes, delayed visibility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4428744" y="5715000"/>
            <a:ext cx="73152" cy="73152"/>
          </a:xfrm>
          <a:prstGeom prst="ellipse">
            <a:avLst/>
          </a:prstGeom>
          <a:solidFill>
            <a:srgbClr val="5B2C8D"/>
          </a:solidFill>
          <a:ln w="12700">
            <a:solidFill>
              <a:srgbClr val="5B2C8D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4575048" y="5632704"/>
            <a:ext cx="31851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Financial exposure compounds as programs scale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4428744" y="5797296"/>
            <a:ext cx="3331464" cy="237744"/>
          </a:xfrm>
          <a:prstGeom prst="roundRect">
            <a:avLst>
              <a:gd name="adj" fmla="val 15385"/>
            </a:avLst>
          </a:prstGeom>
          <a:solidFill>
            <a:srgbClr val="F5F4F8"/>
          </a:solidFill>
          <a:ln w="6350">
            <a:solidFill>
              <a:srgbClr val="DDDDDD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4428744" y="5797296"/>
            <a:ext cx="3331464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Slide 05</a:t>
            </a:r>
            <a:endParaRPr lang="en-US" sz="800" dirty="0"/>
          </a:p>
        </p:txBody>
      </p:sp>
      <p:sp>
        <p:nvSpPr>
          <p:cNvPr id="46" name="Shape 44"/>
          <p:cNvSpPr/>
          <p:nvPr/>
        </p:nvSpPr>
        <p:spPr>
          <a:xfrm>
            <a:off x="8125968" y="2103120"/>
            <a:ext cx="3697224" cy="4041648"/>
          </a:xfrm>
          <a:prstGeom prst="roundRect">
            <a:avLst>
              <a:gd name="adj" fmla="val 1731"/>
            </a:avLst>
          </a:prstGeom>
          <a:solidFill>
            <a:srgbClr val="FFFFFF"/>
          </a:solidFill>
          <a:ln w="9525">
            <a:solidFill>
              <a:srgbClr val="DDDDDD"/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8125968" y="2103120"/>
            <a:ext cx="3697224" cy="658368"/>
          </a:xfrm>
          <a:prstGeom prst="roundRect">
            <a:avLst>
              <a:gd name="adj" fmla="val 9722"/>
            </a:avLst>
          </a:prstGeom>
          <a:solidFill>
            <a:srgbClr val="EDE8F5"/>
          </a:solidFill>
          <a:ln w="12700">
            <a:solidFill>
              <a:srgbClr val="EDE8F5"/>
            </a:solidFill>
            <a:prstDash val="solid"/>
          </a:ln>
        </p:spPr>
      </p:sp>
      <p:sp>
        <p:nvSpPr>
          <p:cNvPr id="48" name="Shape 46"/>
          <p:cNvSpPr/>
          <p:nvPr/>
        </p:nvSpPr>
        <p:spPr>
          <a:xfrm>
            <a:off x="8125968" y="2578608"/>
            <a:ext cx="3697224" cy="182880"/>
          </a:xfrm>
          <a:prstGeom prst="rect">
            <a:avLst/>
          </a:prstGeom>
          <a:solidFill>
            <a:srgbClr val="EDE8F5"/>
          </a:solidFill>
          <a:ln w="12700">
            <a:solidFill>
              <a:srgbClr val="EDE8F5"/>
            </a:solidFill>
            <a:prstDash val="solid"/>
          </a:ln>
        </p:spPr>
      </p:sp>
      <p:sp>
        <p:nvSpPr>
          <p:cNvPr id="49" name="Shape 47"/>
          <p:cNvSpPr/>
          <p:nvPr/>
        </p:nvSpPr>
        <p:spPr>
          <a:xfrm>
            <a:off x="8308848" y="2194560"/>
            <a:ext cx="384048" cy="384048"/>
          </a:xfrm>
          <a:prstGeom prst="ellipse">
            <a:avLst/>
          </a:prstGeom>
          <a:solidFill>
            <a:srgbClr val="5B2C8D"/>
          </a:solidFill>
          <a:ln w="12700">
            <a:solidFill>
              <a:srgbClr val="5B2C8D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8308848" y="2194560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1100" dirty="0"/>
          </a:p>
        </p:txBody>
      </p:sp>
      <p:sp>
        <p:nvSpPr>
          <p:cNvPr id="51" name="Text 49"/>
          <p:cNvSpPr/>
          <p:nvPr/>
        </p:nvSpPr>
        <p:spPr>
          <a:xfrm>
            <a:off x="8820912" y="2267712"/>
            <a:ext cx="2874264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150" kern="0" dirty="0">
                <a:solidFill>
                  <a:srgbClr val="5B2C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PLAN</a:t>
            </a:r>
            <a:endParaRPr lang="en-US" sz="800" dirty="0"/>
          </a:p>
        </p:txBody>
      </p:sp>
      <p:sp>
        <p:nvSpPr>
          <p:cNvPr id="52" name="Shape 50"/>
          <p:cNvSpPr/>
          <p:nvPr/>
        </p:nvSpPr>
        <p:spPr>
          <a:xfrm>
            <a:off x="8308848" y="2761488"/>
            <a:ext cx="3331464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8308848" y="2834640"/>
            <a:ext cx="3331464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5B2C8D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$5.7M</a:t>
            </a:r>
            <a:endParaRPr lang="en-US" sz="2600" dirty="0"/>
          </a:p>
        </p:txBody>
      </p:sp>
      <p:sp>
        <p:nvSpPr>
          <p:cNvPr id="54" name="Text 52"/>
          <p:cNvSpPr/>
          <p:nvPr/>
        </p:nvSpPr>
        <p:spPr>
          <a:xfrm>
            <a:off x="8308848" y="3291840"/>
            <a:ext cx="3331464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better than forecast — Phase 1</a:t>
            </a:r>
            <a:endParaRPr lang="en-US" sz="800" dirty="0"/>
          </a:p>
        </p:txBody>
      </p:sp>
      <p:sp>
        <p:nvSpPr>
          <p:cNvPr id="55" name="Shape 53"/>
          <p:cNvSpPr/>
          <p:nvPr/>
        </p:nvSpPr>
        <p:spPr>
          <a:xfrm>
            <a:off x="8308848" y="3547872"/>
            <a:ext cx="3331464" cy="0"/>
          </a:xfrm>
          <a:prstGeom prst="line">
            <a:avLst/>
          </a:prstGeom>
          <a:noFill/>
          <a:ln w="5080">
            <a:solidFill>
              <a:srgbClr val="DDDDDD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8308848" y="3621024"/>
            <a:ext cx="3331464" cy="594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we consolidate —</a:t>
            </a:r>
            <a:endParaRPr lang="en-US" sz="1200" dirty="0"/>
          </a:p>
          <a:p>
            <a:pPr indent="0" marL="0">
              <a:buNone/>
            </a:pPr>
            <a:r>
              <a:rPr lang="en-US" sz="1200" b="1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and what it delivers</a:t>
            </a:r>
            <a:endParaRPr lang="en-US" sz="1200" dirty="0"/>
          </a:p>
        </p:txBody>
      </p:sp>
      <p:sp>
        <p:nvSpPr>
          <p:cNvPr id="57" name="Text 55"/>
          <p:cNvSpPr/>
          <p:nvPr/>
        </p:nvSpPr>
        <p:spPr>
          <a:xfrm>
            <a:off x="8308848" y="4261104"/>
            <a:ext cx="3331464" cy="56692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4-phase ERP consolidation moves every program into D365 F&amp;O. Phase 1 is done and already proving the model.</a:t>
            </a:r>
            <a:endParaRPr lang="en-US" sz="900" dirty="0"/>
          </a:p>
        </p:txBody>
      </p:sp>
      <p:sp>
        <p:nvSpPr>
          <p:cNvPr id="58" name="Shape 56"/>
          <p:cNvSpPr/>
          <p:nvPr/>
        </p:nvSpPr>
        <p:spPr>
          <a:xfrm>
            <a:off x="8308848" y="4983480"/>
            <a:ext cx="73152" cy="73152"/>
          </a:xfrm>
          <a:prstGeom prst="ellipse">
            <a:avLst/>
          </a:prstGeom>
          <a:solidFill>
            <a:srgbClr val="5B2C8D"/>
          </a:solidFill>
          <a:ln w="12700">
            <a:solidFill>
              <a:srgbClr val="5B2C8D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8455152" y="4901184"/>
            <a:ext cx="31851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1 (2024–25): DES / NDES / ISP — complete</a:t>
            </a:r>
            <a:endParaRPr lang="en-US" sz="900" dirty="0"/>
          </a:p>
        </p:txBody>
      </p:sp>
      <p:sp>
        <p:nvSpPr>
          <p:cNvPr id="60" name="Shape 58"/>
          <p:cNvSpPr/>
          <p:nvPr/>
        </p:nvSpPr>
        <p:spPr>
          <a:xfrm>
            <a:off x="8308848" y="5349240"/>
            <a:ext cx="73152" cy="73152"/>
          </a:xfrm>
          <a:prstGeom prst="ellipse">
            <a:avLst/>
          </a:prstGeom>
          <a:solidFill>
            <a:srgbClr val="5B2C8D"/>
          </a:solidFill>
          <a:ln w="12700">
            <a:solidFill>
              <a:srgbClr val="5B2C8D"/>
            </a:solidFill>
            <a:prstDash val="solid"/>
          </a:ln>
        </p:spPr>
      </p:sp>
      <p:sp>
        <p:nvSpPr>
          <p:cNvPr id="61" name="Text 59"/>
          <p:cNvSpPr/>
          <p:nvPr/>
        </p:nvSpPr>
        <p:spPr>
          <a:xfrm>
            <a:off x="8455152" y="5266944"/>
            <a:ext cx="31851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Phases 2–3 (2026): UBIF Portal + SUR — in progress</a:t>
            </a:r>
            <a:endParaRPr lang="en-US" sz="900" dirty="0"/>
          </a:p>
        </p:txBody>
      </p:sp>
      <p:sp>
        <p:nvSpPr>
          <p:cNvPr id="62" name="Shape 60"/>
          <p:cNvSpPr/>
          <p:nvPr/>
        </p:nvSpPr>
        <p:spPr>
          <a:xfrm>
            <a:off x="8308848" y="5715000"/>
            <a:ext cx="73152" cy="73152"/>
          </a:xfrm>
          <a:prstGeom prst="ellipse">
            <a:avLst/>
          </a:prstGeom>
          <a:solidFill>
            <a:srgbClr val="5B2C8D"/>
          </a:solidFill>
          <a:ln w="12700">
            <a:solidFill>
              <a:srgbClr val="5B2C8D"/>
            </a:solidFill>
            <a:prstDash val="solid"/>
          </a:ln>
        </p:spPr>
      </p:sp>
      <p:sp>
        <p:nvSpPr>
          <p:cNvPr id="63" name="Text 61"/>
          <p:cNvSpPr/>
          <p:nvPr/>
        </p:nvSpPr>
        <p:spPr>
          <a:xfrm>
            <a:off x="8455152" y="5632704"/>
            <a:ext cx="31851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4 (2027): Distro → 100% of inventory in one ERP</a:t>
            </a:r>
            <a:endParaRPr lang="en-US" sz="900" dirty="0"/>
          </a:p>
        </p:txBody>
      </p:sp>
      <p:sp>
        <p:nvSpPr>
          <p:cNvPr id="64" name="Shape 62"/>
          <p:cNvSpPr/>
          <p:nvPr/>
        </p:nvSpPr>
        <p:spPr>
          <a:xfrm>
            <a:off x="8308848" y="5797296"/>
            <a:ext cx="3331464" cy="237744"/>
          </a:xfrm>
          <a:prstGeom prst="roundRect">
            <a:avLst>
              <a:gd name="adj" fmla="val 15385"/>
            </a:avLst>
          </a:prstGeom>
          <a:solidFill>
            <a:srgbClr val="F5F4F8"/>
          </a:solidFill>
          <a:ln w="6350">
            <a:solidFill>
              <a:srgbClr val="DDDDDD"/>
            </a:solidFill>
            <a:prstDash val="solid"/>
          </a:ln>
        </p:spPr>
      </p:sp>
      <p:sp>
        <p:nvSpPr>
          <p:cNvPr id="65" name="Text 63"/>
          <p:cNvSpPr/>
          <p:nvPr/>
        </p:nvSpPr>
        <p:spPr>
          <a:xfrm>
            <a:off x="8308848" y="5797296"/>
            <a:ext cx="3331464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Slides 06 – 07</a:t>
            </a:r>
            <a:endParaRPr lang="en-US" sz="800" dirty="0"/>
          </a:p>
        </p:txBody>
      </p:sp>
      <p:sp>
        <p:nvSpPr>
          <p:cNvPr id="66" name="Text 64"/>
          <p:cNvSpPr/>
          <p:nvPr/>
        </p:nvSpPr>
        <p:spPr>
          <a:xfrm>
            <a:off x="4081272" y="3959352"/>
            <a:ext cx="292608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C4AE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600" dirty="0"/>
          </a:p>
        </p:txBody>
      </p:sp>
      <p:sp>
        <p:nvSpPr>
          <p:cNvPr id="67" name="Text 65"/>
          <p:cNvSpPr/>
          <p:nvPr/>
        </p:nvSpPr>
        <p:spPr>
          <a:xfrm>
            <a:off x="7961376" y="3959352"/>
            <a:ext cx="292608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C4AE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600" dirty="0"/>
          </a:p>
        </p:txBody>
      </p:sp>
      <p:sp>
        <p:nvSpPr>
          <p:cNvPr id="68" name="Shape 66"/>
          <p:cNvSpPr/>
          <p:nvPr/>
        </p:nvSpPr>
        <p:spPr>
          <a:xfrm>
            <a:off x="0" y="6473952"/>
            <a:ext cx="12188952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69" name="Text 67"/>
          <p:cNvSpPr/>
          <p:nvPr/>
        </p:nvSpPr>
        <p:spPr>
          <a:xfrm>
            <a:off x="365760" y="6510528"/>
            <a:ext cx="13716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5B2C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asurion</a:t>
            </a:r>
            <a:endParaRPr lang="en-US" sz="1100" dirty="0"/>
          </a:p>
        </p:txBody>
      </p:sp>
      <p:sp>
        <p:nvSpPr>
          <p:cNvPr id="70" name="Text 68"/>
          <p:cNvSpPr/>
          <p:nvPr/>
        </p:nvSpPr>
        <p:spPr>
          <a:xfrm>
            <a:off x="0" y="6510528"/>
            <a:ext cx="12188952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spc="200" kern="0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AGENDA</a:t>
            </a:r>
            <a:endParaRPr lang="en-US" sz="800" dirty="0"/>
          </a:p>
        </p:txBody>
      </p:sp>
      <p:sp>
        <p:nvSpPr>
          <p:cNvPr id="71" name="Text 69"/>
          <p:cNvSpPr/>
          <p:nvPr/>
        </p:nvSpPr>
        <p:spPr>
          <a:xfrm>
            <a:off x="11548872" y="6510528"/>
            <a:ext cx="4572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292608"/>
            <a:ext cx="73152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5B2C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 — SCALE</a:t>
            </a:r>
            <a:endParaRPr lang="en-US" sz="800" dirty="0"/>
          </a:p>
        </p:txBody>
      </p:sp>
      <p:sp>
        <p:nvSpPr>
          <p:cNvPr id="3" name="Text 1"/>
          <p:cNvSpPr/>
          <p:nvPr/>
        </p:nvSpPr>
        <p:spPr>
          <a:xfrm>
            <a:off x="365760" y="502920"/>
            <a:ext cx="11457432" cy="1051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800" dirty="0">
                <a:solidFill>
                  <a:srgbClr val="111111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Inventory supports every fulfillment motion across</a:t>
            </a:r>
            <a:endParaRPr lang="en-US" sz="2800" dirty="0"/>
          </a:p>
          <a:p>
            <a:pPr indent="0" marL="0">
              <a:buNone/>
            </a:pPr>
            <a:r>
              <a:rPr lang="en-US" sz="2800" dirty="0">
                <a:solidFill>
                  <a:srgbClr val="111111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Asurion's service network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365760" y="1719072"/>
            <a:ext cx="4023360" cy="1188720"/>
          </a:xfrm>
          <a:prstGeom prst="roundRect">
            <a:avLst>
              <a:gd name="adj" fmla="val 5385"/>
            </a:avLst>
          </a:prstGeom>
          <a:solidFill>
            <a:srgbClr val="5B2C8D"/>
          </a:solidFill>
          <a:ln w="12700">
            <a:solidFill>
              <a:srgbClr val="5B2C8D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30352" y="1792224"/>
            <a:ext cx="37490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spc="100" kern="0" dirty="0">
                <a:solidFill>
                  <a:srgbClr val="C4AE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INVENTORY VALUE ACROSS PROGRAMS</a:t>
            </a:r>
            <a:endParaRPr lang="en-US" sz="750" dirty="0"/>
          </a:p>
        </p:txBody>
      </p:sp>
      <p:sp>
        <p:nvSpPr>
          <p:cNvPr id="6" name="Text 4"/>
          <p:cNvSpPr/>
          <p:nvPr/>
        </p:nvSpPr>
        <p:spPr>
          <a:xfrm>
            <a:off x="493776" y="1975104"/>
            <a:ext cx="3767328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~$517M</a:t>
            </a:r>
            <a:endParaRPr lang="en-US" sz="3800" dirty="0"/>
          </a:p>
        </p:txBody>
      </p:sp>
      <p:sp>
        <p:nvSpPr>
          <p:cNvPr id="7" name="Shape 5"/>
          <p:cNvSpPr/>
          <p:nvPr/>
        </p:nvSpPr>
        <p:spPr>
          <a:xfrm>
            <a:off x="365760" y="2999232"/>
            <a:ext cx="4023360" cy="2377440"/>
          </a:xfrm>
          <a:prstGeom prst="roundRect">
            <a:avLst>
              <a:gd name="adj" fmla="val 2692"/>
            </a:avLst>
          </a:prstGeom>
          <a:solidFill>
            <a:srgbClr val="F9F9F9"/>
          </a:solidFill>
          <a:ln w="9525">
            <a:solidFill>
              <a:srgbClr val="DDDDDD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30352" y="3090672"/>
            <a:ext cx="3749040" cy="34747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750" b="1" spc="100" kern="0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LOCATIONS HOLDING INVENTORY ACROSS</a:t>
            </a:r>
            <a:endParaRPr lang="en-US" sz="750" dirty="0"/>
          </a:p>
          <a:p>
            <a:pPr indent="0" marL="0">
              <a:buNone/>
            </a:pPr>
            <a:r>
              <a:rPr lang="en-US" sz="750" b="1" spc="100" kern="0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FULFILLMENTS</a:t>
            </a:r>
            <a:endParaRPr lang="en-US" sz="750" dirty="0"/>
          </a:p>
        </p:txBody>
      </p:sp>
      <p:sp>
        <p:nvSpPr>
          <p:cNvPr id="9" name="Text 7"/>
          <p:cNvSpPr/>
          <p:nvPr/>
        </p:nvSpPr>
        <p:spPr>
          <a:xfrm>
            <a:off x="493776" y="3438144"/>
            <a:ext cx="1417320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111111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~890</a:t>
            </a:r>
            <a:endParaRPr lang="en-US" sz="3800" dirty="0"/>
          </a:p>
        </p:txBody>
      </p:sp>
      <p:sp>
        <p:nvSpPr>
          <p:cNvPr id="10" name="Text 8"/>
          <p:cNvSpPr/>
          <p:nvPr/>
        </p:nvSpPr>
        <p:spPr>
          <a:xfrm>
            <a:off x="1920240" y="352044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AAAAAA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locations</a:t>
            </a:r>
            <a:endParaRPr lang="en-US" sz="2200" dirty="0"/>
          </a:p>
        </p:txBody>
      </p:sp>
      <p:sp>
        <p:nvSpPr>
          <p:cNvPr id="11" name="Text 9"/>
          <p:cNvSpPr/>
          <p:nvPr/>
        </p:nvSpPr>
        <p:spPr>
          <a:xfrm>
            <a:off x="512064" y="4169664"/>
            <a:ext cx="384048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5B2C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~700</a:t>
            </a:r>
            <a:endParaRPr lang="en-US" sz="950" dirty="0"/>
          </a:p>
        </p:txBody>
      </p:sp>
      <p:sp>
        <p:nvSpPr>
          <p:cNvPr id="12" name="Text 10"/>
          <p:cNvSpPr/>
          <p:nvPr/>
        </p:nvSpPr>
        <p:spPr>
          <a:xfrm>
            <a:off x="914400" y="4169664"/>
            <a:ext cx="1417320" cy="34747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UBIF &amp; 3rd-party repair locations</a:t>
            </a:r>
            <a:endParaRPr lang="en-US" sz="850" dirty="0"/>
          </a:p>
        </p:txBody>
      </p:sp>
      <p:sp>
        <p:nvSpPr>
          <p:cNvPr id="13" name="Text 11"/>
          <p:cNvSpPr/>
          <p:nvPr/>
        </p:nvSpPr>
        <p:spPr>
          <a:xfrm>
            <a:off x="512064" y="4626864"/>
            <a:ext cx="384048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5B2C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~90</a:t>
            </a:r>
            <a:endParaRPr lang="en-US" sz="950" dirty="0"/>
          </a:p>
        </p:txBody>
      </p:sp>
      <p:sp>
        <p:nvSpPr>
          <p:cNvPr id="14" name="Text 12"/>
          <p:cNvSpPr/>
          <p:nvPr/>
        </p:nvSpPr>
        <p:spPr>
          <a:xfrm>
            <a:off x="914400" y="4626864"/>
            <a:ext cx="1417320" cy="34747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3rd-party repair vendors</a:t>
            </a:r>
            <a:endParaRPr lang="en-US" sz="850" dirty="0"/>
          </a:p>
        </p:txBody>
      </p:sp>
      <p:sp>
        <p:nvSpPr>
          <p:cNvPr id="15" name="Text 13"/>
          <p:cNvSpPr/>
          <p:nvPr/>
        </p:nvSpPr>
        <p:spPr>
          <a:xfrm>
            <a:off x="512064" y="5084064"/>
            <a:ext cx="384048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5B2C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950" dirty="0"/>
          </a:p>
        </p:txBody>
      </p:sp>
      <p:sp>
        <p:nvSpPr>
          <p:cNvPr id="16" name="Text 14"/>
          <p:cNvSpPr/>
          <p:nvPr/>
        </p:nvSpPr>
        <p:spPr>
          <a:xfrm>
            <a:off x="914400" y="5084064"/>
            <a:ext cx="1417320" cy="34747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UROC mail-in repair location</a:t>
            </a:r>
            <a:endParaRPr lang="en-US" sz="850" dirty="0"/>
          </a:p>
        </p:txBody>
      </p:sp>
      <p:sp>
        <p:nvSpPr>
          <p:cNvPr id="17" name="Text 15"/>
          <p:cNvSpPr/>
          <p:nvPr/>
        </p:nvSpPr>
        <p:spPr>
          <a:xfrm>
            <a:off x="2432304" y="4169664"/>
            <a:ext cx="384048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5B2C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97</a:t>
            </a:r>
            <a:endParaRPr lang="en-US" sz="950" dirty="0"/>
          </a:p>
        </p:txBody>
      </p:sp>
      <p:sp>
        <p:nvSpPr>
          <p:cNvPr id="18" name="Text 16"/>
          <p:cNvSpPr/>
          <p:nvPr/>
        </p:nvSpPr>
        <p:spPr>
          <a:xfrm>
            <a:off x="2834640" y="4169664"/>
            <a:ext cx="1417320" cy="34747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Forward Stocking Locations (FSLs)</a:t>
            </a:r>
            <a:endParaRPr lang="en-US" sz="850" dirty="0"/>
          </a:p>
        </p:txBody>
      </p:sp>
      <p:sp>
        <p:nvSpPr>
          <p:cNvPr id="19" name="Text 17"/>
          <p:cNvSpPr/>
          <p:nvPr/>
        </p:nvSpPr>
        <p:spPr>
          <a:xfrm>
            <a:off x="2432304" y="4626864"/>
            <a:ext cx="384048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5B2C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950" dirty="0"/>
          </a:p>
        </p:txBody>
      </p:sp>
      <p:sp>
        <p:nvSpPr>
          <p:cNvPr id="20" name="Text 18"/>
          <p:cNvSpPr/>
          <p:nvPr/>
        </p:nvSpPr>
        <p:spPr>
          <a:xfrm>
            <a:off x="2834640" y="4626864"/>
            <a:ext cx="1417320" cy="34747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Main inventory distribution centers</a:t>
            </a:r>
            <a:endParaRPr lang="en-US" sz="850" dirty="0"/>
          </a:p>
        </p:txBody>
      </p:sp>
      <p:sp>
        <p:nvSpPr>
          <p:cNvPr id="21" name="Shape 19"/>
          <p:cNvSpPr/>
          <p:nvPr/>
        </p:nvSpPr>
        <p:spPr>
          <a:xfrm>
            <a:off x="4663440" y="1719072"/>
            <a:ext cx="2325624" cy="3657600"/>
          </a:xfrm>
          <a:prstGeom prst="roundRect">
            <a:avLst>
              <a:gd name="adj" fmla="val 2752"/>
            </a:avLst>
          </a:prstGeom>
          <a:solidFill>
            <a:srgbClr val="FFFFFF"/>
          </a:solidFill>
          <a:ln w="9525">
            <a:solidFill>
              <a:srgbClr val="DDDDDD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4828032" y="1828800"/>
            <a:ext cx="402336" cy="402336"/>
          </a:xfrm>
          <a:prstGeom prst="ellipse">
            <a:avLst/>
          </a:prstGeom>
          <a:solidFill>
            <a:srgbClr val="EDE8F5"/>
          </a:solidFill>
          <a:ln w="12700">
            <a:solidFill>
              <a:srgbClr val="EDE8F5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4809744" y="2340864"/>
            <a:ext cx="2033016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Replacement</a:t>
            </a:r>
            <a:endParaRPr lang="en-US" sz="1150" dirty="0"/>
          </a:p>
          <a:p>
            <a:pPr indent="0" marL="0">
              <a:buNone/>
            </a:pPr>
            <a:r>
              <a:rPr lang="en-US" sz="1150" b="1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Fulfillment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4809744" y="2871216"/>
            <a:ext cx="2033016" cy="0"/>
          </a:xfrm>
          <a:prstGeom prst="line">
            <a:avLst/>
          </a:prstGeom>
          <a:noFill/>
          <a:ln w="5080">
            <a:solidFill>
              <a:srgbClr val="DDDDDD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4809744" y="3044952"/>
            <a:ext cx="82296" cy="82296"/>
          </a:xfrm>
          <a:prstGeom prst="ellipse">
            <a:avLst/>
          </a:prstGeom>
          <a:solidFill>
            <a:srgbClr val="5B2C8D"/>
          </a:solidFill>
          <a:ln w="12700">
            <a:solidFill>
              <a:srgbClr val="5B2C8D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4956048" y="2953512"/>
            <a:ext cx="1886712" cy="411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Advance Exchange (mail fulfillment)</a:t>
            </a:r>
            <a:endParaRPr lang="en-US" sz="900" dirty="0"/>
          </a:p>
        </p:txBody>
      </p:sp>
      <p:sp>
        <p:nvSpPr>
          <p:cNvPr id="27" name="Shape 25"/>
          <p:cNvSpPr/>
          <p:nvPr/>
        </p:nvSpPr>
        <p:spPr>
          <a:xfrm>
            <a:off x="4809744" y="3502152"/>
            <a:ext cx="82296" cy="82296"/>
          </a:xfrm>
          <a:prstGeom prst="ellipse">
            <a:avLst/>
          </a:prstGeom>
          <a:solidFill>
            <a:srgbClr val="5B2C8D"/>
          </a:solidFill>
          <a:ln w="12700">
            <a:solidFill>
              <a:srgbClr val="5B2C8D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4956048" y="3410712"/>
            <a:ext cx="1886712" cy="411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Delivery &amp; Expert Setup (DES)</a:t>
            </a:r>
            <a:endParaRPr lang="en-US" sz="900" dirty="0"/>
          </a:p>
        </p:txBody>
      </p:sp>
      <p:sp>
        <p:nvSpPr>
          <p:cNvPr id="29" name="Shape 27"/>
          <p:cNvSpPr/>
          <p:nvPr/>
        </p:nvSpPr>
        <p:spPr>
          <a:xfrm>
            <a:off x="4809744" y="3959352"/>
            <a:ext cx="82296" cy="82296"/>
          </a:xfrm>
          <a:prstGeom prst="ellipse">
            <a:avLst/>
          </a:prstGeom>
          <a:solidFill>
            <a:srgbClr val="5B2C8D"/>
          </a:solidFill>
          <a:ln w="12700">
            <a:solidFill>
              <a:srgbClr val="5B2C8D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4956048" y="3867912"/>
            <a:ext cx="1886712" cy="411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Central Warehouses</a:t>
            </a:r>
            <a:endParaRPr lang="en-US" sz="900" dirty="0"/>
          </a:p>
        </p:txBody>
      </p:sp>
      <p:sp>
        <p:nvSpPr>
          <p:cNvPr id="31" name="Shape 29"/>
          <p:cNvSpPr/>
          <p:nvPr/>
        </p:nvSpPr>
        <p:spPr>
          <a:xfrm>
            <a:off x="4809744" y="4416552"/>
            <a:ext cx="82296" cy="82296"/>
          </a:xfrm>
          <a:prstGeom prst="ellipse">
            <a:avLst/>
          </a:prstGeom>
          <a:solidFill>
            <a:srgbClr val="5B2C8D"/>
          </a:solidFill>
          <a:ln w="12700">
            <a:solidFill>
              <a:srgbClr val="5B2C8D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956048" y="4325112"/>
            <a:ext cx="1886712" cy="411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Field Stocking Locations (~97)</a:t>
            </a:r>
            <a:endParaRPr lang="en-US" sz="900" dirty="0"/>
          </a:p>
        </p:txBody>
      </p:sp>
      <p:sp>
        <p:nvSpPr>
          <p:cNvPr id="33" name="Shape 31"/>
          <p:cNvSpPr/>
          <p:nvPr/>
        </p:nvSpPr>
        <p:spPr>
          <a:xfrm>
            <a:off x="4809744" y="4873752"/>
            <a:ext cx="82296" cy="82296"/>
          </a:xfrm>
          <a:prstGeom prst="ellipse">
            <a:avLst/>
          </a:prstGeom>
          <a:solidFill>
            <a:srgbClr val="5B2C8D"/>
          </a:solidFill>
          <a:ln w="12700">
            <a:solidFill>
              <a:srgbClr val="5B2C8D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4956048" y="4782312"/>
            <a:ext cx="1886712" cy="411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Asurion-Owned &amp; Consigned Inventory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7080504" y="1719072"/>
            <a:ext cx="2325624" cy="3657600"/>
          </a:xfrm>
          <a:prstGeom prst="roundRect">
            <a:avLst>
              <a:gd name="adj" fmla="val 2752"/>
            </a:avLst>
          </a:prstGeom>
          <a:solidFill>
            <a:srgbClr val="FFFFFF"/>
          </a:solidFill>
          <a:ln w="9525">
            <a:solidFill>
              <a:srgbClr val="DDDDDD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7245096" y="1828800"/>
            <a:ext cx="402336" cy="402336"/>
          </a:xfrm>
          <a:prstGeom prst="ellipse">
            <a:avLst/>
          </a:prstGeom>
          <a:solidFill>
            <a:srgbClr val="EDE8F5"/>
          </a:solidFill>
          <a:ln w="12700">
            <a:solidFill>
              <a:srgbClr val="EDE8F5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7226808" y="2340864"/>
            <a:ext cx="2033016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Same-Unit Repair</a:t>
            </a:r>
            <a:endParaRPr lang="en-US" sz="1150" dirty="0"/>
          </a:p>
        </p:txBody>
      </p:sp>
      <p:sp>
        <p:nvSpPr>
          <p:cNvPr id="38" name="Shape 36"/>
          <p:cNvSpPr/>
          <p:nvPr/>
        </p:nvSpPr>
        <p:spPr>
          <a:xfrm>
            <a:off x="7226808" y="2871216"/>
            <a:ext cx="2033016" cy="0"/>
          </a:xfrm>
          <a:prstGeom prst="line">
            <a:avLst/>
          </a:prstGeom>
          <a:noFill/>
          <a:ln w="5080">
            <a:solidFill>
              <a:srgbClr val="DDDDDD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7226808" y="3044952"/>
            <a:ext cx="82296" cy="82296"/>
          </a:xfrm>
          <a:prstGeom prst="ellipse">
            <a:avLst/>
          </a:prstGeom>
          <a:solidFill>
            <a:srgbClr val="5B2C8D"/>
          </a:solidFill>
          <a:ln w="12700">
            <a:solidFill>
              <a:srgbClr val="5B2C8D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7373112" y="2953512"/>
            <a:ext cx="1886712" cy="411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Distribution Centers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7226808" y="3502152"/>
            <a:ext cx="82296" cy="82296"/>
          </a:xfrm>
          <a:prstGeom prst="ellipse">
            <a:avLst/>
          </a:prstGeom>
          <a:solidFill>
            <a:srgbClr val="5B2C8D"/>
          </a:solidFill>
          <a:ln w="12700">
            <a:solidFill>
              <a:srgbClr val="5B2C8D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7373112" y="3410712"/>
            <a:ext cx="1886712" cy="411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Corporate Stores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7226808" y="3959352"/>
            <a:ext cx="82296" cy="82296"/>
          </a:xfrm>
          <a:prstGeom prst="ellipse">
            <a:avLst/>
          </a:prstGeom>
          <a:solidFill>
            <a:srgbClr val="5B2C8D"/>
          </a:solidFill>
          <a:ln w="12700">
            <a:solidFill>
              <a:srgbClr val="5B2C8D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7373112" y="3867912"/>
            <a:ext cx="1886712" cy="411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Franchise Partners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7226808" y="4416552"/>
            <a:ext cx="82296" cy="82296"/>
          </a:xfrm>
          <a:prstGeom prst="ellipse">
            <a:avLst/>
          </a:prstGeom>
          <a:solidFill>
            <a:srgbClr val="5B2C8D"/>
          </a:solidFill>
          <a:ln w="12700">
            <a:solidFill>
              <a:srgbClr val="5B2C8D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7373112" y="4325112"/>
            <a:ext cx="1886712" cy="411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Mail-In Repair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7226808" y="4873752"/>
            <a:ext cx="82296" cy="82296"/>
          </a:xfrm>
          <a:prstGeom prst="ellipse">
            <a:avLst/>
          </a:prstGeom>
          <a:solidFill>
            <a:srgbClr val="5B2C8D"/>
          </a:solidFill>
          <a:ln w="12700">
            <a:solidFill>
              <a:srgbClr val="5B2C8D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7373112" y="4782312"/>
            <a:ext cx="1886712" cy="411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Third-Party Repair Providers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(~6% of volume)</a:t>
            </a:r>
            <a:endParaRPr lang="en-US" sz="900" dirty="0"/>
          </a:p>
        </p:txBody>
      </p:sp>
      <p:sp>
        <p:nvSpPr>
          <p:cNvPr id="49" name="Shape 47"/>
          <p:cNvSpPr/>
          <p:nvPr/>
        </p:nvSpPr>
        <p:spPr>
          <a:xfrm>
            <a:off x="9497568" y="1719072"/>
            <a:ext cx="2325624" cy="3657600"/>
          </a:xfrm>
          <a:prstGeom prst="roundRect">
            <a:avLst>
              <a:gd name="adj" fmla="val 2752"/>
            </a:avLst>
          </a:prstGeom>
          <a:solidFill>
            <a:srgbClr val="FFFFFF"/>
          </a:solidFill>
          <a:ln w="9525">
            <a:solidFill>
              <a:srgbClr val="DDDDDD"/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>
            <a:off x="9662160" y="1828800"/>
            <a:ext cx="402336" cy="402336"/>
          </a:xfrm>
          <a:prstGeom prst="ellipse">
            <a:avLst/>
          </a:prstGeom>
          <a:solidFill>
            <a:srgbClr val="EDE8F5"/>
          </a:solidFill>
          <a:ln w="12700">
            <a:solidFill>
              <a:srgbClr val="EDE8F5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9643872" y="2340864"/>
            <a:ext cx="2033016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Reverse Logistics</a:t>
            </a:r>
            <a:endParaRPr lang="en-US" sz="1150" dirty="0"/>
          </a:p>
        </p:txBody>
      </p:sp>
      <p:sp>
        <p:nvSpPr>
          <p:cNvPr id="52" name="Shape 50"/>
          <p:cNvSpPr/>
          <p:nvPr/>
        </p:nvSpPr>
        <p:spPr>
          <a:xfrm>
            <a:off x="9643872" y="2871216"/>
            <a:ext cx="2033016" cy="0"/>
          </a:xfrm>
          <a:prstGeom prst="line">
            <a:avLst/>
          </a:prstGeom>
          <a:noFill/>
          <a:ln w="5080">
            <a:solidFill>
              <a:srgbClr val="DDDDDD"/>
            </a:solidFill>
            <a:prstDash val="solid"/>
          </a:ln>
        </p:spPr>
      </p:sp>
      <p:sp>
        <p:nvSpPr>
          <p:cNvPr id="53" name="Shape 51"/>
          <p:cNvSpPr/>
          <p:nvPr/>
        </p:nvSpPr>
        <p:spPr>
          <a:xfrm>
            <a:off x="9643872" y="3044952"/>
            <a:ext cx="82296" cy="82296"/>
          </a:xfrm>
          <a:prstGeom prst="ellipse">
            <a:avLst/>
          </a:prstGeom>
          <a:solidFill>
            <a:srgbClr val="5B2C8D"/>
          </a:solidFill>
          <a:ln w="12700">
            <a:solidFill>
              <a:srgbClr val="5B2C8D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9790176" y="2953512"/>
            <a:ext cx="1886712" cy="411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Returned Devices</a:t>
            </a:r>
            <a:endParaRPr lang="en-US" sz="900" dirty="0"/>
          </a:p>
        </p:txBody>
      </p:sp>
      <p:sp>
        <p:nvSpPr>
          <p:cNvPr id="55" name="Shape 53"/>
          <p:cNvSpPr/>
          <p:nvPr/>
        </p:nvSpPr>
        <p:spPr>
          <a:xfrm>
            <a:off x="9643872" y="3502152"/>
            <a:ext cx="82296" cy="82296"/>
          </a:xfrm>
          <a:prstGeom prst="ellipse">
            <a:avLst/>
          </a:prstGeom>
          <a:solidFill>
            <a:srgbClr val="5B2C8D"/>
          </a:solidFill>
          <a:ln w="12700">
            <a:solidFill>
              <a:srgbClr val="5B2C8D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9790176" y="3410712"/>
            <a:ext cx="1886712" cy="411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Returned Parts</a:t>
            </a:r>
            <a:endParaRPr lang="en-US" sz="900" dirty="0"/>
          </a:p>
        </p:txBody>
      </p:sp>
      <p:sp>
        <p:nvSpPr>
          <p:cNvPr id="57" name="Shape 55"/>
          <p:cNvSpPr/>
          <p:nvPr/>
        </p:nvSpPr>
        <p:spPr>
          <a:xfrm>
            <a:off x="9643872" y="3959352"/>
            <a:ext cx="82296" cy="82296"/>
          </a:xfrm>
          <a:prstGeom prst="ellipse">
            <a:avLst/>
          </a:prstGeom>
          <a:solidFill>
            <a:srgbClr val="5B2C8D"/>
          </a:solidFill>
          <a:ln w="12700">
            <a:solidFill>
              <a:srgbClr val="5B2C8D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9790176" y="3867912"/>
            <a:ext cx="1886712" cy="411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Recovery &amp; Disposition</a:t>
            </a:r>
            <a:endParaRPr lang="en-US" sz="900" dirty="0"/>
          </a:p>
        </p:txBody>
      </p:sp>
      <p:sp>
        <p:nvSpPr>
          <p:cNvPr id="59" name="Shape 57"/>
          <p:cNvSpPr/>
          <p:nvPr/>
        </p:nvSpPr>
        <p:spPr>
          <a:xfrm>
            <a:off x="365760" y="5504688"/>
            <a:ext cx="45720" cy="502920"/>
          </a:xfrm>
          <a:prstGeom prst="rect">
            <a:avLst/>
          </a:prstGeom>
          <a:solidFill>
            <a:srgbClr val="5B2C8D"/>
          </a:solidFill>
          <a:ln w="12700">
            <a:solidFill>
              <a:srgbClr val="5B2C8D"/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548640" y="5550408"/>
            <a:ext cx="11228832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Inventory is a material business asset</a:t>
            </a:r>
            <a:pPr indent="0" marL="0">
              <a:buNone/>
            </a:pPr>
            <a:r>
              <a:rPr lang="en-US" sz="11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constantly moving across warehouses, field locations, stores, partners, and customer channels. Every movement requires visibility and accountability.</a:t>
            </a:r>
            <a:endParaRPr lang="en-US" sz="1100" dirty="0"/>
          </a:p>
        </p:txBody>
      </p:sp>
      <p:sp>
        <p:nvSpPr>
          <p:cNvPr id="61" name="Text 59"/>
          <p:cNvSpPr/>
          <p:nvPr/>
        </p:nvSpPr>
        <p:spPr>
          <a:xfrm>
            <a:off x="365760" y="6071616"/>
            <a:ext cx="11457432" cy="16459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Inventory value figures reflect total across replacement, same-unit repair, and reverse logistics programs.</a:t>
            </a:r>
            <a:endParaRPr lang="en-US" sz="650" dirty="0"/>
          </a:p>
          <a:p>
            <a:pPr indent="0" marL="0">
              <a:buNone/>
            </a:pPr>
            <a:r>
              <a:rPr lang="en-US" sz="65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Inventory is held across ~890 locations: ~700 UBIF &amp; 3rd-party repair locations, 97 Forward Stocking Locations (FSLs), ~90 third-party repair vendors (~6% of repair volume), 2 main distribution centers, and 1 UROC mail-in repair location.</a:t>
            </a:r>
            <a:endParaRPr lang="en-US" sz="650" dirty="0"/>
          </a:p>
        </p:txBody>
      </p:sp>
      <p:sp>
        <p:nvSpPr>
          <p:cNvPr id="62" name="Shape 60"/>
          <p:cNvSpPr/>
          <p:nvPr/>
        </p:nvSpPr>
        <p:spPr>
          <a:xfrm>
            <a:off x="0" y="6473952"/>
            <a:ext cx="12188952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63" name="Text 61"/>
          <p:cNvSpPr/>
          <p:nvPr/>
        </p:nvSpPr>
        <p:spPr>
          <a:xfrm>
            <a:off x="365760" y="6510528"/>
            <a:ext cx="13716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5B2C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asurion</a:t>
            </a:r>
            <a:endParaRPr lang="en-US" sz="1100" dirty="0"/>
          </a:p>
        </p:txBody>
      </p:sp>
      <p:sp>
        <p:nvSpPr>
          <p:cNvPr id="64" name="Text 62"/>
          <p:cNvSpPr/>
          <p:nvPr/>
        </p:nvSpPr>
        <p:spPr>
          <a:xfrm>
            <a:off x="0" y="6510528"/>
            <a:ext cx="12188952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spc="200" kern="0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SCALE &amp; RELEVANCE</a:t>
            </a:r>
            <a:endParaRPr lang="en-US" sz="800" dirty="0"/>
          </a:p>
        </p:txBody>
      </p:sp>
      <p:sp>
        <p:nvSpPr>
          <p:cNvPr id="65" name="Text 63"/>
          <p:cNvSpPr/>
          <p:nvPr/>
        </p:nvSpPr>
        <p:spPr>
          <a:xfrm>
            <a:off x="11548872" y="6510528"/>
            <a:ext cx="4572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292608"/>
            <a:ext cx="73152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5B2C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 — RISK</a:t>
            </a:r>
            <a:endParaRPr lang="en-US" sz="800" dirty="0"/>
          </a:p>
        </p:txBody>
      </p:sp>
      <p:sp>
        <p:nvSpPr>
          <p:cNvPr id="3" name="Text 1"/>
          <p:cNvSpPr/>
          <p:nvPr/>
        </p:nvSpPr>
        <p:spPr>
          <a:xfrm>
            <a:off x="365760" y="502920"/>
            <a:ext cx="11457432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3200" dirty="0">
                <a:solidFill>
                  <a:srgbClr val="111111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Inventory is split across multiple systems of record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365760" y="1417320"/>
            <a:ext cx="11457432" cy="47548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When a program's inventory and financials live in one system, every unit and dollar is traceable. </a:t>
            </a:r>
            <a:pPr indent="0" marL="0">
              <a:buNone/>
            </a:pPr>
            <a:r>
              <a:rPr lang="en-US" sz="1100" b="1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~$390.6M is already reconciled in D365 F&amp;O</a:t>
            </a:r>
            <a:pPr indent="0" marL="0">
              <a:buNone/>
            </a:pPr>
            <a:r>
              <a:rPr lang="en-US" sz="11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the remaining </a:t>
            </a:r>
            <a:pPr indent="0" marL="0">
              <a:buNone/>
            </a:pPr>
            <a:r>
              <a:rPr lang="en-US" sz="1100" b="1" dirty="0">
                <a:solidFill>
                  <a:srgbClr val="5B2C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$126.3M sits on legacy systems.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365760" y="1993392"/>
            <a:ext cx="11457432" cy="3291840"/>
          </a:xfrm>
          <a:prstGeom prst="roundRect">
            <a:avLst>
              <a:gd name="adj" fmla="val 1667"/>
            </a:avLst>
          </a:prstGeom>
          <a:solidFill>
            <a:srgbClr val="FFFFFF"/>
          </a:solidFill>
          <a:ln w="9525">
            <a:solidFill>
              <a:srgbClr val="DDDDDD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94360" y="2066544"/>
            <a:ext cx="50292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spc="100" kern="0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PROGRAM</a:t>
            </a:r>
            <a:endParaRPr lang="en-US" sz="750" dirty="0"/>
          </a:p>
        </p:txBody>
      </p:sp>
      <p:sp>
        <p:nvSpPr>
          <p:cNvPr id="7" name="Text 5"/>
          <p:cNvSpPr/>
          <p:nvPr/>
        </p:nvSpPr>
        <p:spPr>
          <a:xfrm>
            <a:off x="5669280" y="2066544"/>
            <a:ext cx="18288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spc="100" kern="0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INVENTORY VALUE</a:t>
            </a:r>
            <a:endParaRPr lang="en-US" sz="750" dirty="0"/>
          </a:p>
        </p:txBody>
      </p:sp>
      <p:sp>
        <p:nvSpPr>
          <p:cNvPr id="8" name="Text 6"/>
          <p:cNvSpPr/>
          <p:nvPr/>
        </p:nvSpPr>
        <p:spPr>
          <a:xfrm>
            <a:off x="7680960" y="2066544"/>
            <a:ext cx="27432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spc="100" kern="0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SYSTEM OF RECORD</a:t>
            </a:r>
            <a:endParaRPr lang="en-US" sz="750" dirty="0"/>
          </a:p>
        </p:txBody>
      </p:sp>
      <p:sp>
        <p:nvSpPr>
          <p:cNvPr id="9" name="Text 7"/>
          <p:cNvSpPr/>
          <p:nvPr/>
        </p:nvSpPr>
        <p:spPr>
          <a:xfrm>
            <a:off x="10789920" y="2066544"/>
            <a:ext cx="100584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spc="100" kern="0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STATUS</a:t>
            </a:r>
            <a:endParaRPr lang="en-US" sz="750" dirty="0"/>
          </a:p>
        </p:txBody>
      </p:sp>
      <p:sp>
        <p:nvSpPr>
          <p:cNvPr id="10" name="Shape 8"/>
          <p:cNvSpPr/>
          <p:nvPr/>
        </p:nvSpPr>
        <p:spPr>
          <a:xfrm>
            <a:off x="457200" y="2304288"/>
            <a:ext cx="11274552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94360" y="2377440"/>
            <a:ext cx="27432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5B2C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REPLACEMENT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5669280" y="2377440"/>
            <a:ext cx="18288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$390.6M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457200" y="2651760"/>
            <a:ext cx="11274552" cy="0"/>
          </a:xfrm>
          <a:prstGeom prst="line">
            <a:avLst/>
          </a:prstGeom>
          <a:noFill/>
          <a:ln w="3810">
            <a:solidFill>
              <a:srgbClr val="DDDDDD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94360" y="2706624"/>
            <a:ext cx="50292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Advance Exchange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594360" y="2926080"/>
            <a:ext cx="50292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Mail replacement</a:t>
            </a:r>
            <a:endParaRPr lang="en-US" sz="850" dirty="0"/>
          </a:p>
        </p:txBody>
      </p:sp>
      <p:sp>
        <p:nvSpPr>
          <p:cNvPr id="16" name="Text 14"/>
          <p:cNvSpPr/>
          <p:nvPr/>
        </p:nvSpPr>
        <p:spPr>
          <a:xfrm>
            <a:off x="5669280" y="2761488"/>
            <a:ext cx="18288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$296.4M</a:t>
            </a:r>
            <a:endParaRPr lang="en-US" sz="1150" dirty="0"/>
          </a:p>
        </p:txBody>
      </p:sp>
      <p:sp>
        <p:nvSpPr>
          <p:cNvPr id="17" name="Text 15"/>
          <p:cNvSpPr/>
          <p:nvPr/>
        </p:nvSpPr>
        <p:spPr>
          <a:xfrm>
            <a:off x="7680960" y="2761488"/>
            <a:ext cx="27432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D365 F&amp;O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10607040" y="2743200"/>
            <a:ext cx="1188720" cy="237744"/>
          </a:xfrm>
          <a:prstGeom prst="roundRect">
            <a:avLst>
              <a:gd name="adj" fmla="val 15385"/>
            </a:avLst>
          </a:prstGeom>
          <a:solidFill>
            <a:srgbClr val="E6F4EA"/>
          </a:solidFill>
          <a:ln w="12700">
            <a:solidFill>
              <a:srgbClr val="E6F4E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10607040" y="2743200"/>
            <a:ext cx="118872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1B6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Completed</a:t>
            </a:r>
            <a:endParaRPr lang="en-US" sz="800" dirty="0"/>
          </a:p>
        </p:txBody>
      </p:sp>
      <p:sp>
        <p:nvSpPr>
          <p:cNvPr id="20" name="Shape 18"/>
          <p:cNvSpPr/>
          <p:nvPr/>
        </p:nvSpPr>
        <p:spPr>
          <a:xfrm>
            <a:off x="457200" y="3163824"/>
            <a:ext cx="11274552" cy="0"/>
          </a:xfrm>
          <a:prstGeom prst="line">
            <a:avLst/>
          </a:prstGeom>
          <a:noFill/>
          <a:ln w="3810">
            <a:solidFill>
              <a:srgbClr val="DDDDDD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594360" y="3218688"/>
            <a:ext cx="50292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NDES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594360" y="3438144"/>
            <a:ext cx="50292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Next-Day Expert Delivery &amp; Setup</a:t>
            </a:r>
            <a:endParaRPr lang="en-US" sz="850" dirty="0"/>
          </a:p>
        </p:txBody>
      </p:sp>
      <p:sp>
        <p:nvSpPr>
          <p:cNvPr id="23" name="Text 21"/>
          <p:cNvSpPr/>
          <p:nvPr/>
        </p:nvSpPr>
        <p:spPr>
          <a:xfrm>
            <a:off x="5669280" y="3273552"/>
            <a:ext cx="18288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$15.3M</a:t>
            </a:r>
            <a:endParaRPr lang="en-US" sz="1150" dirty="0"/>
          </a:p>
        </p:txBody>
      </p:sp>
      <p:sp>
        <p:nvSpPr>
          <p:cNvPr id="24" name="Text 22"/>
          <p:cNvSpPr/>
          <p:nvPr/>
        </p:nvSpPr>
        <p:spPr>
          <a:xfrm>
            <a:off x="7680960" y="3273552"/>
            <a:ext cx="27432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D365 F&amp;O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10607040" y="3255264"/>
            <a:ext cx="1188720" cy="237744"/>
          </a:xfrm>
          <a:prstGeom prst="roundRect">
            <a:avLst>
              <a:gd name="adj" fmla="val 15385"/>
            </a:avLst>
          </a:prstGeom>
          <a:solidFill>
            <a:srgbClr val="E6F4EA"/>
          </a:solidFill>
          <a:ln w="12700">
            <a:solidFill>
              <a:srgbClr val="E6F4EA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10607040" y="3255264"/>
            <a:ext cx="118872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1B6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Completed</a:t>
            </a:r>
            <a:endParaRPr lang="en-US" sz="800" dirty="0"/>
          </a:p>
        </p:txBody>
      </p:sp>
      <p:sp>
        <p:nvSpPr>
          <p:cNvPr id="27" name="Shape 25"/>
          <p:cNvSpPr/>
          <p:nvPr/>
        </p:nvSpPr>
        <p:spPr>
          <a:xfrm>
            <a:off x="457200" y="3675888"/>
            <a:ext cx="11274552" cy="0"/>
          </a:xfrm>
          <a:prstGeom prst="line">
            <a:avLst/>
          </a:prstGeom>
          <a:noFill/>
          <a:ln w="3810">
            <a:solidFill>
              <a:srgbClr val="DDDDDD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594360" y="3730752"/>
            <a:ext cx="50292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</a:t>
            </a:r>
            <a:endParaRPr lang="en-US" sz="1100" dirty="0"/>
          </a:p>
        </p:txBody>
      </p:sp>
      <p:sp>
        <p:nvSpPr>
          <p:cNvPr id="29" name="Text 27"/>
          <p:cNvSpPr/>
          <p:nvPr/>
        </p:nvSpPr>
        <p:spPr>
          <a:xfrm>
            <a:off x="594360" y="3950208"/>
            <a:ext cx="50292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Delivery &amp; Expert Setup — replacement via Expert</a:t>
            </a:r>
            <a:endParaRPr lang="en-US" sz="850" dirty="0"/>
          </a:p>
        </p:txBody>
      </p:sp>
      <p:sp>
        <p:nvSpPr>
          <p:cNvPr id="30" name="Text 28"/>
          <p:cNvSpPr/>
          <p:nvPr/>
        </p:nvSpPr>
        <p:spPr>
          <a:xfrm>
            <a:off x="5669280" y="3785616"/>
            <a:ext cx="18288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$78.9M</a:t>
            </a:r>
            <a:endParaRPr lang="en-US" sz="1150" dirty="0"/>
          </a:p>
        </p:txBody>
      </p:sp>
      <p:sp>
        <p:nvSpPr>
          <p:cNvPr id="31" name="Text 29"/>
          <p:cNvSpPr/>
          <p:nvPr/>
        </p:nvSpPr>
        <p:spPr>
          <a:xfrm>
            <a:off x="7680960" y="3785616"/>
            <a:ext cx="27432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D365 F&amp;O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10607040" y="3767328"/>
            <a:ext cx="1188720" cy="237744"/>
          </a:xfrm>
          <a:prstGeom prst="roundRect">
            <a:avLst>
              <a:gd name="adj" fmla="val 15385"/>
            </a:avLst>
          </a:prstGeom>
          <a:solidFill>
            <a:srgbClr val="E6F4EA"/>
          </a:solidFill>
          <a:ln w="12700">
            <a:solidFill>
              <a:srgbClr val="E6F4EA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10607040" y="3767328"/>
            <a:ext cx="118872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1B6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Completed</a:t>
            </a:r>
            <a:endParaRPr lang="en-US" sz="800" dirty="0"/>
          </a:p>
        </p:txBody>
      </p:sp>
      <p:sp>
        <p:nvSpPr>
          <p:cNvPr id="34" name="Shape 32"/>
          <p:cNvSpPr/>
          <p:nvPr/>
        </p:nvSpPr>
        <p:spPr>
          <a:xfrm>
            <a:off x="457200" y="4187952"/>
            <a:ext cx="11274552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594360" y="4242816"/>
            <a:ext cx="27432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5B2C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REPAIR</a:t>
            </a:r>
            <a:endParaRPr lang="en-US" sz="900" dirty="0"/>
          </a:p>
        </p:txBody>
      </p:sp>
      <p:sp>
        <p:nvSpPr>
          <p:cNvPr id="36" name="Text 34"/>
          <p:cNvSpPr/>
          <p:nvPr/>
        </p:nvSpPr>
        <p:spPr>
          <a:xfrm>
            <a:off x="5669280" y="4242816"/>
            <a:ext cx="18288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$126.3M</a:t>
            </a:r>
            <a:endParaRPr lang="en-US" sz="1000" dirty="0"/>
          </a:p>
        </p:txBody>
      </p:sp>
      <p:sp>
        <p:nvSpPr>
          <p:cNvPr id="37" name="Shape 35"/>
          <p:cNvSpPr/>
          <p:nvPr/>
        </p:nvSpPr>
        <p:spPr>
          <a:xfrm>
            <a:off x="457200" y="4517136"/>
            <a:ext cx="11274552" cy="0"/>
          </a:xfrm>
          <a:prstGeom prst="line">
            <a:avLst/>
          </a:prstGeom>
          <a:noFill/>
          <a:ln w="3810">
            <a:solidFill>
              <a:srgbClr val="DDDDDD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594360" y="4572000"/>
            <a:ext cx="50292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uBreakiFix</a:t>
            </a:r>
            <a:endParaRPr lang="en-US" sz="1100" dirty="0"/>
          </a:p>
        </p:txBody>
      </p:sp>
      <p:sp>
        <p:nvSpPr>
          <p:cNvPr id="39" name="Text 37"/>
          <p:cNvSpPr/>
          <p:nvPr/>
        </p:nvSpPr>
        <p:spPr>
          <a:xfrm>
            <a:off x="594360" y="4791456"/>
            <a:ext cx="50292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Stores &amp; distribution center</a:t>
            </a:r>
            <a:endParaRPr lang="en-US" sz="850" dirty="0"/>
          </a:p>
        </p:txBody>
      </p:sp>
      <p:sp>
        <p:nvSpPr>
          <p:cNvPr id="40" name="Text 38"/>
          <p:cNvSpPr/>
          <p:nvPr/>
        </p:nvSpPr>
        <p:spPr>
          <a:xfrm>
            <a:off x="5669280" y="4626864"/>
            <a:ext cx="18288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$120.0M</a:t>
            </a:r>
            <a:endParaRPr lang="en-US" sz="1150" dirty="0"/>
          </a:p>
        </p:txBody>
      </p:sp>
      <p:sp>
        <p:nvSpPr>
          <p:cNvPr id="41" name="Text 39"/>
          <p:cNvSpPr/>
          <p:nvPr/>
        </p:nvSpPr>
        <p:spPr>
          <a:xfrm>
            <a:off x="7680960" y="4626864"/>
            <a:ext cx="27432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B2C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ServiceBench + Distro</a:t>
            </a:r>
            <a:endParaRPr lang="en-US" sz="1000" dirty="0"/>
          </a:p>
        </p:txBody>
      </p:sp>
      <p:sp>
        <p:nvSpPr>
          <p:cNvPr id="42" name="Shape 40"/>
          <p:cNvSpPr/>
          <p:nvPr/>
        </p:nvSpPr>
        <p:spPr>
          <a:xfrm>
            <a:off x="10607040" y="4608576"/>
            <a:ext cx="1188720" cy="237744"/>
          </a:xfrm>
          <a:prstGeom prst="roundRect">
            <a:avLst>
              <a:gd name="adj" fmla="val 15385"/>
            </a:avLst>
          </a:prstGeom>
          <a:solidFill>
            <a:srgbClr val="EDE8F5"/>
          </a:solidFill>
          <a:ln w="12700">
            <a:solidFill>
              <a:srgbClr val="EDE8F5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10607040" y="4608576"/>
            <a:ext cx="118872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7B3F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⏱  Migrating</a:t>
            </a:r>
            <a:endParaRPr lang="en-US" sz="800" dirty="0"/>
          </a:p>
        </p:txBody>
      </p:sp>
      <p:sp>
        <p:nvSpPr>
          <p:cNvPr id="44" name="Shape 42"/>
          <p:cNvSpPr/>
          <p:nvPr/>
        </p:nvSpPr>
        <p:spPr>
          <a:xfrm>
            <a:off x="457200" y="5029200"/>
            <a:ext cx="11274552" cy="0"/>
          </a:xfrm>
          <a:prstGeom prst="line">
            <a:avLst/>
          </a:prstGeom>
          <a:noFill/>
          <a:ln w="3810">
            <a:solidFill>
              <a:srgbClr val="DDDDDD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594360" y="5084064"/>
            <a:ext cx="50292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Same-Unit Repair</a:t>
            </a:r>
            <a:endParaRPr lang="en-US" sz="1100" dirty="0"/>
          </a:p>
        </p:txBody>
      </p:sp>
      <p:sp>
        <p:nvSpPr>
          <p:cNvPr id="46" name="Text 44"/>
          <p:cNvSpPr/>
          <p:nvPr/>
        </p:nvSpPr>
        <p:spPr>
          <a:xfrm>
            <a:off x="594360" y="5303520"/>
            <a:ext cx="50292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3rd-party repair vendors</a:t>
            </a:r>
            <a:endParaRPr lang="en-US" sz="850" dirty="0"/>
          </a:p>
        </p:txBody>
      </p:sp>
      <p:sp>
        <p:nvSpPr>
          <p:cNvPr id="47" name="Text 45"/>
          <p:cNvSpPr/>
          <p:nvPr/>
        </p:nvSpPr>
        <p:spPr>
          <a:xfrm>
            <a:off x="5669280" y="5138928"/>
            <a:ext cx="18288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$6.3M</a:t>
            </a:r>
            <a:endParaRPr lang="en-US" sz="1150" dirty="0"/>
          </a:p>
        </p:txBody>
      </p:sp>
      <p:sp>
        <p:nvSpPr>
          <p:cNvPr id="48" name="Text 46"/>
          <p:cNvSpPr/>
          <p:nvPr/>
        </p:nvSpPr>
        <p:spPr>
          <a:xfrm>
            <a:off x="7680960" y="5138928"/>
            <a:ext cx="27432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B2C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ServiceBench</a:t>
            </a:r>
            <a:endParaRPr lang="en-US" sz="1000" dirty="0"/>
          </a:p>
        </p:txBody>
      </p:sp>
      <p:sp>
        <p:nvSpPr>
          <p:cNvPr id="49" name="Shape 47"/>
          <p:cNvSpPr/>
          <p:nvPr/>
        </p:nvSpPr>
        <p:spPr>
          <a:xfrm>
            <a:off x="10607040" y="5120640"/>
            <a:ext cx="1188720" cy="237744"/>
          </a:xfrm>
          <a:prstGeom prst="roundRect">
            <a:avLst>
              <a:gd name="adj" fmla="val 15385"/>
            </a:avLst>
          </a:prstGeom>
          <a:solidFill>
            <a:srgbClr val="EDE8F5"/>
          </a:solidFill>
          <a:ln w="12700">
            <a:solidFill>
              <a:srgbClr val="EDE8F5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10607040" y="5120640"/>
            <a:ext cx="118872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7B3F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⏱  Migrating</a:t>
            </a:r>
            <a:endParaRPr lang="en-US" sz="800" dirty="0"/>
          </a:p>
        </p:txBody>
      </p:sp>
      <p:sp>
        <p:nvSpPr>
          <p:cNvPr id="51" name="Shape 49"/>
          <p:cNvSpPr/>
          <p:nvPr/>
        </p:nvSpPr>
        <p:spPr>
          <a:xfrm>
            <a:off x="457200" y="5541264"/>
            <a:ext cx="11274552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594360" y="5632704"/>
            <a:ext cx="5029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inventory value</a:t>
            </a:r>
            <a:endParaRPr lang="en-US" sz="1100" dirty="0"/>
          </a:p>
        </p:txBody>
      </p:sp>
      <p:sp>
        <p:nvSpPr>
          <p:cNvPr id="53" name="Text 51"/>
          <p:cNvSpPr/>
          <p:nvPr/>
        </p:nvSpPr>
        <p:spPr>
          <a:xfrm>
            <a:off x="5669280" y="5632704"/>
            <a:ext cx="1828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~$516.9M</a:t>
            </a:r>
            <a:endParaRPr lang="en-US" sz="1150" dirty="0"/>
          </a:p>
        </p:txBody>
      </p:sp>
      <p:sp>
        <p:nvSpPr>
          <p:cNvPr id="54" name="Text 52"/>
          <p:cNvSpPr/>
          <p:nvPr/>
        </p:nvSpPr>
        <p:spPr>
          <a:xfrm>
            <a:off x="7680960" y="5632704"/>
            <a:ext cx="4114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Across all programs</a:t>
            </a:r>
            <a:endParaRPr lang="en-US" sz="1000" dirty="0"/>
          </a:p>
        </p:txBody>
      </p:sp>
      <p:sp>
        <p:nvSpPr>
          <p:cNvPr id="55" name="Shape 53"/>
          <p:cNvSpPr/>
          <p:nvPr/>
        </p:nvSpPr>
        <p:spPr>
          <a:xfrm>
            <a:off x="365760" y="5394960"/>
            <a:ext cx="5577840" cy="749808"/>
          </a:xfrm>
          <a:prstGeom prst="roundRect">
            <a:avLst>
              <a:gd name="adj" fmla="val 7317"/>
            </a:avLst>
          </a:prstGeom>
          <a:solidFill>
            <a:srgbClr val="E6F4EA"/>
          </a:solidFill>
          <a:ln w="6350">
            <a:solidFill>
              <a:srgbClr val="C8E6C9"/>
            </a:solidFill>
            <a:prstDash val="solid"/>
          </a:ln>
        </p:spPr>
      </p:sp>
      <p:sp>
        <p:nvSpPr>
          <p:cNvPr id="56" name="Shape 54"/>
          <p:cNvSpPr/>
          <p:nvPr/>
        </p:nvSpPr>
        <p:spPr>
          <a:xfrm>
            <a:off x="512064" y="5614416"/>
            <a:ext cx="310896" cy="310896"/>
          </a:xfrm>
          <a:prstGeom prst="ellipse">
            <a:avLst/>
          </a:prstGeom>
          <a:solidFill>
            <a:srgbClr val="1B6B2B"/>
          </a:solidFill>
          <a:ln w="12700">
            <a:solidFill>
              <a:srgbClr val="1B6B2B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512064" y="5614416"/>
            <a:ext cx="310896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000" dirty="0"/>
          </a:p>
        </p:txBody>
      </p:sp>
      <p:sp>
        <p:nvSpPr>
          <p:cNvPr id="58" name="Text 56"/>
          <p:cNvSpPr/>
          <p:nvPr/>
        </p:nvSpPr>
        <p:spPr>
          <a:xfrm>
            <a:off x="932688" y="5449824"/>
            <a:ext cx="228600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1B6B2B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~$390.6M</a:t>
            </a:r>
            <a:endParaRPr lang="en-US" sz="2200" dirty="0"/>
          </a:p>
        </p:txBody>
      </p:sp>
      <p:sp>
        <p:nvSpPr>
          <p:cNvPr id="59" name="Text 57"/>
          <p:cNvSpPr/>
          <p:nvPr/>
        </p:nvSpPr>
        <p:spPr>
          <a:xfrm>
            <a:off x="932688" y="5815584"/>
            <a:ext cx="4754880" cy="2011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Already in D365 F&amp;O</a:t>
            </a:r>
            <a:endParaRPr lang="en-US" sz="900" dirty="0"/>
          </a:p>
        </p:txBody>
      </p:sp>
      <p:sp>
        <p:nvSpPr>
          <p:cNvPr id="60" name="Shape 58"/>
          <p:cNvSpPr/>
          <p:nvPr/>
        </p:nvSpPr>
        <p:spPr>
          <a:xfrm>
            <a:off x="6126480" y="5394960"/>
            <a:ext cx="5669280" cy="749808"/>
          </a:xfrm>
          <a:prstGeom prst="roundRect">
            <a:avLst>
              <a:gd name="adj" fmla="val 7317"/>
            </a:avLst>
          </a:prstGeom>
          <a:solidFill>
            <a:srgbClr val="EDE8F5"/>
          </a:solidFill>
          <a:ln w="6350">
            <a:solidFill>
              <a:srgbClr val="C4AEED"/>
            </a:solidFill>
            <a:prstDash val="solid"/>
          </a:ln>
        </p:spPr>
      </p:sp>
      <p:sp>
        <p:nvSpPr>
          <p:cNvPr id="61" name="Shape 59"/>
          <p:cNvSpPr/>
          <p:nvPr/>
        </p:nvSpPr>
        <p:spPr>
          <a:xfrm>
            <a:off x="6272784" y="5614416"/>
            <a:ext cx="310896" cy="310896"/>
          </a:xfrm>
          <a:prstGeom prst="ellipse">
            <a:avLst/>
          </a:prstGeom>
          <a:solidFill>
            <a:srgbClr val="5B2C8D"/>
          </a:solidFill>
          <a:ln w="12700">
            <a:solidFill>
              <a:srgbClr val="5B2C8D"/>
            </a:solidFill>
            <a:prstDash val="solid"/>
          </a:ln>
        </p:spPr>
      </p:sp>
      <p:sp>
        <p:nvSpPr>
          <p:cNvPr id="62" name="Text 60"/>
          <p:cNvSpPr/>
          <p:nvPr/>
        </p:nvSpPr>
        <p:spPr>
          <a:xfrm>
            <a:off x="6272784" y="5596128"/>
            <a:ext cx="310896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⏱</a:t>
            </a:r>
            <a:endParaRPr lang="en-US" sz="1000" dirty="0"/>
          </a:p>
        </p:txBody>
      </p:sp>
      <p:sp>
        <p:nvSpPr>
          <p:cNvPr id="63" name="Text 61"/>
          <p:cNvSpPr/>
          <p:nvPr/>
        </p:nvSpPr>
        <p:spPr>
          <a:xfrm>
            <a:off x="6693408" y="5449824"/>
            <a:ext cx="228600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5B2C8D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$126.3M</a:t>
            </a:r>
            <a:endParaRPr lang="en-US" sz="2200" dirty="0"/>
          </a:p>
        </p:txBody>
      </p:sp>
      <p:sp>
        <p:nvSpPr>
          <p:cNvPr id="64" name="Text 62"/>
          <p:cNvSpPr/>
          <p:nvPr/>
        </p:nvSpPr>
        <p:spPr>
          <a:xfrm>
            <a:off x="6693408" y="5815584"/>
            <a:ext cx="4754880" cy="2011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remaining migration (~24%)</a:t>
            </a:r>
            <a:endParaRPr lang="en-US" sz="900" dirty="0"/>
          </a:p>
        </p:txBody>
      </p:sp>
      <p:sp>
        <p:nvSpPr>
          <p:cNvPr id="65" name="Text 63"/>
          <p:cNvSpPr/>
          <p:nvPr/>
        </p:nvSpPr>
        <p:spPr>
          <a:xfrm>
            <a:off x="365760" y="6309360"/>
            <a:ext cx="11457432" cy="16459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Advance Exchange is mail replacement; NDES is Next-Day Expert Delivery &amp; Setup; DES is Delivery &amp; Expert Setup (replacement via Expert). Inventory totals ~$516.9M across all programs.</a:t>
            </a:r>
            <a:endParaRPr lang="en-US" sz="650" dirty="0"/>
          </a:p>
        </p:txBody>
      </p:sp>
      <p:sp>
        <p:nvSpPr>
          <p:cNvPr id="66" name="Shape 64"/>
          <p:cNvSpPr/>
          <p:nvPr/>
        </p:nvSpPr>
        <p:spPr>
          <a:xfrm>
            <a:off x="0" y="6473952"/>
            <a:ext cx="12188952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67" name="Text 65"/>
          <p:cNvSpPr/>
          <p:nvPr/>
        </p:nvSpPr>
        <p:spPr>
          <a:xfrm>
            <a:off x="365760" y="6510528"/>
            <a:ext cx="13716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5B2C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asurion</a:t>
            </a:r>
            <a:endParaRPr lang="en-US" sz="1100" dirty="0"/>
          </a:p>
        </p:txBody>
      </p:sp>
      <p:sp>
        <p:nvSpPr>
          <p:cNvPr id="68" name="Text 66"/>
          <p:cNvSpPr/>
          <p:nvPr/>
        </p:nvSpPr>
        <p:spPr>
          <a:xfrm>
            <a:off x="0" y="6510528"/>
            <a:ext cx="12188952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spc="200" kern="0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FINANCIAL RISK</a:t>
            </a:r>
            <a:endParaRPr lang="en-US" sz="800" dirty="0"/>
          </a:p>
        </p:txBody>
      </p:sp>
      <p:sp>
        <p:nvSpPr>
          <p:cNvPr id="69" name="Text 67"/>
          <p:cNvSpPr/>
          <p:nvPr/>
        </p:nvSpPr>
        <p:spPr>
          <a:xfrm>
            <a:off x="11548872" y="6510528"/>
            <a:ext cx="4572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292608"/>
            <a:ext cx="73152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5B2C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 — MECHANISM · FUTURE STATE</a:t>
            </a:r>
            <a:endParaRPr lang="en-US" sz="800" dirty="0"/>
          </a:p>
        </p:txBody>
      </p:sp>
      <p:sp>
        <p:nvSpPr>
          <p:cNvPr id="3" name="Text 1"/>
          <p:cNvSpPr/>
          <p:nvPr/>
        </p:nvSpPr>
        <p:spPr>
          <a:xfrm>
            <a:off x="365760" y="493776"/>
            <a:ext cx="11457432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600" dirty="0">
                <a:solidFill>
                  <a:srgbClr val="111111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Fulfillment systems connect every movement</a:t>
            </a:r>
            <a:endParaRPr lang="en-US" sz="2600" dirty="0"/>
          </a:p>
          <a:p>
            <a:pPr indent="0" marL="0">
              <a:buNone/>
            </a:pPr>
            <a:r>
              <a:rPr lang="en-US" sz="2600" dirty="0">
                <a:solidFill>
                  <a:srgbClr val="111111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to one operating model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365760" y="1508760"/>
            <a:ext cx="475488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spc="200" kern="0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PHYSICAL INVENTORY MOVEMENT</a:t>
            </a:r>
            <a:endParaRPr lang="en-US" sz="750" dirty="0"/>
          </a:p>
        </p:txBody>
      </p:sp>
      <p:sp>
        <p:nvSpPr>
          <p:cNvPr id="5" name="Text 3"/>
          <p:cNvSpPr/>
          <p:nvPr/>
        </p:nvSpPr>
        <p:spPr>
          <a:xfrm>
            <a:off x="5303520" y="1508760"/>
            <a:ext cx="201168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spc="100" kern="0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BECOMES  →</a:t>
            </a:r>
            <a:endParaRPr lang="en-US" sz="750" dirty="0"/>
          </a:p>
        </p:txBody>
      </p:sp>
      <p:sp>
        <p:nvSpPr>
          <p:cNvPr id="6" name="Text 4"/>
          <p:cNvSpPr/>
          <p:nvPr/>
        </p:nvSpPr>
        <p:spPr>
          <a:xfrm>
            <a:off x="8412480" y="1508760"/>
            <a:ext cx="36576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b="1" spc="200" kern="0" dirty="0">
                <a:solidFill>
                  <a:srgbClr val="5B2C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FINANCIAL ACCOUNTABILITY</a:t>
            </a:r>
            <a:endParaRPr lang="en-US" sz="750" dirty="0"/>
          </a:p>
        </p:txBody>
      </p:sp>
      <p:sp>
        <p:nvSpPr>
          <p:cNvPr id="7" name="Shape 5"/>
          <p:cNvSpPr/>
          <p:nvPr/>
        </p:nvSpPr>
        <p:spPr>
          <a:xfrm>
            <a:off x="365760" y="1709928"/>
            <a:ext cx="11457432" cy="0"/>
          </a:xfrm>
          <a:prstGeom prst="line">
            <a:avLst/>
          </a:prstGeom>
          <a:noFill/>
          <a:ln w="9525">
            <a:solidFill>
              <a:srgbClr val="DDDDDD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65760" y="1783080"/>
            <a:ext cx="1426464" cy="877824"/>
          </a:xfrm>
          <a:prstGeom prst="roundRect">
            <a:avLst>
              <a:gd name="adj" fmla="val 8333"/>
            </a:avLst>
          </a:prstGeom>
          <a:solidFill>
            <a:srgbClr val="EDE8F5"/>
          </a:solidFill>
          <a:ln w="9525">
            <a:solidFill>
              <a:srgbClr val="C4AEED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914400" y="1874520"/>
            <a:ext cx="329184" cy="329184"/>
          </a:xfrm>
          <a:prstGeom prst="ellipse">
            <a:avLst/>
          </a:prstGeom>
          <a:solidFill>
            <a:srgbClr val="EDE8F5"/>
          </a:solidFill>
          <a:ln w="12700">
            <a:solidFill>
              <a:srgbClr val="EDE8F5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65760" y="2258568"/>
            <a:ext cx="1426464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5B2C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Procurement</a:t>
            </a:r>
            <a:endParaRPr lang="en-US" sz="850" dirty="0"/>
          </a:p>
        </p:txBody>
      </p:sp>
      <p:sp>
        <p:nvSpPr>
          <p:cNvPr id="11" name="Text 9"/>
          <p:cNvSpPr/>
          <p:nvPr/>
        </p:nvSpPr>
        <p:spPr>
          <a:xfrm>
            <a:off x="1810512" y="2093976"/>
            <a:ext cx="245364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2037588" y="1783080"/>
            <a:ext cx="1426464" cy="877824"/>
          </a:xfrm>
          <a:prstGeom prst="roundRect">
            <a:avLst>
              <a:gd name="adj" fmla="val 8333"/>
            </a:avLst>
          </a:prstGeom>
          <a:solidFill>
            <a:srgbClr val="EDE8F5"/>
          </a:solidFill>
          <a:ln w="9525">
            <a:solidFill>
              <a:srgbClr val="C4AEED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2586228" y="1874520"/>
            <a:ext cx="329184" cy="329184"/>
          </a:xfrm>
          <a:prstGeom prst="ellipse">
            <a:avLst/>
          </a:prstGeom>
          <a:solidFill>
            <a:srgbClr val="EDE8F5"/>
          </a:solidFill>
          <a:ln w="12700">
            <a:solidFill>
              <a:srgbClr val="EDE8F5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037588" y="2258568"/>
            <a:ext cx="1426464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5B2C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Warehouse</a:t>
            </a:r>
            <a:endParaRPr lang="en-US" sz="850" dirty="0"/>
          </a:p>
        </p:txBody>
      </p:sp>
      <p:sp>
        <p:nvSpPr>
          <p:cNvPr id="15" name="Text 13"/>
          <p:cNvSpPr/>
          <p:nvPr/>
        </p:nvSpPr>
        <p:spPr>
          <a:xfrm>
            <a:off x="3482340" y="2093976"/>
            <a:ext cx="245364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3709416" y="1783080"/>
            <a:ext cx="1426464" cy="877824"/>
          </a:xfrm>
          <a:prstGeom prst="roundRect">
            <a:avLst>
              <a:gd name="adj" fmla="val 8333"/>
            </a:avLst>
          </a:prstGeom>
          <a:solidFill>
            <a:srgbClr val="EDE8F5"/>
          </a:solidFill>
          <a:ln w="9525">
            <a:solidFill>
              <a:srgbClr val="C4AEED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4258056" y="1874520"/>
            <a:ext cx="329184" cy="329184"/>
          </a:xfrm>
          <a:prstGeom prst="ellipse">
            <a:avLst/>
          </a:prstGeom>
          <a:solidFill>
            <a:srgbClr val="EDE8F5"/>
          </a:solidFill>
          <a:ln w="12700">
            <a:solidFill>
              <a:srgbClr val="EDE8F5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709416" y="2258568"/>
            <a:ext cx="1426464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5B2C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Field Location</a:t>
            </a:r>
            <a:endParaRPr lang="en-US" sz="850" dirty="0"/>
          </a:p>
          <a:p>
            <a:pPr algn="ctr" indent="0" marL="0">
              <a:buNone/>
            </a:pPr>
            <a:r>
              <a:rPr lang="en-US" sz="850" b="1" dirty="0">
                <a:solidFill>
                  <a:srgbClr val="5B2C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 Store</a:t>
            </a:r>
            <a:endParaRPr lang="en-US" sz="850" dirty="0"/>
          </a:p>
        </p:txBody>
      </p:sp>
      <p:sp>
        <p:nvSpPr>
          <p:cNvPr id="19" name="Text 17"/>
          <p:cNvSpPr/>
          <p:nvPr/>
        </p:nvSpPr>
        <p:spPr>
          <a:xfrm>
            <a:off x="5154168" y="2093976"/>
            <a:ext cx="245364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5381244" y="1783080"/>
            <a:ext cx="1426464" cy="877824"/>
          </a:xfrm>
          <a:prstGeom prst="roundRect">
            <a:avLst>
              <a:gd name="adj" fmla="val 8333"/>
            </a:avLst>
          </a:prstGeom>
          <a:solidFill>
            <a:srgbClr val="EDE8F5"/>
          </a:solidFill>
          <a:ln w="9525">
            <a:solidFill>
              <a:srgbClr val="C4AEED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5929884" y="1874520"/>
            <a:ext cx="329184" cy="329184"/>
          </a:xfrm>
          <a:prstGeom prst="ellipse">
            <a:avLst/>
          </a:prstGeom>
          <a:solidFill>
            <a:srgbClr val="EDE8F5"/>
          </a:solidFill>
          <a:ln w="12700">
            <a:solidFill>
              <a:srgbClr val="EDE8F5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381244" y="2258568"/>
            <a:ext cx="1426464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5B2C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Customer</a:t>
            </a:r>
            <a:endParaRPr lang="en-US" sz="850" dirty="0"/>
          </a:p>
          <a:p>
            <a:pPr algn="ctr" indent="0" marL="0">
              <a:buNone/>
            </a:pPr>
            <a:r>
              <a:rPr lang="en-US" sz="850" b="1" dirty="0">
                <a:solidFill>
                  <a:srgbClr val="5B2C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Fulfillment</a:t>
            </a:r>
            <a:endParaRPr lang="en-US" sz="850" dirty="0"/>
          </a:p>
        </p:txBody>
      </p:sp>
      <p:sp>
        <p:nvSpPr>
          <p:cNvPr id="23" name="Text 21"/>
          <p:cNvSpPr/>
          <p:nvPr/>
        </p:nvSpPr>
        <p:spPr>
          <a:xfrm>
            <a:off x="6825996" y="2093976"/>
            <a:ext cx="245364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7053072" y="1783080"/>
            <a:ext cx="1426464" cy="877824"/>
          </a:xfrm>
          <a:prstGeom prst="roundRect">
            <a:avLst>
              <a:gd name="adj" fmla="val 8333"/>
            </a:avLst>
          </a:prstGeom>
          <a:solidFill>
            <a:srgbClr val="7B4FBA"/>
          </a:solidFill>
          <a:ln w="9525">
            <a:solidFill>
              <a:srgbClr val="7B4FBA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7601712" y="1874520"/>
            <a:ext cx="329184" cy="329184"/>
          </a:xfrm>
          <a:prstGeom prst="ellipse">
            <a:avLst/>
          </a:prstGeom>
          <a:solidFill>
            <a:srgbClr val="9B72CC"/>
          </a:solidFill>
          <a:ln w="12700">
            <a:solidFill>
              <a:srgbClr val="9B72CC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053072" y="2258568"/>
            <a:ext cx="1426464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Inventory</a:t>
            </a:r>
            <a:endParaRPr lang="en-US" sz="850" dirty="0"/>
          </a:p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Consumption</a:t>
            </a:r>
            <a:endParaRPr lang="en-US" sz="850" dirty="0"/>
          </a:p>
        </p:txBody>
      </p:sp>
      <p:sp>
        <p:nvSpPr>
          <p:cNvPr id="27" name="Text 25"/>
          <p:cNvSpPr/>
          <p:nvPr/>
        </p:nvSpPr>
        <p:spPr>
          <a:xfrm>
            <a:off x="8497824" y="2093976"/>
            <a:ext cx="245364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8724900" y="1783080"/>
            <a:ext cx="1426464" cy="877824"/>
          </a:xfrm>
          <a:prstGeom prst="roundRect">
            <a:avLst>
              <a:gd name="adj" fmla="val 8333"/>
            </a:avLst>
          </a:prstGeom>
          <a:solidFill>
            <a:srgbClr val="5B2C8D"/>
          </a:solidFill>
          <a:ln w="9525">
            <a:solidFill>
              <a:srgbClr val="5B2C8D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9273540" y="1874520"/>
            <a:ext cx="329184" cy="329184"/>
          </a:xfrm>
          <a:prstGeom prst="ellipse">
            <a:avLst/>
          </a:prstGeom>
          <a:solidFill>
            <a:srgbClr val="7B4FBA"/>
          </a:solidFill>
          <a:ln w="12700">
            <a:solidFill>
              <a:srgbClr val="7B4FBA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8724900" y="2258568"/>
            <a:ext cx="1426464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Financial</a:t>
            </a:r>
            <a:endParaRPr lang="en-US" sz="850" dirty="0"/>
          </a:p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Reconciliation</a:t>
            </a:r>
            <a:endParaRPr lang="en-US" sz="850" dirty="0"/>
          </a:p>
        </p:txBody>
      </p:sp>
      <p:sp>
        <p:nvSpPr>
          <p:cNvPr id="31" name="Text 29"/>
          <p:cNvSpPr/>
          <p:nvPr/>
        </p:nvSpPr>
        <p:spPr>
          <a:xfrm>
            <a:off x="10169652" y="2093976"/>
            <a:ext cx="245364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300" dirty="0"/>
          </a:p>
        </p:txBody>
      </p:sp>
      <p:sp>
        <p:nvSpPr>
          <p:cNvPr id="32" name="Shape 30"/>
          <p:cNvSpPr/>
          <p:nvPr/>
        </p:nvSpPr>
        <p:spPr>
          <a:xfrm>
            <a:off x="10396728" y="1783080"/>
            <a:ext cx="1426464" cy="877824"/>
          </a:xfrm>
          <a:prstGeom prst="roundRect">
            <a:avLst>
              <a:gd name="adj" fmla="val 8333"/>
            </a:avLst>
          </a:prstGeom>
          <a:solidFill>
            <a:srgbClr val="5B2C8D"/>
          </a:solidFill>
          <a:ln w="9525">
            <a:solidFill>
              <a:srgbClr val="5B2C8D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10945368" y="1874520"/>
            <a:ext cx="329184" cy="329184"/>
          </a:xfrm>
          <a:prstGeom prst="ellipse">
            <a:avLst/>
          </a:prstGeom>
          <a:solidFill>
            <a:srgbClr val="7B4FBA"/>
          </a:solidFill>
          <a:ln w="12700">
            <a:solidFill>
              <a:srgbClr val="7B4FBA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10396728" y="2258568"/>
            <a:ext cx="1426464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Client Billing</a:t>
            </a:r>
            <a:endParaRPr lang="en-US" sz="850" dirty="0"/>
          </a:p>
        </p:txBody>
      </p:sp>
      <p:sp>
        <p:nvSpPr>
          <p:cNvPr id="35" name="Shape 33"/>
          <p:cNvSpPr/>
          <p:nvPr/>
        </p:nvSpPr>
        <p:spPr>
          <a:xfrm>
            <a:off x="365760" y="2825496"/>
            <a:ext cx="11457432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365760" y="2916936"/>
            <a:ext cx="5285232" cy="2798064"/>
          </a:xfrm>
          <a:prstGeom prst="roundRect">
            <a:avLst>
              <a:gd name="adj" fmla="val 2288"/>
            </a:avLst>
          </a:prstGeom>
          <a:solidFill>
            <a:srgbClr val="F9F9F9"/>
          </a:solidFill>
          <a:ln w="9525">
            <a:solidFill>
              <a:srgbClr val="DDDDDD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48640" y="3063240"/>
            <a:ext cx="128016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200" kern="0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TODAY</a:t>
            </a:r>
            <a:endParaRPr lang="en-US" sz="850" dirty="0"/>
          </a:p>
        </p:txBody>
      </p:sp>
      <p:sp>
        <p:nvSpPr>
          <p:cNvPr id="38" name="Shape 36"/>
          <p:cNvSpPr/>
          <p:nvPr/>
        </p:nvSpPr>
        <p:spPr>
          <a:xfrm>
            <a:off x="2103120" y="3044952"/>
            <a:ext cx="3337560" cy="256032"/>
          </a:xfrm>
          <a:prstGeom prst="roundRect">
            <a:avLst>
              <a:gd name="adj" fmla="val 14286"/>
            </a:avLst>
          </a:prstGeom>
          <a:solidFill>
            <a:srgbClr val="DDDDDD"/>
          </a:solidFill>
          <a:ln w="12700">
            <a:solidFill>
              <a:srgbClr val="DDDDDD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2139696" y="3044952"/>
            <a:ext cx="326440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Multiple disconnected systems</a:t>
            </a:r>
            <a:endParaRPr lang="en-US" sz="850" dirty="0"/>
          </a:p>
        </p:txBody>
      </p:sp>
      <p:sp>
        <p:nvSpPr>
          <p:cNvPr id="40" name="Text 38"/>
          <p:cNvSpPr/>
          <p:nvPr/>
        </p:nvSpPr>
        <p:spPr>
          <a:xfrm>
            <a:off x="548640" y="3392424"/>
            <a:ext cx="4956048" cy="3261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Inventory synchronization</a:t>
            </a:r>
            <a:endParaRPr lang="en-US" sz="1000" dirty="0"/>
          </a:p>
        </p:txBody>
      </p:sp>
      <p:sp>
        <p:nvSpPr>
          <p:cNvPr id="41" name="Shape 39"/>
          <p:cNvSpPr/>
          <p:nvPr/>
        </p:nvSpPr>
        <p:spPr>
          <a:xfrm>
            <a:off x="493776" y="3736848"/>
            <a:ext cx="5029200" cy="0"/>
          </a:xfrm>
          <a:prstGeom prst="line">
            <a:avLst/>
          </a:prstGeom>
          <a:noFill/>
          <a:ln w="4445">
            <a:solidFill>
              <a:srgbClr val="DDDDDD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48640" y="3773424"/>
            <a:ext cx="4956048" cy="3261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Manual reconciliation</a:t>
            </a:r>
            <a:endParaRPr lang="en-US" sz="1000" dirty="0"/>
          </a:p>
        </p:txBody>
      </p:sp>
      <p:sp>
        <p:nvSpPr>
          <p:cNvPr id="43" name="Shape 41"/>
          <p:cNvSpPr/>
          <p:nvPr/>
        </p:nvSpPr>
        <p:spPr>
          <a:xfrm>
            <a:off x="493776" y="4117848"/>
            <a:ext cx="5029200" cy="0"/>
          </a:xfrm>
          <a:prstGeom prst="line">
            <a:avLst/>
          </a:prstGeom>
          <a:noFill/>
          <a:ln w="4445">
            <a:solidFill>
              <a:srgbClr val="DDDDDD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548640" y="4154424"/>
            <a:ext cx="4956048" cy="3261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Billing disputes</a:t>
            </a:r>
            <a:endParaRPr lang="en-US" sz="1000" dirty="0"/>
          </a:p>
        </p:txBody>
      </p:sp>
      <p:sp>
        <p:nvSpPr>
          <p:cNvPr id="45" name="Shape 43"/>
          <p:cNvSpPr/>
          <p:nvPr/>
        </p:nvSpPr>
        <p:spPr>
          <a:xfrm>
            <a:off x="493776" y="4498848"/>
            <a:ext cx="5029200" cy="0"/>
          </a:xfrm>
          <a:prstGeom prst="line">
            <a:avLst/>
          </a:prstGeom>
          <a:noFill/>
          <a:ln w="4445">
            <a:solidFill>
              <a:srgbClr val="DDDDDD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548640" y="4535424"/>
            <a:ext cx="4956048" cy="3261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Delayed visibility</a:t>
            </a:r>
            <a:endParaRPr lang="en-US" sz="1000" dirty="0"/>
          </a:p>
        </p:txBody>
      </p:sp>
      <p:sp>
        <p:nvSpPr>
          <p:cNvPr id="47" name="Shape 45"/>
          <p:cNvSpPr/>
          <p:nvPr/>
        </p:nvSpPr>
        <p:spPr>
          <a:xfrm>
            <a:off x="493776" y="4879848"/>
            <a:ext cx="5029200" cy="0"/>
          </a:xfrm>
          <a:prstGeom prst="line">
            <a:avLst/>
          </a:prstGeom>
          <a:noFill/>
          <a:ln w="4445">
            <a:solidFill>
              <a:srgbClr val="DDDDDD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548640" y="4916424"/>
            <a:ext cx="4956048" cy="3261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Platform maintenance</a:t>
            </a:r>
            <a:endParaRPr lang="en-US" sz="1000" dirty="0"/>
          </a:p>
        </p:txBody>
      </p:sp>
      <p:sp>
        <p:nvSpPr>
          <p:cNvPr id="49" name="Shape 47"/>
          <p:cNvSpPr/>
          <p:nvPr/>
        </p:nvSpPr>
        <p:spPr>
          <a:xfrm>
            <a:off x="493776" y="5260848"/>
            <a:ext cx="5029200" cy="0"/>
          </a:xfrm>
          <a:prstGeom prst="line">
            <a:avLst/>
          </a:prstGeom>
          <a:noFill/>
          <a:ln w="4445">
            <a:solidFill>
              <a:srgbClr val="DDDDDD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548640" y="5297424"/>
            <a:ext cx="4956048" cy="3261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 integrations</a:t>
            </a:r>
            <a:endParaRPr lang="en-US" sz="1000" dirty="0"/>
          </a:p>
        </p:txBody>
      </p:sp>
      <p:sp>
        <p:nvSpPr>
          <p:cNvPr id="51" name="Shape 49"/>
          <p:cNvSpPr/>
          <p:nvPr/>
        </p:nvSpPr>
        <p:spPr>
          <a:xfrm>
            <a:off x="5833872" y="4078224"/>
            <a:ext cx="475488" cy="475488"/>
          </a:xfrm>
          <a:prstGeom prst="ellipse">
            <a:avLst/>
          </a:prstGeom>
          <a:solidFill>
            <a:srgbClr val="5B2C8D"/>
          </a:solidFill>
          <a:ln w="12700">
            <a:solidFill>
              <a:srgbClr val="5B2C8D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5833872" y="4078224"/>
            <a:ext cx="475488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300" dirty="0"/>
          </a:p>
        </p:txBody>
      </p:sp>
      <p:sp>
        <p:nvSpPr>
          <p:cNvPr id="53" name="Shape 51"/>
          <p:cNvSpPr/>
          <p:nvPr/>
        </p:nvSpPr>
        <p:spPr>
          <a:xfrm>
            <a:off x="6537960" y="2916936"/>
            <a:ext cx="5285232" cy="2798064"/>
          </a:xfrm>
          <a:prstGeom prst="roundRect">
            <a:avLst>
              <a:gd name="adj" fmla="val 2288"/>
            </a:avLst>
          </a:prstGeom>
          <a:solidFill>
            <a:srgbClr val="EDE8F5"/>
          </a:solidFill>
          <a:ln w="9525">
            <a:solidFill>
              <a:srgbClr val="C4AEED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6720840" y="3063240"/>
            <a:ext cx="128016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200" kern="0" dirty="0">
                <a:solidFill>
                  <a:srgbClr val="5B2C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FUTURE</a:t>
            </a:r>
            <a:endParaRPr lang="en-US" sz="850" dirty="0"/>
          </a:p>
        </p:txBody>
      </p:sp>
      <p:sp>
        <p:nvSpPr>
          <p:cNvPr id="55" name="Shape 53"/>
          <p:cNvSpPr/>
          <p:nvPr/>
        </p:nvSpPr>
        <p:spPr>
          <a:xfrm>
            <a:off x="8366760" y="3044952"/>
            <a:ext cx="3246120" cy="256032"/>
          </a:xfrm>
          <a:prstGeom prst="roundRect">
            <a:avLst>
              <a:gd name="adj" fmla="val 14286"/>
            </a:avLst>
          </a:prstGeom>
          <a:solidFill>
            <a:srgbClr val="5B2C8D"/>
          </a:solidFill>
          <a:ln w="12700">
            <a:solidFill>
              <a:srgbClr val="5B2C8D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8403336" y="3044952"/>
            <a:ext cx="317296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Unified operating model</a:t>
            </a:r>
            <a:endParaRPr lang="en-US" sz="850" dirty="0"/>
          </a:p>
        </p:txBody>
      </p:sp>
      <p:sp>
        <p:nvSpPr>
          <p:cNvPr id="57" name="Text 55"/>
          <p:cNvSpPr/>
          <p:nvPr/>
        </p:nvSpPr>
        <p:spPr>
          <a:xfrm>
            <a:off x="6720840" y="3392424"/>
            <a:ext cx="4956048" cy="271707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Inventory and finance move together</a:t>
            </a:r>
            <a:endParaRPr lang="en-US" sz="1000" dirty="0"/>
          </a:p>
        </p:txBody>
      </p:sp>
      <p:sp>
        <p:nvSpPr>
          <p:cNvPr id="58" name="Shape 56"/>
          <p:cNvSpPr/>
          <p:nvPr/>
        </p:nvSpPr>
        <p:spPr>
          <a:xfrm>
            <a:off x="6665976" y="3682419"/>
            <a:ext cx="5029200" cy="0"/>
          </a:xfrm>
          <a:prstGeom prst="line">
            <a:avLst/>
          </a:prstGeom>
          <a:noFill/>
          <a:ln w="4445">
            <a:solidFill>
              <a:srgbClr val="C4AEED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6720840" y="3718995"/>
            <a:ext cx="4956048" cy="271707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Real-time visibility</a:t>
            </a:r>
            <a:endParaRPr lang="en-US" sz="1000" dirty="0"/>
          </a:p>
        </p:txBody>
      </p:sp>
      <p:sp>
        <p:nvSpPr>
          <p:cNvPr id="60" name="Shape 58"/>
          <p:cNvSpPr/>
          <p:nvPr/>
        </p:nvSpPr>
        <p:spPr>
          <a:xfrm>
            <a:off x="6665976" y="4008991"/>
            <a:ext cx="5029200" cy="0"/>
          </a:xfrm>
          <a:prstGeom prst="line">
            <a:avLst/>
          </a:prstGeom>
          <a:noFill/>
          <a:ln w="4445">
            <a:solidFill>
              <a:srgbClr val="C4AEED"/>
            </a:solidFill>
            <a:prstDash val="solid"/>
          </a:ln>
        </p:spPr>
      </p:sp>
      <p:sp>
        <p:nvSpPr>
          <p:cNvPr id="61" name="Text 59"/>
          <p:cNvSpPr/>
          <p:nvPr/>
        </p:nvSpPr>
        <p:spPr>
          <a:xfrm>
            <a:off x="6720840" y="4045567"/>
            <a:ext cx="4956048" cy="271707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Explainable inventory movement</a:t>
            </a:r>
            <a:endParaRPr lang="en-US" sz="1000" dirty="0"/>
          </a:p>
        </p:txBody>
      </p:sp>
      <p:sp>
        <p:nvSpPr>
          <p:cNvPr id="62" name="Shape 60"/>
          <p:cNvSpPr/>
          <p:nvPr/>
        </p:nvSpPr>
        <p:spPr>
          <a:xfrm>
            <a:off x="6665976" y="4335562"/>
            <a:ext cx="5029200" cy="0"/>
          </a:xfrm>
          <a:prstGeom prst="line">
            <a:avLst/>
          </a:prstGeom>
          <a:noFill/>
          <a:ln w="4445">
            <a:solidFill>
              <a:srgbClr val="C4AEED"/>
            </a:solidFill>
            <a:prstDash val="solid"/>
          </a:ln>
        </p:spPr>
      </p:sp>
      <p:sp>
        <p:nvSpPr>
          <p:cNvPr id="63" name="Text 61"/>
          <p:cNvSpPr/>
          <p:nvPr/>
        </p:nvSpPr>
        <p:spPr>
          <a:xfrm>
            <a:off x="6720840" y="4372138"/>
            <a:ext cx="4956048" cy="271707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Explainable dollars</a:t>
            </a:r>
            <a:endParaRPr lang="en-US" sz="1000" dirty="0"/>
          </a:p>
        </p:txBody>
      </p:sp>
      <p:sp>
        <p:nvSpPr>
          <p:cNvPr id="64" name="Shape 62"/>
          <p:cNvSpPr/>
          <p:nvPr/>
        </p:nvSpPr>
        <p:spPr>
          <a:xfrm>
            <a:off x="6665976" y="4662134"/>
            <a:ext cx="5029200" cy="0"/>
          </a:xfrm>
          <a:prstGeom prst="line">
            <a:avLst/>
          </a:prstGeom>
          <a:noFill/>
          <a:ln w="4445">
            <a:solidFill>
              <a:srgbClr val="C4AEED"/>
            </a:solidFill>
            <a:prstDash val="solid"/>
          </a:ln>
        </p:spPr>
      </p:sp>
      <p:sp>
        <p:nvSpPr>
          <p:cNvPr id="65" name="Text 63"/>
          <p:cNvSpPr/>
          <p:nvPr/>
        </p:nvSpPr>
        <p:spPr>
          <a:xfrm>
            <a:off x="6720840" y="4698710"/>
            <a:ext cx="4956048" cy="271707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Unified fulfillment</a:t>
            </a:r>
            <a:endParaRPr lang="en-US" sz="1000" dirty="0"/>
          </a:p>
        </p:txBody>
      </p:sp>
      <p:sp>
        <p:nvSpPr>
          <p:cNvPr id="66" name="Shape 64"/>
          <p:cNvSpPr/>
          <p:nvPr/>
        </p:nvSpPr>
        <p:spPr>
          <a:xfrm>
            <a:off x="6665976" y="4988705"/>
            <a:ext cx="5029200" cy="0"/>
          </a:xfrm>
          <a:prstGeom prst="line">
            <a:avLst/>
          </a:prstGeom>
          <a:noFill/>
          <a:ln w="4445">
            <a:solidFill>
              <a:srgbClr val="C4AEED"/>
            </a:solidFill>
            <a:prstDash val="solid"/>
          </a:ln>
        </p:spPr>
      </p:sp>
      <p:sp>
        <p:nvSpPr>
          <p:cNvPr id="67" name="Text 65"/>
          <p:cNvSpPr/>
          <p:nvPr/>
        </p:nvSpPr>
        <p:spPr>
          <a:xfrm>
            <a:off x="6720840" y="5025281"/>
            <a:ext cx="4956048" cy="271707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Faster product launches</a:t>
            </a:r>
            <a:endParaRPr lang="en-US" sz="1000" dirty="0"/>
          </a:p>
        </p:txBody>
      </p:sp>
      <p:sp>
        <p:nvSpPr>
          <p:cNvPr id="68" name="Shape 66"/>
          <p:cNvSpPr/>
          <p:nvPr/>
        </p:nvSpPr>
        <p:spPr>
          <a:xfrm>
            <a:off x="6665976" y="5315277"/>
            <a:ext cx="5029200" cy="0"/>
          </a:xfrm>
          <a:prstGeom prst="line">
            <a:avLst/>
          </a:prstGeom>
          <a:noFill/>
          <a:ln w="4445">
            <a:solidFill>
              <a:srgbClr val="C4AEED"/>
            </a:solidFill>
            <a:prstDash val="solid"/>
          </a:ln>
        </p:spPr>
      </p:sp>
      <p:sp>
        <p:nvSpPr>
          <p:cNvPr id="69" name="Text 67"/>
          <p:cNvSpPr/>
          <p:nvPr/>
        </p:nvSpPr>
        <p:spPr>
          <a:xfrm>
            <a:off x="6720840" y="5351853"/>
            <a:ext cx="4956048" cy="271707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Better AI foundation</a:t>
            </a:r>
            <a:endParaRPr lang="en-US" sz="1000" dirty="0"/>
          </a:p>
        </p:txBody>
      </p:sp>
      <p:sp>
        <p:nvSpPr>
          <p:cNvPr id="70" name="Shape 68"/>
          <p:cNvSpPr/>
          <p:nvPr/>
        </p:nvSpPr>
        <p:spPr>
          <a:xfrm>
            <a:off x="365760" y="5843016"/>
            <a:ext cx="45720" cy="457200"/>
          </a:xfrm>
          <a:prstGeom prst="rect">
            <a:avLst/>
          </a:prstGeom>
          <a:solidFill>
            <a:srgbClr val="5B2C8D"/>
          </a:solidFill>
          <a:ln w="12700">
            <a:solidFill>
              <a:srgbClr val="5B2C8D"/>
            </a:solidFill>
            <a:prstDash val="solid"/>
          </a:ln>
        </p:spPr>
      </p:sp>
      <p:sp>
        <p:nvSpPr>
          <p:cNvPr id="71" name="Text 69"/>
          <p:cNvSpPr/>
          <p:nvPr/>
        </p:nvSpPr>
        <p:spPr>
          <a:xfrm>
            <a:off x="548640" y="5888736"/>
            <a:ext cx="1122883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Inventory and financial records should remain </a:t>
            </a:r>
            <a:pPr indent="0" marL="0">
              <a:buNone/>
            </a:pPr>
            <a:r>
              <a:rPr lang="en-US" sz="11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connected throughout the fulfillment lifecycle</a:t>
            </a:r>
            <a:pPr indent="0" marL="0">
              <a:buNone/>
            </a:pPr>
            <a:r>
              <a:rPr lang="en-US" sz="11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reconciliation becomes a natural outcome, not a separate activity.</a:t>
            </a:r>
            <a:endParaRPr lang="en-US" sz="1100" dirty="0"/>
          </a:p>
        </p:txBody>
      </p:sp>
      <p:sp>
        <p:nvSpPr>
          <p:cNvPr id="72" name="Text 70"/>
          <p:cNvSpPr/>
          <p:nvPr/>
        </p:nvSpPr>
        <p:spPr>
          <a:xfrm>
            <a:off x="365760" y="6309360"/>
            <a:ext cx="11457432" cy="16459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message: Every inventory movement eventually becomes a financial event — accountability must hold across every system handoff. Inventory accountability and financial accountability should be inseparable.</a:t>
            </a:r>
            <a:endParaRPr lang="en-US" sz="650" dirty="0"/>
          </a:p>
        </p:txBody>
      </p:sp>
      <p:sp>
        <p:nvSpPr>
          <p:cNvPr id="73" name="Shape 71"/>
          <p:cNvSpPr/>
          <p:nvPr/>
        </p:nvSpPr>
        <p:spPr>
          <a:xfrm>
            <a:off x="0" y="6473952"/>
            <a:ext cx="12188952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74" name="Text 72"/>
          <p:cNvSpPr/>
          <p:nvPr/>
        </p:nvSpPr>
        <p:spPr>
          <a:xfrm>
            <a:off x="365760" y="6510528"/>
            <a:ext cx="13716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5B2C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asurion</a:t>
            </a:r>
            <a:endParaRPr lang="en-US" sz="1100" dirty="0"/>
          </a:p>
        </p:txBody>
      </p:sp>
      <p:sp>
        <p:nvSpPr>
          <p:cNvPr id="75" name="Text 73"/>
          <p:cNvSpPr/>
          <p:nvPr/>
        </p:nvSpPr>
        <p:spPr>
          <a:xfrm>
            <a:off x="0" y="6510528"/>
            <a:ext cx="12188952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spc="200" kern="0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MECHANISM &amp; FUTURE STATE</a:t>
            </a:r>
            <a:endParaRPr lang="en-US" sz="800" dirty="0"/>
          </a:p>
        </p:txBody>
      </p:sp>
      <p:sp>
        <p:nvSpPr>
          <p:cNvPr id="76" name="Text 74"/>
          <p:cNvSpPr/>
          <p:nvPr/>
        </p:nvSpPr>
        <p:spPr>
          <a:xfrm>
            <a:off x="11548872" y="6510528"/>
            <a:ext cx="4572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292608"/>
            <a:ext cx="73152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5B2C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 — ROADMAP</a:t>
            </a:r>
            <a:endParaRPr lang="en-US" sz="800" dirty="0"/>
          </a:p>
        </p:txBody>
      </p:sp>
      <p:sp>
        <p:nvSpPr>
          <p:cNvPr id="3" name="Text 1"/>
          <p:cNvSpPr/>
          <p:nvPr/>
        </p:nvSpPr>
        <p:spPr>
          <a:xfrm>
            <a:off x="365760" y="502920"/>
            <a:ext cx="8686800" cy="1051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800" dirty="0">
                <a:solidFill>
                  <a:srgbClr val="111111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A phased path to consolidate every inventory</a:t>
            </a:r>
            <a:endParaRPr lang="en-US" sz="2800" dirty="0"/>
          </a:p>
          <a:p>
            <a:pPr indent="0" marL="0">
              <a:buNone/>
            </a:pPr>
            <a:r>
              <a:rPr lang="en-US" sz="2800" dirty="0">
                <a:solidFill>
                  <a:srgbClr val="111111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program onto a single ERP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8961120" y="566928"/>
            <a:ext cx="201168" cy="201168"/>
          </a:xfrm>
          <a:prstGeom prst="ellipse">
            <a:avLst/>
          </a:prstGeom>
          <a:solidFill>
            <a:srgbClr val="E6F4EA"/>
          </a:solidFill>
          <a:ln w="12700">
            <a:solidFill>
              <a:srgbClr val="E6F4EA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961120" y="566928"/>
            <a:ext cx="201168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9217152" y="566928"/>
            <a:ext cx="914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Completed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10040112" y="566928"/>
            <a:ext cx="201168" cy="201168"/>
          </a:xfrm>
          <a:prstGeom prst="ellipse">
            <a:avLst/>
          </a:prstGeom>
          <a:solidFill>
            <a:srgbClr val="5B2C8D"/>
          </a:solidFill>
          <a:ln w="12700">
            <a:solidFill>
              <a:srgbClr val="5B2C8D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0296144" y="566928"/>
            <a:ext cx="914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progress</a:t>
            </a:r>
            <a:endParaRPr lang="en-US" sz="850" dirty="0"/>
          </a:p>
        </p:txBody>
      </p:sp>
      <p:sp>
        <p:nvSpPr>
          <p:cNvPr id="9" name="Shape 7"/>
          <p:cNvSpPr/>
          <p:nvPr/>
        </p:nvSpPr>
        <p:spPr>
          <a:xfrm>
            <a:off x="11119104" y="566928"/>
            <a:ext cx="201168" cy="20116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AAAAAA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1375136" y="566928"/>
            <a:ext cx="914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Planned</a:t>
            </a:r>
            <a:endParaRPr lang="en-US" sz="850" dirty="0"/>
          </a:p>
        </p:txBody>
      </p:sp>
      <p:sp>
        <p:nvSpPr>
          <p:cNvPr id="11" name="Text 9"/>
          <p:cNvSpPr/>
          <p:nvPr/>
        </p:nvSpPr>
        <p:spPr>
          <a:xfrm>
            <a:off x="365760" y="1572768"/>
            <a:ext cx="11457432" cy="40233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Managing inventory and financials across separate systems creates reconciliation gaps where loss accumulates. Each phase consolidates another fragmented system into Dynamics 365 F&amp;O, establishing a single source of truth that improves financial control and visibility across every program.</a:t>
            </a:r>
            <a:endParaRPr lang="en-US" sz="950" dirty="0"/>
          </a:p>
        </p:txBody>
      </p:sp>
      <p:sp>
        <p:nvSpPr>
          <p:cNvPr id="12" name="Shape 10"/>
          <p:cNvSpPr/>
          <p:nvPr/>
        </p:nvSpPr>
        <p:spPr>
          <a:xfrm>
            <a:off x="365760" y="2066544"/>
            <a:ext cx="11457432" cy="4114800"/>
          </a:xfrm>
          <a:prstGeom prst="roundRect">
            <a:avLst>
              <a:gd name="adj" fmla="val 1333"/>
            </a:avLst>
          </a:prstGeom>
          <a:solidFill>
            <a:srgbClr val="FFFFFF"/>
          </a:solidFill>
          <a:ln w="9525">
            <a:solidFill>
              <a:srgbClr val="DDDDDD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48640" y="2157984"/>
            <a:ext cx="123444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</a:t>
            </a:r>
            <a:endParaRPr lang="en-US" sz="850" dirty="0"/>
          </a:p>
        </p:txBody>
      </p:sp>
      <p:sp>
        <p:nvSpPr>
          <p:cNvPr id="14" name="Shape 12"/>
          <p:cNvSpPr/>
          <p:nvPr/>
        </p:nvSpPr>
        <p:spPr>
          <a:xfrm>
            <a:off x="1965960" y="2194560"/>
            <a:ext cx="256032" cy="256032"/>
          </a:xfrm>
          <a:prstGeom prst="ellipse">
            <a:avLst/>
          </a:prstGeom>
          <a:solidFill>
            <a:srgbClr val="1B6B2B"/>
          </a:solidFill>
          <a:ln w="12700">
            <a:solidFill>
              <a:srgbClr val="1B6B2B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1965960" y="2194560"/>
            <a:ext cx="25603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2295144" y="2176272"/>
            <a:ext cx="5943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11111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2024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2898648" y="2203704"/>
            <a:ext cx="100584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1</a:t>
            </a:r>
            <a:endParaRPr lang="en-US" sz="850" dirty="0"/>
          </a:p>
        </p:txBody>
      </p:sp>
      <p:sp>
        <p:nvSpPr>
          <p:cNvPr id="18" name="Text 16"/>
          <p:cNvSpPr/>
          <p:nvPr/>
        </p:nvSpPr>
        <p:spPr>
          <a:xfrm>
            <a:off x="1965960" y="2468880"/>
            <a:ext cx="234086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Inventory SSoT for DES / NDES</a:t>
            </a:r>
            <a:endParaRPr lang="en-US" sz="950" dirty="0"/>
          </a:p>
        </p:txBody>
      </p:sp>
      <p:sp>
        <p:nvSpPr>
          <p:cNvPr id="19" name="Shape 17"/>
          <p:cNvSpPr/>
          <p:nvPr/>
        </p:nvSpPr>
        <p:spPr>
          <a:xfrm>
            <a:off x="4453128" y="2194560"/>
            <a:ext cx="256032" cy="256032"/>
          </a:xfrm>
          <a:prstGeom prst="ellipse">
            <a:avLst/>
          </a:prstGeom>
          <a:solidFill>
            <a:srgbClr val="5B2C8D"/>
          </a:solidFill>
          <a:ln w="12700">
            <a:solidFill>
              <a:srgbClr val="5B2C8D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4782312" y="2176272"/>
            <a:ext cx="5943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11111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2026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385816" y="2203704"/>
            <a:ext cx="100584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2</a:t>
            </a:r>
            <a:endParaRPr lang="en-US" sz="850" dirty="0"/>
          </a:p>
        </p:txBody>
      </p:sp>
      <p:sp>
        <p:nvSpPr>
          <p:cNvPr id="22" name="Text 20"/>
          <p:cNvSpPr/>
          <p:nvPr/>
        </p:nvSpPr>
        <p:spPr>
          <a:xfrm>
            <a:off x="4453128" y="2468880"/>
            <a:ext cx="234086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UBIF Next Gen Portal migration</a:t>
            </a:r>
            <a:endParaRPr lang="en-US" sz="950" dirty="0"/>
          </a:p>
        </p:txBody>
      </p:sp>
      <p:sp>
        <p:nvSpPr>
          <p:cNvPr id="23" name="Shape 21"/>
          <p:cNvSpPr/>
          <p:nvPr/>
        </p:nvSpPr>
        <p:spPr>
          <a:xfrm>
            <a:off x="6940296" y="2194560"/>
            <a:ext cx="256032" cy="256032"/>
          </a:xfrm>
          <a:prstGeom prst="ellipse">
            <a:avLst/>
          </a:prstGeom>
          <a:solidFill>
            <a:srgbClr val="5B2C8D"/>
          </a:solidFill>
          <a:ln w="12700">
            <a:solidFill>
              <a:srgbClr val="5B2C8D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7269480" y="2176272"/>
            <a:ext cx="5943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11111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2026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7872984" y="2203704"/>
            <a:ext cx="100584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3</a:t>
            </a:r>
            <a:endParaRPr lang="en-US" sz="850" dirty="0"/>
          </a:p>
        </p:txBody>
      </p:sp>
      <p:sp>
        <p:nvSpPr>
          <p:cNvPr id="26" name="Text 24"/>
          <p:cNvSpPr/>
          <p:nvPr/>
        </p:nvSpPr>
        <p:spPr>
          <a:xfrm>
            <a:off x="6940296" y="2468880"/>
            <a:ext cx="234086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Inventory SSoT for SUR</a:t>
            </a:r>
            <a:endParaRPr lang="en-US" sz="950" dirty="0"/>
          </a:p>
        </p:txBody>
      </p:sp>
      <p:sp>
        <p:nvSpPr>
          <p:cNvPr id="27" name="Shape 25"/>
          <p:cNvSpPr/>
          <p:nvPr/>
        </p:nvSpPr>
        <p:spPr>
          <a:xfrm>
            <a:off x="6940296" y="2752344"/>
            <a:ext cx="2340864" cy="219456"/>
          </a:xfrm>
          <a:prstGeom prst="roundRect">
            <a:avLst>
              <a:gd name="adj" fmla="val 16667"/>
            </a:avLst>
          </a:prstGeom>
          <a:solidFill>
            <a:srgbClr val="EDE8F5"/>
          </a:solidFill>
          <a:ln w="12700">
            <a:solidFill>
              <a:srgbClr val="EDE8F5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6976872" y="2752344"/>
            <a:ext cx="2267712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B2C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⇄  Depends on Next Gen Portal migration</a:t>
            </a:r>
            <a:endParaRPr lang="en-US" sz="750" dirty="0"/>
          </a:p>
        </p:txBody>
      </p:sp>
      <p:sp>
        <p:nvSpPr>
          <p:cNvPr id="29" name="Shape 27"/>
          <p:cNvSpPr/>
          <p:nvPr/>
        </p:nvSpPr>
        <p:spPr>
          <a:xfrm>
            <a:off x="9427464" y="2194560"/>
            <a:ext cx="256032" cy="25603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AAAAAA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9756648" y="2176272"/>
            <a:ext cx="5943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11111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2027</a:t>
            </a:r>
            <a:endParaRPr lang="en-US" sz="1300" dirty="0"/>
          </a:p>
        </p:txBody>
      </p:sp>
      <p:sp>
        <p:nvSpPr>
          <p:cNvPr id="31" name="Text 29"/>
          <p:cNvSpPr/>
          <p:nvPr/>
        </p:nvSpPr>
        <p:spPr>
          <a:xfrm>
            <a:off x="10360152" y="2203704"/>
            <a:ext cx="100584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4</a:t>
            </a:r>
            <a:endParaRPr lang="en-US" sz="850" dirty="0"/>
          </a:p>
        </p:txBody>
      </p:sp>
      <p:sp>
        <p:nvSpPr>
          <p:cNvPr id="32" name="Text 30"/>
          <p:cNvSpPr/>
          <p:nvPr/>
        </p:nvSpPr>
        <p:spPr>
          <a:xfrm>
            <a:off x="9427464" y="2468880"/>
            <a:ext cx="234086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UBIF Distro migration</a:t>
            </a:r>
            <a:endParaRPr lang="en-US" sz="950" dirty="0"/>
          </a:p>
        </p:txBody>
      </p:sp>
      <p:sp>
        <p:nvSpPr>
          <p:cNvPr id="33" name="Shape 31"/>
          <p:cNvSpPr/>
          <p:nvPr/>
        </p:nvSpPr>
        <p:spPr>
          <a:xfrm>
            <a:off x="457200" y="2962656"/>
            <a:ext cx="11274552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475488" y="2999232"/>
            <a:ext cx="1252728" cy="1920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spc="100" kern="0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CONSOLIDATION</a:t>
            </a:r>
            <a:endParaRPr lang="en-US" sz="850" dirty="0"/>
          </a:p>
        </p:txBody>
      </p:sp>
      <p:sp>
        <p:nvSpPr>
          <p:cNvPr id="35" name="Shape 33"/>
          <p:cNvSpPr/>
          <p:nvPr/>
        </p:nvSpPr>
        <p:spPr>
          <a:xfrm>
            <a:off x="1929384" y="3090672"/>
            <a:ext cx="2377440" cy="237744"/>
          </a:xfrm>
          <a:prstGeom prst="roundRect">
            <a:avLst>
              <a:gd name="adj" fmla="val 15385"/>
            </a:avLst>
          </a:prstGeom>
          <a:solidFill>
            <a:srgbClr val="EDE8F5"/>
          </a:solidFill>
          <a:ln w="12700">
            <a:solidFill>
              <a:srgbClr val="EDE8F5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1965960" y="3090672"/>
            <a:ext cx="2304288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5B2C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DAX + ServiceBench + KitKat → D365 F&amp;O</a:t>
            </a:r>
            <a:endParaRPr lang="en-US" sz="750" dirty="0"/>
          </a:p>
        </p:txBody>
      </p:sp>
      <p:sp>
        <p:nvSpPr>
          <p:cNvPr id="37" name="Text 35"/>
          <p:cNvSpPr/>
          <p:nvPr/>
        </p:nvSpPr>
        <p:spPr>
          <a:xfrm>
            <a:off x="1965960" y="3401568"/>
            <a:ext cx="2304288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Mobility Warehouse (DAX) and DES/NDES field inventory (ServiceBench, incl. the KitKat FSL UI) consolidated into the D365 F&amp;O ERP.</a:t>
            </a:r>
            <a:endParaRPr lang="en-US" sz="850" dirty="0"/>
          </a:p>
        </p:txBody>
      </p:sp>
      <p:sp>
        <p:nvSpPr>
          <p:cNvPr id="38" name="Shape 36"/>
          <p:cNvSpPr/>
          <p:nvPr/>
        </p:nvSpPr>
        <p:spPr>
          <a:xfrm>
            <a:off x="4416552" y="3090672"/>
            <a:ext cx="2377440" cy="237744"/>
          </a:xfrm>
          <a:prstGeom prst="roundRect">
            <a:avLst>
              <a:gd name="adj" fmla="val 15385"/>
            </a:avLst>
          </a:prstGeom>
          <a:solidFill>
            <a:srgbClr val="EDE8F5"/>
          </a:solidFill>
          <a:ln w="12700">
            <a:solidFill>
              <a:srgbClr val="EDE8F5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4453128" y="3090672"/>
            <a:ext cx="2304288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5B2C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BAU Portal → D365 F&amp;O</a:t>
            </a:r>
            <a:endParaRPr lang="en-US" sz="750" dirty="0"/>
          </a:p>
        </p:txBody>
      </p:sp>
      <p:sp>
        <p:nvSpPr>
          <p:cNvPr id="40" name="Text 38"/>
          <p:cNvSpPr/>
          <p:nvPr/>
        </p:nvSpPr>
        <p:spPr>
          <a:xfrm>
            <a:off x="4453128" y="3401568"/>
            <a:ext cx="2304288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uBreakiFix store inventory moves from the BAU Portal into the D365 F&amp;O ERP, giving stores visibility of inventory order and management in one system.</a:t>
            </a:r>
            <a:endParaRPr lang="en-US" sz="850" dirty="0"/>
          </a:p>
        </p:txBody>
      </p:sp>
      <p:sp>
        <p:nvSpPr>
          <p:cNvPr id="41" name="Shape 39"/>
          <p:cNvSpPr/>
          <p:nvPr/>
        </p:nvSpPr>
        <p:spPr>
          <a:xfrm>
            <a:off x="6903720" y="3090672"/>
            <a:ext cx="2377440" cy="237744"/>
          </a:xfrm>
          <a:prstGeom prst="roundRect">
            <a:avLst>
              <a:gd name="adj" fmla="val 15385"/>
            </a:avLst>
          </a:prstGeom>
          <a:solidFill>
            <a:srgbClr val="EDE8F5"/>
          </a:solidFill>
          <a:ln w="12700">
            <a:solidFill>
              <a:srgbClr val="EDE8F5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6940296" y="3090672"/>
            <a:ext cx="2304288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5B2C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ServiceBench + SBX → D365 F&amp;O</a:t>
            </a:r>
            <a:endParaRPr lang="en-US" sz="750" dirty="0"/>
          </a:p>
        </p:txBody>
      </p:sp>
      <p:sp>
        <p:nvSpPr>
          <p:cNvPr id="43" name="Text 41"/>
          <p:cNvSpPr/>
          <p:nvPr/>
        </p:nvSpPr>
        <p:spPr>
          <a:xfrm>
            <a:off x="6940296" y="3401568"/>
            <a:ext cx="2304288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Moves inventory management configurations supporting repair claims and fulfillment from ServiceBench into D365 F&amp;O, and replaces SBX Cycle Count with DAX WMA.</a:t>
            </a:r>
            <a:endParaRPr lang="en-US" sz="850" dirty="0"/>
          </a:p>
        </p:txBody>
      </p:sp>
      <p:sp>
        <p:nvSpPr>
          <p:cNvPr id="44" name="Shape 42"/>
          <p:cNvSpPr/>
          <p:nvPr/>
        </p:nvSpPr>
        <p:spPr>
          <a:xfrm>
            <a:off x="9390888" y="3090672"/>
            <a:ext cx="2377440" cy="237744"/>
          </a:xfrm>
          <a:prstGeom prst="roundRect">
            <a:avLst>
              <a:gd name="adj" fmla="val 15385"/>
            </a:avLst>
          </a:prstGeom>
          <a:solidFill>
            <a:srgbClr val="EDE8F5"/>
          </a:solidFill>
          <a:ln w="12700">
            <a:solidFill>
              <a:srgbClr val="EDE8F5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9427464" y="3090672"/>
            <a:ext cx="2304288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5B2C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Distro → D365 F&amp;O</a:t>
            </a:r>
            <a:endParaRPr lang="en-US" sz="750" dirty="0"/>
          </a:p>
        </p:txBody>
      </p:sp>
      <p:sp>
        <p:nvSpPr>
          <p:cNvPr id="46" name="Text 44"/>
          <p:cNvSpPr/>
          <p:nvPr/>
        </p:nvSpPr>
        <p:spPr>
          <a:xfrm>
            <a:off x="9427464" y="3401568"/>
            <a:ext cx="2304288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Store warehouse inventory moves from the in-house Distro platform into D365 F&amp;O — the last system outside the single source of truth.</a:t>
            </a:r>
            <a:endParaRPr lang="en-US" sz="850" dirty="0"/>
          </a:p>
        </p:txBody>
      </p:sp>
      <p:sp>
        <p:nvSpPr>
          <p:cNvPr id="47" name="Shape 45"/>
          <p:cNvSpPr/>
          <p:nvPr/>
        </p:nvSpPr>
        <p:spPr>
          <a:xfrm>
            <a:off x="457200" y="4919472"/>
            <a:ext cx="11274552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475488" y="4956048"/>
            <a:ext cx="1252728" cy="17556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spc="100" kern="0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DELIVERED</a:t>
            </a:r>
            <a:endParaRPr lang="en-US" sz="850" dirty="0"/>
          </a:p>
          <a:p>
            <a:pPr algn="ctr" indent="0" marL="0">
              <a:buNone/>
            </a:pPr>
            <a:r>
              <a:rPr lang="en-US" sz="850" b="1" spc="100" kern="0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BENEFITS</a:t>
            </a:r>
            <a:endParaRPr lang="en-US" sz="850" dirty="0"/>
          </a:p>
        </p:txBody>
      </p:sp>
      <p:sp>
        <p:nvSpPr>
          <p:cNvPr id="49" name="Text 47"/>
          <p:cNvSpPr/>
          <p:nvPr/>
        </p:nvSpPr>
        <p:spPr>
          <a:xfrm>
            <a:off x="1965960" y="5102352"/>
            <a:ext cx="2304288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5B2C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$5.7M better than forecast</a:t>
            </a:r>
            <a:endParaRPr lang="en-US" sz="850" dirty="0"/>
          </a:p>
        </p:txBody>
      </p:sp>
      <p:sp>
        <p:nvSpPr>
          <p:cNvPr id="50" name="Text 48"/>
          <p:cNvSpPr/>
          <p:nvPr/>
        </p:nvSpPr>
        <p:spPr>
          <a:xfrm>
            <a:off x="1965960" y="5577840"/>
            <a:ext cx="2304288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5B2C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$2.4M/yr AT&amp;T billing gain</a:t>
            </a:r>
            <a:endParaRPr lang="en-US" sz="850" dirty="0"/>
          </a:p>
        </p:txBody>
      </p:sp>
      <p:sp>
        <p:nvSpPr>
          <p:cNvPr id="51" name="Text 49"/>
          <p:cNvSpPr/>
          <p:nvPr/>
        </p:nvSpPr>
        <p:spPr>
          <a:xfrm>
            <a:off x="1965960" y="6053328"/>
            <a:ext cx="2304288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5B2C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138k fewer manual touches</a:t>
            </a:r>
            <a:endParaRPr lang="en-US" sz="850" dirty="0"/>
          </a:p>
        </p:txBody>
      </p:sp>
      <p:sp>
        <p:nvSpPr>
          <p:cNvPr id="52" name="Text 50"/>
          <p:cNvSpPr/>
          <p:nvPr/>
        </p:nvSpPr>
        <p:spPr>
          <a:xfrm>
            <a:off x="4453128" y="5102352"/>
            <a:ext cx="2304288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5B2C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Store inventory in D365 F&amp;O</a:t>
            </a:r>
            <a:endParaRPr lang="en-US" sz="850" dirty="0"/>
          </a:p>
        </p:txBody>
      </p:sp>
      <p:sp>
        <p:nvSpPr>
          <p:cNvPr id="53" name="Text 51"/>
          <p:cNvSpPr/>
          <p:nvPr/>
        </p:nvSpPr>
        <p:spPr>
          <a:xfrm>
            <a:off x="4453128" y="5577840"/>
            <a:ext cx="2304288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5B2C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uBreakiFix under one source of truth</a:t>
            </a:r>
            <a:endParaRPr lang="en-US" sz="850" dirty="0"/>
          </a:p>
        </p:txBody>
      </p:sp>
      <p:sp>
        <p:nvSpPr>
          <p:cNvPr id="54" name="Text 52"/>
          <p:cNvSpPr/>
          <p:nvPr/>
        </p:nvSpPr>
        <p:spPr>
          <a:xfrm>
            <a:off x="4453128" y="6053328"/>
            <a:ext cx="2304288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5B2C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Foundation for the SUR repair SSoT</a:t>
            </a:r>
            <a:endParaRPr lang="en-US" sz="850" dirty="0"/>
          </a:p>
        </p:txBody>
      </p:sp>
      <p:sp>
        <p:nvSpPr>
          <p:cNvPr id="55" name="Text 53"/>
          <p:cNvSpPr/>
          <p:nvPr/>
        </p:nvSpPr>
        <p:spPr>
          <a:xfrm>
            <a:off x="6940296" y="5102352"/>
            <a:ext cx="2304288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5B2C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Repair-claim &amp; fulfillment configs in D365 F&amp;O</a:t>
            </a:r>
            <a:endParaRPr lang="en-US" sz="850" dirty="0"/>
          </a:p>
        </p:txBody>
      </p:sp>
      <p:sp>
        <p:nvSpPr>
          <p:cNvPr id="56" name="Text 54"/>
          <p:cNvSpPr/>
          <p:nvPr/>
        </p:nvSpPr>
        <p:spPr>
          <a:xfrm>
            <a:off x="6940296" y="5577840"/>
            <a:ext cx="2304288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5B2C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SBX Cycle Count replaced by DAX WMA</a:t>
            </a:r>
            <a:endParaRPr lang="en-US" sz="850" dirty="0"/>
          </a:p>
        </p:txBody>
      </p:sp>
      <p:sp>
        <p:nvSpPr>
          <p:cNvPr id="57" name="Text 55"/>
          <p:cNvSpPr/>
          <p:nvPr/>
        </p:nvSpPr>
        <p:spPr>
          <a:xfrm>
            <a:off x="6940296" y="6053328"/>
            <a:ext cx="2304288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5B2C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Removes ServiceBench from inventory management</a:t>
            </a:r>
            <a:endParaRPr lang="en-US" sz="850" dirty="0"/>
          </a:p>
        </p:txBody>
      </p:sp>
      <p:sp>
        <p:nvSpPr>
          <p:cNvPr id="58" name="Text 56"/>
          <p:cNvSpPr/>
          <p:nvPr/>
        </p:nvSpPr>
        <p:spPr>
          <a:xfrm>
            <a:off x="9427464" y="5102352"/>
            <a:ext cx="2304288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5B2C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100% of inventory in one ERP</a:t>
            </a:r>
            <a:endParaRPr lang="en-US" sz="850" dirty="0"/>
          </a:p>
        </p:txBody>
      </p:sp>
      <p:sp>
        <p:nvSpPr>
          <p:cNvPr id="59" name="Text 57"/>
          <p:cNvSpPr/>
          <p:nvPr/>
        </p:nvSpPr>
        <p:spPr>
          <a:xfrm>
            <a:off x="9427464" y="5577840"/>
            <a:ext cx="2304288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5B2C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One operating model, warehouse to store</a:t>
            </a:r>
            <a:endParaRPr lang="en-US" sz="850" dirty="0"/>
          </a:p>
        </p:txBody>
      </p:sp>
      <p:sp>
        <p:nvSpPr>
          <p:cNvPr id="60" name="Text 58"/>
          <p:cNvSpPr/>
          <p:nvPr/>
        </p:nvSpPr>
        <p:spPr>
          <a:xfrm>
            <a:off x="365760" y="6309360"/>
            <a:ext cx="11457432" cy="16459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 the UBIF inventory SSoT roadmap: each phase consolidates a legacy source system (Mobility Warehouse DAX, DES/NDES &amp; SUR field inventory in ServiceBench, Store Inventory BAU Portal, in-house Distro) into the Dynamics 365 F&amp;O ERP as the single source of truth. Phases 2 (SUR) and 3 (UBIF Next Gen Portal) run in parallel in 2026; Phase 4 (UBIF Distro) is slotted for 2027 and completes warehouse-to-store traceability.</a:t>
            </a:r>
            <a:endParaRPr lang="en-US" sz="650" dirty="0"/>
          </a:p>
        </p:txBody>
      </p:sp>
      <p:sp>
        <p:nvSpPr>
          <p:cNvPr id="61" name="Shape 59"/>
          <p:cNvSpPr/>
          <p:nvPr/>
        </p:nvSpPr>
        <p:spPr>
          <a:xfrm>
            <a:off x="0" y="6473952"/>
            <a:ext cx="12188952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62" name="Text 60"/>
          <p:cNvSpPr/>
          <p:nvPr/>
        </p:nvSpPr>
        <p:spPr>
          <a:xfrm>
            <a:off x="365760" y="6510528"/>
            <a:ext cx="13716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5B2C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asurion</a:t>
            </a:r>
            <a:endParaRPr lang="en-US" sz="1100" dirty="0"/>
          </a:p>
        </p:txBody>
      </p:sp>
      <p:sp>
        <p:nvSpPr>
          <p:cNvPr id="63" name="Text 61"/>
          <p:cNvSpPr/>
          <p:nvPr/>
        </p:nvSpPr>
        <p:spPr>
          <a:xfrm>
            <a:off x="0" y="6510528"/>
            <a:ext cx="12188952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spc="200" kern="0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ROADMAP</a:t>
            </a:r>
            <a:endParaRPr lang="en-US" sz="800" dirty="0"/>
          </a:p>
        </p:txBody>
      </p:sp>
      <p:sp>
        <p:nvSpPr>
          <p:cNvPr id="64" name="Text 62"/>
          <p:cNvSpPr/>
          <p:nvPr/>
        </p:nvSpPr>
        <p:spPr>
          <a:xfrm>
            <a:off x="11548872" y="6510528"/>
            <a:ext cx="4572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274320"/>
            <a:ext cx="73152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5B2C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 — WHY DISTRO MATTERS</a:t>
            </a:r>
            <a:endParaRPr lang="en-US" sz="800" dirty="0"/>
          </a:p>
        </p:txBody>
      </p:sp>
      <p:sp>
        <p:nvSpPr>
          <p:cNvPr id="3" name="Text 1"/>
          <p:cNvSpPr/>
          <p:nvPr/>
        </p:nvSpPr>
        <p:spPr>
          <a:xfrm>
            <a:off x="365760" y="475488"/>
            <a:ext cx="11457432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150" kern="0" dirty="0">
                <a:solidFill>
                  <a:srgbClr val="5B2C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4 — UBIF DISTRO MIGRATION, SLOTTED FOR 2027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365760" y="676656"/>
            <a:ext cx="11457432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800" dirty="0">
                <a:solidFill>
                  <a:srgbClr val="111111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Distro is the last system standing — and the most</a:t>
            </a:r>
            <a:endParaRPr lang="en-US" sz="2800" dirty="0"/>
          </a:p>
          <a:p>
            <a:pPr indent="0" marL="0">
              <a:buNone/>
            </a:pPr>
            <a:r>
              <a:rPr lang="en-US" sz="2800" dirty="0">
                <a:solidFill>
                  <a:srgbClr val="111111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strategic to retire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365760" y="1901952"/>
            <a:ext cx="11457432" cy="713232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48640" y="1938528"/>
            <a:ext cx="11091672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There's </a:t>
            </a:r>
            <a:pPr indent="0" marL="0">
              <a:buNone/>
            </a:pPr>
            <a:r>
              <a:rPr lang="en-US" sz="105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single technical blocker</a:t>
            </a:r>
            <a:pPr indent="0" marL="0">
              <a:buNone/>
            </a:pPr>
            <a:r>
              <a:rPr lang="en-US" sz="10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Distro is stable and could run on our stack indefinitely. The case for moving it in 2027 is </a:t>
            </a:r>
            <a:pPr indent="0" marL="0">
              <a:buNone/>
            </a:pPr>
            <a:r>
              <a:rPr lang="en-US" sz="105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structural</a:t>
            </a:r>
            <a:pPr indent="0" marL="0">
              <a:buNone/>
            </a:pPr>
            <a:r>
              <a:rPr lang="en-US" sz="10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 keeping the in-house warehouse platform separate compounds </a:t>
            </a:r>
            <a:pPr indent="0" marL="0">
              <a:buNone/>
            </a:pPr>
            <a:r>
              <a:rPr lang="en-US" sz="105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financial</a:t>
            </a:r>
            <a:pPr indent="0" marL="0">
              <a:buNone/>
            </a:pPr>
            <a:r>
              <a:rPr lang="en-US" sz="10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</a:t>
            </a:r>
            <a:pPr indent="0" marL="0">
              <a:buNone/>
            </a:pPr>
            <a:r>
              <a:rPr lang="en-US" sz="105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operational</a:t>
            </a:r>
            <a:pPr indent="0" marL="0">
              <a:buNone/>
            </a:pPr>
            <a:r>
              <a:rPr lang="en-US" sz="10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and </a:t>
            </a:r>
            <a:pPr indent="0" marL="0">
              <a:buNone/>
            </a:pPr>
            <a:r>
              <a:rPr lang="en-US" sz="105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commercial</a:t>
            </a:r>
            <a:pPr indent="0" marL="0">
              <a:buNone/>
            </a:pPr>
            <a:r>
              <a:rPr lang="en-US" sz="10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risk as we scale.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365760" y="2779776"/>
            <a:ext cx="2795778" cy="2560320"/>
          </a:xfrm>
          <a:prstGeom prst="roundRect">
            <a:avLst>
              <a:gd name="adj" fmla="val 2500"/>
            </a:avLst>
          </a:prstGeom>
          <a:solidFill>
            <a:srgbClr val="FFFFFF"/>
          </a:solidFill>
          <a:ln w="9525">
            <a:solidFill>
              <a:srgbClr val="DDDDDD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493776" y="2926080"/>
            <a:ext cx="384048" cy="384048"/>
          </a:xfrm>
          <a:prstGeom prst="ellipse">
            <a:avLst/>
          </a:prstGeom>
          <a:solidFill>
            <a:srgbClr val="EDE8F5"/>
          </a:solidFill>
          <a:ln w="12700">
            <a:solidFill>
              <a:srgbClr val="EDE8F5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93776" y="3401568"/>
            <a:ext cx="2539746" cy="47548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Financial single source of truth</a:t>
            </a:r>
            <a:endParaRPr lang="en-US" sz="1050" dirty="0"/>
          </a:p>
        </p:txBody>
      </p:sp>
      <p:sp>
        <p:nvSpPr>
          <p:cNvPr id="10" name="Text 8"/>
          <p:cNvSpPr/>
          <p:nvPr/>
        </p:nvSpPr>
        <p:spPr>
          <a:xfrm>
            <a:off x="493776" y="3931920"/>
            <a:ext cx="2539746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spc="100" kern="0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TODAY</a:t>
            </a:r>
            <a:endParaRPr lang="en-US" sz="750" dirty="0"/>
          </a:p>
        </p:txBody>
      </p:sp>
      <p:sp>
        <p:nvSpPr>
          <p:cNvPr id="11" name="Text 9"/>
          <p:cNvSpPr/>
          <p:nvPr/>
        </p:nvSpPr>
        <p:spPr>
          <a:xfrm>
            <a:off x="493776" y="4133088"/>
            <a:ext cx="2539746" cy="658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Intercompany transfers across Portal → Next-Gen Portal → Distro aren't unified, and we pay stores for activity that lives outside the ERP.</a:t>
            </a:r>
            <a:endParaRPr lang="en-US" sz="850" dirty="0"/>
          </a:p>
        </p:txBody>
      </p:sp>
      <p:sp>
        <p:nvSpPr>
          <p:cNvPr id="12" name="Shape 10"/>
          <p:cNvSpPr/>
          <p:nvPr/>
        </p:nvSpPr>
        <p:spPr>
          <a:xfrm>
            <a:off x="493776" y="4828032"/>
            <a:ext cx="2539746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93776" y="4882896"/>
            <a:ext cx="2539746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spc="100" kern="0" dirty="0">
                <a:solidFill>
                  <a:srgbClr val="5B2C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END GOAL</a:t>
            </a:r>
            <a:endParaRPr lang="en-US" sz="750" dirty="0"/>
          </a:p>
        </p:txBody>
      </p:sp>
      <p:sp>
        <p:nvSpPr>
          <p:cNvPr id="14" name="Text 12"/>
          <p:cNvSpPr/>
          <p:nvPr/>
        </p:nvSpPr>
        <p:spPr>
          <a:xfrm>
            <a:off x="493776" y="5084064"/>
            <a:ext cx="2539746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50" b="1" dirty="0">
                <a:solidFill>
                  <a:srgbClr val="5B2C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Transfers and financials settle automatically in one ledger — every dollar reconciled.</a:t>
            </a:r>
            <a:endParaRPr lang="en-US" sz="850" dirty="0"/>
          </a:p>
        </p:txBody>
      </p:sp>
      <p:sp>
        <p:nvSpPr>
          <p:cNvPr id="15" name="Shape 13"/>
          <p:cNvSpPr/>
          <p:nvPr/>
        </p:nvSpPr>
        <p:spPr>
          <a:xfrm>
            <a:off x="3252978" y="2779776"/>
            <a:ext cx="2795778" cy="2560320"/>
          </a:xfrm>
          <a:prstGeom prst="roundRect">
            <a:avLst>
              <a:gd name="adj" fmla="val 2500"/>
            </a:avLst>
          </a:prstGeom>
          <a:solidFill>
            <a:srgbClr val="FFFFFF"/>
          </a:solidFill>
          <a:ln w="9525">
            <a:solidFill>
              <a:srgbClr val="DDDDDD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3380994" y="2926080"/>
            <a:ext cx="384048" cy="384048"/>
          </a:xfrm>
          <a:prstGeom prst="ellipse">
            <a:avLst/>
          </a:prstGeom>
          <a:solidFill>
            <a:srgbClr val="EDE8F5"/>
          </a:solidFill>
          <a:ln w="12700">
            <a:solidFill>
              <a:srgbClr val="EDE8F5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380994" y="3401568"/>
            <a:ext cx="2539746" cy="47548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Designed-out loss exposure</a:t>
            </a:r>
            <a:endParaRPr lang="en-US" sz="1050" dirty="0"/>
          </a:p>
        </p:txBody>
      </p:sp>
      <p:sp>
        <p:nvSpPr>
          <p:cNvPr id="18" name="Text 16"/>
          <p:cNvSpPr/>
          <p:nvPr/>
        </p:nvSpPr>
        <p:spPr>
          <a:xfrm>
            <a:off x="3380994" y="3931920"/>
            <a:ext cx="2539746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spc="100" kern="0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TODAY</a:t>
            </a:r>
            <a:endParaRPr lang="en-US" sz="750" dirty="0"/>
          </a:p>
        </p:txBody>
      </p:sp>
      <p:sp>
        <p:nvSpPr>
          <p:cNvPr id="19" name="Text 17"/>
          <p:cNvSpPr/>
          <p:nvPr/>
        </p:nvSpPr>
        <p:spPr>
          <a:xfrm>
            <a:off x="3380994" y="4133088"/>
            <a:ext cx="2539746" cy="658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Inventory losses surface in the integrations between Portal, Next-Gen Portal and Distro — latent risk that grows with volume.</a:t>
            </a:r>
            <a:endParaRPr lang="en-US" sz="850" dirty="0"/>
          </a:p>
        </p:txBody>
      </p:sp>
      <p:sp>
        <p:nvSpPr>
          <p:cNvPr id="20" name="Shape 18"/>
          <p:cNvSpPr/>
          <p:nvPr/>
        </p:nvSpPr>
        <p:spPr>
          <a:xfrm>
            <a:off x="3380994" y="4828032"/>
            <a:ext cx="2539746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3380994" y="4882896"/>
            <a:ext cx="2539746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spc="100" kern="0" dirty="0">
                <a:solidFill>
                  <a:srgbClr val="5B2C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END GOAL</a:t>
            </a:r>
            <a:endParaRPr lang="en-US" sz="750" dirty="0"/>
          </a:p>
        </p:txBody>
      </p:sp>
      <p:sp>
        <p:nvSpPr>
          <p:cNvPr id="22" name="Text 20"/>
          <p:cNvSpPr/>
          <p:nvPr/>
        </p:nvSpPr>
        <p:spPr>
          <a:xfrm>
            <a:off x="3380994" y="5084064"/>
            <a:ext cx="2539746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50" b="1" dirty="0">
                <a:solidFill>
                  <a:srgbClr val="5B2C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Fewer systems and handoffs means no integration seams for inventory to disappear in.</a:t>
            </a:r>
            <a:endParaRPr lang="en-US" sz="850" dirty="0"/>
          </a:p>
        </p:txBody>
      </p:sp>
      <p:sp>
        <p:nvSpPr>
          <p:cNvPr id="23" name="Shape 21"/>
          <p:cNvSpPr/>
          <p:nvPr/>
        </p:nvSpPr>
        <p:spPr>
          <a:xfrm>
            <a:off x="6140196" y="2779776"/>
            <a:ext cx="2795778" cy="2560320"/>
          </a:xfrm>
          <a:prstGeom prst="roundRect">
            <a:avLst>
              <a:gd name="adj" fmla="val 2500"/>
            </a:avLst>
          </a:prstGeom>
          <a:solidFill>
            <a:srgbClr val="FFFFFF"/>
          </a:solidFill>
          <a:ln w="9525">
            <a:solidFill>
              <a:srgbClr val="DDDDDD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268212" y="2926080"/>
            <a:ext cx="384048" cy="384048"/>
          </a:xfrm>
          <a:prstGeom prst="ellipse">
            <a:avLst/>
          </a:prstGeom>
          <a:solidFill>
            <a:srgbClr val="EDE8F5"/>
          </a:solidFill>
          <a:ln w="12700">
            <a:solidFill>
              <a:srgbClr val="EDE8F5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268212" y="3401568"/>
            <a:ext cx="2539746" cy="47548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Operational resilience</a:t>
            </a:r>
            <a:endParaRPr lang="en-US" sz="1050" dirty="0"/>
          </a:p>
        </p:txBody>
      </p:sp>
      <p:sp>
        <p:nvSpPr>
          <p:cNvPr id="26" name="Text 24"/>
          <p:cNvSpPr/>
          <p:nvPr/>
        </p:nvSpPr>
        <p:spPr>
          <a:xfrm>
            <a:off x="6268212" y="3931920"/>
            <a:ext cx="2539746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spc="100" kern="0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TODAY</a:t>
            </a:r>
            <a:endParaRPr lang="en-US" sz="750" dirty="0"/>
          </a:p>
        </p:txBody>
      </p:sp>
      <p:sp>
        <p:nvSpPr>
          <p:cNvPr id="27" name="Text 25"/>
          <p:cNvSpPr/>
          <p:nvPr/>
        </p:nvSpPr>
        <p:spPr>
          <a:xfrm>
            <a:off x="6268212" y="4133088"/>
            <a:ext cx="2539746" cy="658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Distro is a separate application maintained by only a couple of specialists — the skill set isn't fungible (key-person risk).</a:t>
            </a:r>
            <a:endParaRPr lang="en-US" sz="850" dirty="0"/>
          </a:p>
        </p:txBody>
      </p:sp>
      <p:sp>
        <p:nvSpPr>
          <p:cNvPr id="28" name="Shape 26"/>
          <p:cNvSpPr/>
          <p:nvPr/>
        </p:nvSpPr>
        <p:spPr>
          <a:xfrm>
            <a:off x="6268212" y="4828032"/>
            <a:ext cx="2539746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268212" y="4882896"/>
            <a:ext cx="2539746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spc="100" kern="0" dirty="0">
                <a:solidFill>
                  <a:srgbClr val="5B2C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END GOAL</a:t>
            </a:r>
            <a:endParaRPr lang="en-US" sz="750" dirty="0"/>
          </a:p>
        </p:txBody>
      </p:sp>
      <p:sp>
        <p:nvSpPr>
          <p:cNvPr id="30" name="Text 28"/>
          <p:cNvSpPr/>
          <p:nvPr/>
        </p:nvSpPr>
        <p:spPr>
          <a:xfrm>
            <a:off x="6268212" y="5084064"/>
            <a:ext cx="2539746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50" b="1" dirty="0">
                <a:solidFill>
                  <a:srgbClr val="5B2C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platform and one skill base — a team that flexes across the business.</a:t>
            </a:r>
            <a:endParaRPr lang="en-US" sz="850" dirty="0"/>
          </a:p>
        </p:txBody>
      </p:sp>
      <p:sp>
        <p:nvSpPr>
          <p:cNvPr id="31" name="Shape 29"/>
          <p:cNvSpPr/>
          <p:nvPr/>
        </p:nvSpPr>
        <p:spPr>
          <a:xfrm>
            <a:off x="9027414" y="2779776"/>
            <a:ext cx="2795778" cy="2560320"/>
          </a:xfrm>
          <a:prstGeom prst="roundRect">
            <a:avLst>
              <a:gd name="adj" fmla="val 2500"/>
            </a:avLst>
          </a:prstGeom>
          <a:solidFill>
            <a:srgbClr val="FFFFFF"/>
          </a:solidFill>
          <a:ln w="9525">
            <a:solidFill>
              <a:srgbClr val="DDDDDD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9155430" y="2926080"/>
            <a:ext cx="384048" cy="384048"/>
          </a:xfrm>
          <a:prstGeom prst="ellipse">
            <a:avLst/>
          </a:prstGeom>
          <a:solidFill>
            <a:srgbClr val="EDE8F5"/>
          </a:solidFill>
          <a:ln w="12700">
            <a:solidFill>
              <a:srgbClr val="EDE8F5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9155430" y="3401568"/>
            <a:ext cx="2539746" cy="47548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Vendor-driven request</a:t>
            </a:r>
            <a:endParaRPr lang="en-US" sz="1050" dirty="0"/>
          </a:p>
        </p:txBody>
      </p:sp>
      <p:sp>
        <p:nvSpPr>
          <p:cNvPr id="34" name="Text 32"/>
          <p:cNvSpPr/>
          <p:nvPr/>
        </p:nvSpPr>
        <p:spPr>
          <a:xfrm>
            <a:off x="9155430" y="3931920"/>
            <a:ext cx="2539746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spc="100" kern="0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TODAY</a:t>
            </a:r>
            <a:endParaRPr lang="en-US" sz="750" dirty="0"/>
          </a:p>
        </p:txBody>
      </p:sp>
      <p:sp>
        <p:nvSpPr>
          <p:cNvPr id="35" name="Text 33"/>
          <p:cNvSpPr/>
          <p:nvPr/>
        </p:nvSpPr>
        <p:spPr>
          <a:xfrm>
            <a:off x="9155430" y="4133088"/>
            <a:ext cx="2539746" cy="658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UPS, an Asurion vendor, is moving off their legacy platform; staying on Distro forces them to re-integrate with it — they already run D365 for mobility pick/pack/ship.</a:t>
            </a:r>
            <a:endParaRPr lang="en-US" sz="850" dirty="0"/>
          </a:p>
        </p:txBody>
      </p:sp>
      <p:sp>
        <p:nvSpPr>
          <p:cNvPr id="36" name="Shape 34"/>
          <p:cNvSpPr/>
          <p:nvPr/>
        </p:nvSpPr>
        <p:spPr>
          <a:xfrm>
            <a:off x="9155430" y="4828032"/>
            <a:ext cx="2539746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9155430" y="4882896"/>
            <a:ext cx="2539746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spc="100" kern="0" dirty="0">
                <a:solidFill>
                  <a:srgbClr val="5B2C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END GOAL</a:t>
            </a:r>
            <a:endParaRPr lang="en-US" sz="750" dirty="0"/>
          </a:p>
        </p:txBody>
      </p:sp>
      <p:sp>
        <p:nvSpPr>
          <p:cNvPr id="38" name="Text 36"/>
          <p:cNvSpPr/>
          <p:nvPr/>
        </p:nvSpPr>
        <p:spPr>
          <a:xfrm>
            <a:off x="9155430" y="5084064"/>
            <a:ext cx="2539746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50" b="1" dirty="0">
                <a:solidFill>
                  <a:srgbClr val="5B2C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common D365 platform our vendors are asking us to standardize on.</a:t>
            </a:r>
            <a:endParaRPr lang="en-US" sz="850" dirty="0"/>
          </a:p>
        </p:txBody>
      </p:sp>
      <p:sp>
        <p:nvSpPr>
          <p:cNvPr id="39" name="Shape 37"/>
          <p:cNvSpPr/>
          <p:nvPr/>
        </p:nvSpPr>
        <p:spPr>
          <a:xfrm>
            <a:off x="365760" y="5486400"/>
            <a:ext cx="11457432" cy="658368"/>
          </a:xfrm>
          <a:prstGeom prst="roundRect">
            <a:avLst>
              <a:gd name="adj" fmla="val 8333"/>
            </a:avLst>
          </a:prstGeom>
          <a:solidFill>
            <a:srgbClr val="5B2C8D"/>
          </a:solidFill>
          <a:ln w="12700">
            <a:solidFill>
              <a:srgbClr val="5B2C8D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594360" y="5541264"/>
            <a:ext cx="11000232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end state: </a:t>
            </a:r>
            <a:pPr algn="ctr"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retiring Distro puts every unit and every dollar in one ERP — explainable movement, explainable finances, a resilient team, and a client-ready foundation to scale and build AI on.</a:t>
            </a:r>
            <a:endParaRPr lang="en-US" sz="1050" dirty="0"/>
          </a:p>
        </p:txBody>
      </p:sp>
      <p:sp>
        <p:nvSpPr>
          <p:cNvPr id="41" name="Text 39"/>
          <p:cNvSpPr/>
          <p:nvPr/>
        </p:nvSpPr>
        <p:spPr>
          <a:xfrm>
            <a:off x="365760" y="6291072"/>
            <a:ext cx="11457432" cy="16459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Distro review: no single technical blocker — Distro's tech stack is stable and could run on Asurion infrastructure. The 2027 migration case is structural, not a stability fire drill.</a:t>
            </a:r>
            <a:endParaRPr lang="en-US" sz="650" dirty="0"/>
          </a:p>
          <a:p>
            <a:pPr indent="0" marL="0">
              <a:buNone/>
            </a:pPr>
            <a:r>
              <a:rPr lang="en-US" sz="65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Drivers surfaced in review: intercompany financial reconciliation, inter-system inventory loss, key-person operational risk, and vendor (UPS) request for a common platform.</a:t>
            </a:r>
            <a:endParaRPr lang="en-US" sz="650" dirty="0"/>
          </a:p>
        </p:txBody>
      </p:sp>
      <p:sp>
        <p:nvSpPr>
          <p:cNvPr id="42" name="Shape 40"/>
          <p:cNvSpPr/>
          <p:nvPr/>
        </p:nvSpPr>
        <p:spPr>
          <a:xfrm>
            <a:off x="0" y="6473952"/>
            <a:ext cx="12188952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365760" y="6510528"/>
            <a:ext cx="13716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5B2C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asurion</a:t>
            </a:r>
            <a:endParaRPr lang="en-US" sz="1100" dirty="0"/>
          </a:p>
        </p:txBody>
      </p:sp>
      <p:sp>
        <p:nvSpPr>
          <p:cNvPr id="44" name="Text 42"/>
          <p:cNvSpPr/>
          <p:nvPr/>
        </p:nvSpPr>
        <p:spPr>
          <a:xfrm>
            <a:off x="0" y="6510528"/>
            <a:ext cx="12188952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spc="200" kern="0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DISTRO MATTERS</a:t>
            </a:r>
            <a:endParaRPr lang="en-US" sz="800" dirty="0"/>
          </a:p>
        </p:txBody>
      </p:sp>
      <p:sp>
        <p:nvSpPr>
          <p:cNvPr id="45" name="Text 43"/>
          <p:cNvSpPr/>
          <p:nvPr/>
        </p:nvSpPr>
        <p:spPr>
          <a:xfrm>
            <a:off x="11548872" y="6510528"/>
            <a:ext cx="4572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07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7</Slides>
  <Notes>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2026-06-09T18:55:38Z</dcterms:created>
  <dcterms:modified xsi:type="dcterms:W3CDTF">2026-06-09T18:55:38Z</dcterms:modified>
</cp:coreProperties>
</file>