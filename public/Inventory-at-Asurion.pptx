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714232" y="2926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PRODUCT REVIEW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1145743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78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PRODUCT REVIEW DEEP DIVE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9144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at Asurion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fulfillment systems enable visibility, accountability, and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5029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930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3712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Bryant Mayne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867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D2M Fulfillment &amp; Finance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34930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0" y="3712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Thays Pritchard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9867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360152" y="62910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DISCUSSION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Fragmented Systems to a Single Source of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1457432" cy="1005840"/>
          </a:xfrm>
          <a:prstGeom prst="roundRect">
            <a:avLst>
              <a:gd name="adj" fmla="val 5455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43584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Inventory is the foundation every service program runs on.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runs behind the scenes, unseen — but customers always feel it when something goes wrong.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Inventory makes the service promise possible.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review is about making sure we can always keep 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2322576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review, we will take a look at: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36972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70048"/>
            <a:ext cx="3697224" cy="658368"/>
          </a:xfrm>
          <a:prstGeom prst="roundRect">
            <a:avLst>
              <a:gd name="adj" fmla="val 9722"/>
            </a:avLst>
          </a:prstGeom>
          <a:solidFill>
            <a:srgbClr val="F5F4F8"/>
          </a:solidFill>
          <a:ln w="12700">
            <a:solidFill>
              <a:srgbClr val="F5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145536"/>
            <a:ext cx="3697224" cy="182880"/>
          </a:xfrm>
          <a:prstGeom prst="rect">
            <a:avLst/>
          </a:prstGeom>
          <a:solidFill>
            <a:srgbClr val="F5F4F8"/>
          </a:solidFill>
          <a:ln w="12700">
            <a:solidFill>
              <a:srgbClr val="F5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" y="2834640"/>
            <a:ext cx="2874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33314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3331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powers every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motion we run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9664"/>
            <a:ext cx="3331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~$609M asset across ~890 locations, present at every step — from advance exchange to reverse logistics. Scale and complexity demand a system built to match.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3331464" cy="237744"/>
          </a:xfrm>
          <a:prstGeom prst="roundRect">
            <a:avLst>
              <a:gd name="adj" fmla="val 15385"/>
            </a:avLst>
          </a:prstGeom>
          <a:solidFill>
            <a:srgbClr val="F5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65776"/>
            <a:ext cx="3331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03 – 04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45864" y="2670048"/>
            <a:ext cx="36972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5864" y="2670048"/>
            <a:ext cx="3697224" cy="658368"/>
          </a:xfrm>
          <a:prstGeom prst="roundRect">
            <a:avLst>
              <a:gd name="adj" fmla="val 9722"/>
            </a:avLst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5864" y="3145536"/>
            <a:ext cx="3697224" cy="18288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8744" y="2761488"/>
            <a:ext cx="384048" cy="38404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8744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0808" y="2834640"/>
            <a:ext cx="2874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28744" y="3328416"/>
            <a:ext cx="33314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8744" y="3419856"/>
            <a:ext cx="3331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Fragmented systems create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and operational risk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8744" y="4169664"/>
            <a:ext cx="3331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platforms outside our ERP make it difficult to trace units, reconcile financials, and catch issues early. The gap compounds over time.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28744" y="5065776"/>
            <a:ext cx="3331464" cy="237744"/>
          </a:xfrm>
          <a:prstGeom prst="roundRect">
            <a:avLst>
              <a:gd name="adj" fmla="val 15385"/>
            </a:avLst>
          </a:prstGeom>
          <a:solidFill>
            <a:srgbClr val="F5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8744" y="5065776"/>
            <a:ext cx="3331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25968" y="2670048"/>
            <a:ext cx="36972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25968" y="2670048"/>
            <a:ext cx="3697224" cy="658368"/>
          </a:xfrm>
          <a:prstGeom prst="roundRect">
            <a:avLst>
              <a:gd name="adj" fmla="val 9722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5968" y="3145536"/>
            <a:ext cx="3697224" cy="182880"/>
          </a:xfrm>
          <a:prstGeom prst="rect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8848" y="2761488"/>
            <a:ext cx="384048" cy="38404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8848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0912" y="2834640"/>
            <a:ext cx="2874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308848" y="3328416"/>
            <a:ext cx="33314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8848" y="3419856"/>
            <a:ext cx="3331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proven model, scaling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by program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08848" y="4169664"/>
            <a:ext cx="3331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tested, phased approach to a single source of truth. The model is working — this review outlines what remains and what full consolidation makes possible.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08848" y="5065776"/>
            <a:ext cx="3331464" cy="237744"/>
          </a:xfrm>
          <a:prstGeom prst="roundRect">
            <a:avLst>
              <a:gd name="adj" fmla="val 15385"/>
            </a:avLst>
          </a:prstGeom>
          <a:solidFill>
            <a:srgbClr val="F5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8848" y="5065776"/>
            <a:ext cx="3331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06 – 07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81272" y="3877056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61376" y="3877056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5760" y="5577840"/>
            <a:ext cx="11457432" cy="475488"/>
          </a:xfrm>
          <a:prstGeom prst="roundRect">
            <a:avLst>
              <a:gd name="adj" fmla="val 11538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5596128"/>
            <a:ext cx="10945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A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review, I hope that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clear understanding of the role inventory plays across every service program we run</a:t>
            </a:r>
            <a:pPr indent="0" marL="0">
              <a:buNone/>
            </a:pPr>
            <a:r>
              <a:rPr lang="en-US" sz="1150" i="1" dirty="0">
                <a:solidFill>
                  <a:srgbClr val="C4A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why managing it with a single source of truth is not just an operational improvement, but a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capability that enables Asurion to move faster, reduce financial risk, and scale with confidence.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SCALE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574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supports every fulfillment motion across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Asurion's service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719072"/>
            <a:ext cx="4023360" cy="1188720"/>
          </a:xfrm>
          <a:prstGeom prst="roundRect">
            <a:avLst>
              <a:gd name="adj" fmla="val 5385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792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4A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ACROSS PROGRAMS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3776" y="1975104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~$517M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999232"/>
            <a:ext cx="4023360" cy="2377440"/>
          </a:xfrm>
          <a:prstGeom prst="roundRect">
            <a:avLst>
              <a:gd name="adj" fmla="val 2692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HOLDING INVENTORY ACROSS</a:t>
            </a:r>
            <a:endParaRPr lang="en-US" sz="750" dirty="0"/>
          </a:p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3776" y="3438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~890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202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" y="41696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UBIF &amp; 3rd-party repair locations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46268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6268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repair vendors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2064" y="50840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0840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mail-in repair location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32304" y="41696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Stocking Locations (FSLs)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32304" y="46268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4640" y="46268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inventory distribution centers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19072"/>
            <a:ext cx="2325624" cy="3657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828800"/>
            <a:ext cx="402336" cy="402336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340864"/>
            <a:ext cx="2033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9744" y="2871216"/>
            <a:ext cx="2033016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30449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9535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Exchange (mail fulfillment)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9744" y="35021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4107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Expert Setup (DES)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9744" y="39593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8679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Warehouses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9744" y="44165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3251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Stocking Locations (~97)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9744" y="48737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47823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Asurion-Owned &amp; Consigned Inventory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80504" y="1719072"/>
            <a:ext cx="2325624" cy="3657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45096" y="1828800"/>
            <a:ext cx="402336" cy="402336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6808" y="2340864"/>
            <a:ext cx="2033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Same-Unit Repair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26808" y="2871216"/>
            <a:ext cx="2033016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6808" y="30449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3112" y="29535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26808" y="35021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3112" y="34107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Stores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6808" y="39593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3112" y="38679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Partners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26808" y="44165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73112" y="43251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Mail-In Repair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26808" y="48737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73112" y="47823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Repair Providers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(~6% of volume)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497568" y="1719072"/>
            <a:ext cx="2325624" cy="3657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62160" y="1828800"/>
            <a:ext cx="402336" cy="402336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43872" y="2340864"/>
            <a:ext cx="2033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Logistics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643872" y="2871216"/>
            <a:ext cx="2033016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43872" y="30449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90176" y="29535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Devices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643872" y="35021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90176" y="34107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Parts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43872" y="3959352"/>
            <a:ext cx="82296" cy="822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90176" y="3867912"/>
            <a:ext cx="1886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Disposition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5504688"/>
            <a:ext cx="45720" cy="5029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550408"/>
            <a:ext cx="11228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a material business asset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constantly moving across warehouses, field locations, stores, partners, and customer channels. Every movement requires visibility and accountability.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071616"/>
            <a:ext cx="114574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figures reflect total across replacement, same-unit repair, and reverse logistics programs.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held across ~890 locations: ~700 UBIF &amp; 3rd-party repair locations, 97 Forward Stocking Locations (FSLs), ~90 third-party repair vendors (~6% of repair volume), 2 main distribution centers, and 1 UROC mail-in repair location.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RELEVANCE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57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is split across multiple systems of record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program's inventory and financials live in one system, every unit and dollar is traceable.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~$390.6M is already reconciled in D365 F&amp;O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remaining </a:t>
            </a:r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$126.3M sits on legacy systems.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93392"/>
            <a:ext cx="11457432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6654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0" y="20665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680960" y="20665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789920" y="20665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3774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$390.6M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74552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0662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Exchange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replacement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0" y="2761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$296.4M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0" y="27614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F&amp;O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607040" y="274320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0" y="27432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11274552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1868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43814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Expert Delivery &amp; Setup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32735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$15.3M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32735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F&amp;O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07040" y="3255264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325526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11274552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307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9502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Expert Setup — replacement via Expert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3785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$78.9M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37856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F&amp;O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607040" y="3767328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7673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428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42428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$126.3M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17136"/>
            <a:ext cx="11274552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5720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uBreakiFix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79145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distribution center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69280" y="46268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$120.0M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680960" y="46268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ServiceBench + Distro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607040" y="4608576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0" y="46085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Migrating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5029200"/>
            <a:ext cx="11274552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50840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Same-Unit Repair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repair vendors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69280" y="51389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680960" y="51389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ServiceBench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607040" y="512064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7040" y="51206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Migrating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5541264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56327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value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0" y="5632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~$516.9M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680960" y="5632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programs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5394960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E6F4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064" y="5614416"/>
            <a:ext cx="310896" cy="310896"/>
          </a:xfrm>
          <a:prstGeom prst="ellipse">
            <a:avLst/>
          </a:prstGeom>
          <a:solidFill>
            <a:srgbClr val="1B6B2B"/>
          </a:solidFill>
          <a:ln w="12700">
            <a:solidFill>
              <a:srgbClr val="1B6B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" y="5614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2688" y="54498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6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~$390.6M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932688" y="58155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D365 F&amp;O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26480" y="5394960"/>
            <a:ext cx="5669280" cy="749808"/>
          </a:xfrm>
          <a:prstGeom prst="roundRect">
            <a:avLst>
              <a:gd name="adj" fmla="val 7317"/>
            </a:avLst>
          </a:prstGeom>
          <a:solidFill>
            <a:srgbClr val="EDE8F5"/>
          </a:solidFill>
          <a:ln w="6350">
            <a:solidFill>
              <a:srgbClr val="C4AE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5614416"/>
            <a:ext cx="310896" cy="31089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559612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93408" y="54498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2C8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$126.3M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6693408" y="58155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migration (~24%)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65760" y="6309360"/>
            <a:ext cx="114574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Exchange is mail replacement; NDES is Next-Day Expert Delivery &amp; Setup; DES is Delivery &amp; Expert Setup (replacement via Expert). Inventory totals ~$516.9M across all programs.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MECHANISM · FUTURE STATE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Fulfillment systems connect every movement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one operating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INVENTORY MOVEMENT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0" y="1508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 →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41248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ACCOUNTABILITY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1145743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74520"/>
            <a:ext cx="329184" cy="329184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10512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37588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6228" y="1874520"/>
            <a:ext cx="329184" cy="329184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7588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82340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09416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8056" y="1874520"/>
            <a:ext cx="329184" cy="329184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9416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Location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Store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54168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81244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9884" y="1874520"/>
            <a:ext cx="329184" cy="329184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1244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25996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53072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7B4FBA"/>
          </a:solidFill>
          <a:ln w="9525">
            <a:solidFill>
              <a:srgbClr val="7B4FB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1712" y="1874520"/>
            <a:ext cx="329184" cy="329184"/>
          </a:xfrm>
          <a:prstGeom prst="ellipse">
            <a:avLst/>
          </a:prstGeom>
          <a:solidFill>
            <a:srgbClr val="9B72CC"/>
          </a:solidFill>
          <a:ln w="12700">
            <a:solidFill>
              <a:srgbClr val="9B7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3072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97824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24900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5B2C8D"/>
          </a:solidFill>
          <a:ln w="9525">
            <a:solidFill>
              <a:srgbClr val="5B2C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73540" y="1874520"/>
            <a:ext cx="329184" cy="329184"/>
          </a:xfrm>
          <a:prstGeom prst="ellipse">
            <a:avLst/>
          </a:prstGeom>
          <a:solidFill>
            <a:srgbClr val="7B4FBA"/>
          </a:solidFill>
          <a:ln w="12700">
            <a:solidFill>
              <a:srgbClr val="7B4F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4900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169652" y="2093976"/>
            <a:ext cx="2453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396728" y="178308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5B2C8D"/>
          </a:solidFill>
          <a:ln w="9525">
            <a:solidFill>
              <a:srgbClr val="5B2C8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45368" y="1874520"/>
            <a:ext cx="329184" cy="329184"/>
          </a:xfrm>
          <a:prstGeom prst="ellipse">
            <a:avLst/>
          </a:prstGeom>
          <a:solidFill>
            <a:srgbClr val="7B4FBA"/>
          </a:solidFill>
          <a:ln w="12700">
            <a:solidFill>
              <a:srgbClr val="7B4F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96728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Billing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825496"/>
            <a:ext cx="1145743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916936"/>
            <a:ext cx="5285232" cy="2798064"/>
          </a:xfrm>
          <a:prstGeom prst="roundRect">
            <a:avLst>
              <a:gd name="adj" fmla="val 2288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0632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03120" y="3044952"/>
            <a:ext cx="3337560" cy="256032"/>
          </a:xfrm>
          <a:prstGeom prst="roundRect">
            <a:avLst>
              <a:gd name="adj" fmla="val 14286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39696" y="3044952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disconnected systems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3392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synchronization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" y="3736848"/>
            <a:ext cx="5029200" cy="0"/>
          </a:xfrm>
          <a:prstGeom prst="line">
            <a:avLst/>
          </a:prstGeom>
          <a:noFill/>
          <a:ln w="4445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73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" y="4117848"/>
            <a:ext cx="5029200" cy="0"/>
          </a:xfrm>
          <a:prstGeom prst="line">
            <a:avLst/>
          </a:prstGeom>
          <a:noFill/>
          <a:ln w="4445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154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" y="4498848"/>
            <a:ext cx="5029200" cy="0"/>
          </a:xfrm>
          <a:prstGeom prst="line">
            <a:avLst/>
          </a:prstGeom>
          <a:noFill/>
          <a:ln w="4445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535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visibility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" y="4879848"/>
            <a:ext cx="5029200" cy="0"/>
          </a:xfrm>
          <a:prstGeom prst="line">
            <a:avLst/>
          </a:prstGeom>
          <a:noFill/>
          <a:ln w="4445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916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maintenance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3776" y="5260848"/>
            <a:ext cx="5029200" cy="0"/>
          </a:xfrm>
          <a:prstGeom prst="line">
            <a:avLst/>
          </a:prstGeom>
          <a:noFill/>
          <a:ln w="4445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297424"/>
            <a:ext cx="4956048" cy="326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33872" y="4078224"/>
            <a:ext cx="475488" cy="47548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537960" y="2916936"/>
            <a:ext cx="5285232" cy="2798064"/>
          </a:xfrm>
          <a:prstGeom prst="roundRect">
            <a:avLst>
              <a:gd name="adj" fmla="val 2288"/>
            </a:avLst>
          </a:prstGeom>
          <a:solidFill>
            <a:srgbClr val="EDE8F5"/>
          </a:solidFill>
          <a:ln w="9525">
            <a:solidFill>
              <a:srgbClr val="C4AE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0632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66760" y="3044952"/>
            <a:ext cx="3246120" cy="256032"/>
          </a:xfrm>
          <a:prstGeom prst="roundRect">
            <a:avLst>
              <a:gd name="adj" fmla="val 14286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03336" y="3044952"/>
            <a:ext cx="3172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operating model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20840" y="3392424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finance move together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65976" y="3682419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3718995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665976" y="4008991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4045567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inventory movement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65976" y="4335562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4372138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dollars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665976" y="4662134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0840" y="4698710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fulfillment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665976" y="4988705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5025281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 launches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665976" y="5315277"/>
            <a:ext cx="5029200" cy="0"/>
          </a:xfrm>
          <a:prstGeom prst="line">
            <a:avLst/>
          </a:prstGeom>
          <a:noFill/>
          <a:ln w="4445">
            <a:solidFill>
              <a:srgbClr val="C4AE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5351853"/>
            <a:ext cx="4956048" cy="27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 foundation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5843016"/>
            <a:ext cx="45720" cy="45720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5888736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financial records should remain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throughout the fulfillment lifecycle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reconciliation becomes a natural outcome, not a separate activity.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" y="6309360"/>
            <a:ext cx="114574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Every inventory movement eventually becomes a financial event — accountability must hold across every system handoff. Inventory accountability and financial accountability should be inseparable.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&amp; FUTURE STATE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phased path to consolidate every inventory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onto a single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0" y="566928"/>
            <a:ext cx="201168" cy="20116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0" y="566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17152" y="566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040112" y="566928"/>
            <a:ext cx="201168" cy="20116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96144" y="566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119104" y="566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75136" y="566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114574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and financials across separate systems creates reconciliation gaps where loss accumulates. Each phase consolidates another fragmented system into Dynamics 365 F&amp;O, establishing a single source of truth that improves financial control and visibility across every program.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1145743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5798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65960" y="2194560"/>
            <a:ext cx="256032" cy="256032"/>
          </a:xfrm>
          <a:prstGeom prst="ellipse">
            <a:avLst/>
          </a:prstGeom>
          <a:solidFill>
            <a:srgbClr val="1B6B2B"/>
          </a:solidFill>
          <a:ln w="12700">
            <a:solidFill>
              <a:srgbClr val="1B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95144" y="21762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98648" y="22037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246888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SSoT for DES / NDES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53128" y="2194560"/>
            <a:ext cx="256032" cy="256032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1762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85816" y="22037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3128" y="246888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UBIF Next Gen Portal migration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0296" y="2194560"/>
            <a:ext cx="256032" cy="256032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1762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72984" y="22037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40296" y="246888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SSoT for SUR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0296" y="2752344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2752344"/>
            <a:ext cx="2267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Depends on Next Gen Portal migration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427464" y="219456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56648" y="21762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360152" y="22037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427464" y="246888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UBIF Distro migration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2962656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999232"/>
            <a:ext cx="12527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29384" y="3090672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09067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+ ServiceBench + KitKat → D365 F&amp;O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65960" y="3401568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Warehouse (DAX) and DES/NDES field inventory (ServiceBench, incl. the KitKat FSL UI) consolidated into the D365 F&amp;O ERP.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16552" y="3090672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3128" y="309067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Portal → D365 F&amp;O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53128" y="3401568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uBreakiFix store inventory moves from the BAU Portal into the D365 F&amp;O ERP, giving stores visibility of inventory order and management in one system.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03720" y="3090672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309067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ServiceBench + SBX → D365 F&amp;O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40296" y="3401568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inventory management configurations supporting repair claims and fulfillment from ServiceBench into D365 F&amp;O, and replaces SBX Cycle Count with DAX WMA.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390888" y="3090672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27464" y="309067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 → D365 F&amp;O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427464" y="3401568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warehouse inventory moves from the in-house Distro platform into D365 F&amp;O — the last system outside the single source of truth.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919472"/>
            <a:ext cx="112745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4956048"/>
            <a:ext cx="125272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65960" y="51023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$5.7M better than forecast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965960" y="55778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$2.4M/yr AT&amp;T billing gain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965960" y="605332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138k fewer manual touches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3128" y="51023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 inventory in D365 F&amp;O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453128" y="55778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uBreakiFix under one source of truth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453128" y="605332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Foundation for the SUR repair SSoT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40296" y="51023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Repair-claim &amp; fulfillment configs in D365 F&amp;O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40296" y="55778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SBX Cycle Count replaced by DAX WMA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40296" y="605332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Removes ServiceBench from inventory management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427464" y="51023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of inventory in one ERP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427464" y="55778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operating model, warehouse to store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6309360"/>
            <a:ext cx="114574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UBIF inventory SSoT roadmap: each phase consolidates a legacy source system (Mobility Warehouse DAX, DES/NDES &amp; SUR field inventory in ServiceBench, Store Inventory BAU Portal, in-house Distro) into the Dynamics 365 F&amp;O ERP as the single source of truth. Phases 2 (SUR) and 3 (UBIF Next Gen Portal) run in parallel in 2026; Phase 4 (UBIF Distro) is slotted for 2027 and completes warehouse-to-store traceability.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WHY DISTRO MATTERS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57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UBIF DISTRO MIGRATION, SLOTTED FOR 2027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Distro is the last system standing — and the most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to retire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114574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11091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technical blocker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Distro is stable and could run on our stack indefinitely. The case for moving it in 2027 is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keeping the in-house warehouse platform separate compounds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as we scale.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779776"/>
            <a:ext cx="2795778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2926080"/>
            <a:ext cx="384048" cy="384048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3401568"/>
            <a:ext cx="2539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single source of truth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3931920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3776" y="4133088"/>
            <a:ext cx="25397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Intercompany transfers across Portal → Next-Gen Portal → Distro aren't unified, and we pay stores for activity that lives outside the ERP.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" y="4828032"/>
            <a:ext cx="253974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4882896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3776" y="5084064"/>
            <a:ext cx="25397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and financials settle automatically in one ledger — every dollar reconciled.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52978" y="2779776"/>
            <a:ext cx="2795778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0994" y="2926080"/>
            <a:ext cx="384048" cy="384048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0994" y="3401568"/>
            <a:ext cx="2539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Designed-out loss exposure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0994" y="3931920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80994" y="4133088"/>
            <a:ext cx="25397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losses surface in the integrations between Portal, Next-Gen Portal and Distro — latent risk that grows with volume.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0994" y="4828032"/>
            <a:ext cx="253974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0994" y="4882896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0994" y="5084064"/>
            <a:ext cx="25397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systems and handoffs means no integration seams for inventory to disappear in.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0196" y="2779776"/>
            <a:ext cx="2795778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8212" y="2926080"/>
            <a:ext cx="384048" cy="384048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8212" y="3401568"/>
            <a:ext cx="2539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8212" y="3931920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68212" y="4133088"/>
            <a:ext cx="25397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 is a separate application maintained by only a couple of specialists — the skill set isn't fungible (key-person risk).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8212" y="4828032"/>
            <a:ext cx="253974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8212" y="4882896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68212" y="5084064"/>
            <a:ext cx="25397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and one skill base — a team that flexes across the business.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27414" y="2779776"/>
            <a:ext cx="2795778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55430" y="2926080"/>
            <a:ext cx="384048" cy="384048"/>
          </a:xfrm>
          <a:prstGeom prst="ellipse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5430" y="3401568"/>
            <a:ext cx="2539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Vendor-driven request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55430" y="3931920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155430" y="4133088"/>
            <a:ext cx="25397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UPS, an Asurion vendor, is moving off their legacy platform; staying on Distro forces them to re-integrate with it — they already run D365 for mobility pick/pack/ship.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55430" y="4828032"/>
            <a:ext cx="253974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55430" y="4882896"/>
            <a:ext cx="25397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155430" y="5084064"/>
            <a:ext cx="25397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D365 platform our vendors are asking us to standardize on.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486400"/>
            <a:ext cx="11457432" cy="658368"/>
          </a:xfrm>
          <a:prstGeom prst="roundRect">
            <a:avLst>
              <a:gd name="adj" fmla="val 8333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541264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state: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Distro puts every unit and every dollar in one ERP — explainable movement, explainable finances, a resilient team, and a client-ready foundation to scale and build AI on.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6291072"/>
            <a:ext cx="114574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 review: no single technical blocker — Distro's tech stack is stable and could run on Asurion infrastructure. The 2027 migration case is structural, not a stability fire drill.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surfaced in review: intercompany financial reconciliation, inter-system inventory loss, key-person operational risk, and vendor (UPS) request for a common platform.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0" y="6473952"/>
            <a:ext cx="12188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10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DISTRO MATTERS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548872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2026-06-09T19:18:08Z</dcterms:created>
  <dcterms:modified xsi:type="dcterms:W3CDTF">2026-06-09T19:18:08Z</dcterms:modified>
</cp:coreProperties>
</file>