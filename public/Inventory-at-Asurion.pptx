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asurion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8988552" y="320040"/>
            <a:ext cx="2926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b="1" spc="200" kern="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PRODUCT REVIEW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1145743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005840"/>
            <a:ext cx="2560320" cy="256032"/>
          </a:xfrm>
          <a:prstGeom prst="rect">
            <a:avLst/>
          </a:prstGeom>
          <a:solidFill>
            <a:srgbClr val="EDE8F5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" y="1024128"/>
            <a:ext cx="252374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PRODUCT REVIEW DEEP DIVE</a:t>
            </a:r>
            <a:endParaRPr lang="en-US" sz="700" dirty="0"/>
          </a:p>
        </p:txBody>
      </p:sp>
      <p:sp>
        <p:nvSpPr>
          <p:cNvPr id="7" name="Text 5"/>
          <p:cNvSpPr/>
          <p:nvPr/>
        </p:nvSpPr>
        <p:spPr>
          <a:xfrm>
            <a:off x="365760" y="146304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Inventory at Asurion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fulfillment systems enable visibility, accountability, and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3657600"/>
            <a:ext cx="457200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79476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65760" y="402336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Bryant Mayne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5760" y="4279392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Director, D2M Fulfillment &amp; Finance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657600" y="3794760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657600" y="402336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Thays Pritchard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657600" y="4279392"/>
            <a:ext cx="2743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Management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543032" y="6263640"/>
            <a:ext cx="14630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b="1" spc="200" kern="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8F7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4320" y="6583680"/>
            <a:ext cx="1164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Inventory at Asurion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TODAY'S DISCUSSION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347472" cy="347472"/>
          </a:xfrm>
          <a:prstGeom prst="ellipse">
            <a:avLst/>
          </a:prstGeom>
          <a:solidFill>
            <a:srgbClr val="5B2C8D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755648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05840" y="1764792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Supports Every Fulfillment Motion Across Asurion's Service Network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560320"/>
            <a:ext cx="347472" cy="347472"/>
          </a:xfrm>
          <a:prstGeom prst="ellipse">
            <a:avLst/>
          </a:prstGeom>
          <a:solidFill>
            <a:srgbClr val="5B2C8D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578608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2587752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Is Split Across Multiple Systems of Record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347472" cy="347472"/>
          </a:xfrm>
          <a:prstGeom prst="ellipse">
            <a:avLst/>
          </a:prstGeom>
          <a:solidFill>
            <a:srgbClr val="5B2C8D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401568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3410712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Fulfillment Systems Connect Inventory Movement to Financial Accountability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206240"/>
            <a:ext cx="347472" cy="347472"/>
          </a:xfrm>
          <a:prstGeom prst="ellipse">
            <a:avLst/>
          </a:prstGeom>
          <a:solidFill>
            <a:srgbClr val="5B2C8D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224528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4233672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Operating Model Improves Visibility, Control, and Scale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5029200"/>
            <a:ext cx="347472" cy="347472"/>
          </a:xfrm>
          <a:prstGeom prst="ellipse">
            <a:avLst/>
          </a:prstGeom>
          <a:solidFill>
            <a:srgbClr val="5B2C8D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5047488"/>
            <a:ext cx="3474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005840" y="5056632"/>
            <a:ext cx="9144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Scaling the Proven Inventory Model Across Every Program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8F7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6583680"/>
            <a:ext cx="1164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Agenda — Today's Discussion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SCALE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Inventory supports every fulfillment motion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across Asurion's service network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737360"/>
            <a:ext cx="3200400" cy="1188720"/>
          </a:xfrm>
          <a:prstGeom prst="rect">
            <a:avLst/>
          </a:prstGeom>
          <a:solidFill>
            <a:srgbClr val="5B2C8D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17830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C4AE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VALUE ACROSS PROGRAMS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502920" y="2011680"/>
            <a:ext cx="3108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~$517M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3931920" y="1737360"/>
            <a:ext cx="3200400" cy="1188720"/>
          </a:xfrm>
          <a:prstGeom prst="rect">
            <a:avLst/>
          </a:prstGeom>
          <a:solidFill>
            <a:srgbClr val="F8F7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977640" y="178308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LOCATIONS HOLDING INVENTORY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3977640" y="2011680"/>
            <a:ext cx="31089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~890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3977640" y="2606040"/>
            <a:ext cx="31089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154680"/>
            <a:ext cx="3657600" cy="2011680"/>
          </a:xfrm>
          <a:prstGeom prst="rect">
            <a:avLst/>
          </a:prstGeom>
          <a:solidFill>
            <a:srgbClr val="F8F7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32461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Replacement Fulfillment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4360" y="3584448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Advance Exchange</a:t>
            </a:r>
            <a:endParaRPr lang="en-US" sz="9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Corporate Stores</a:t>
            </a:r>
            <a:endParaRPr lang="en-US" sz="9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Franchise Partners</a:t>
            </a:r>
            <a:endParaRPr lang="en-US" sz="9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Recovery &amp; Disposition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361688" y="3154680"/>
            <a:ext cx="3657600" cy="2011680"/>
          </a:xfrm>
          <a:prstGeom prst="rect">
            <a:avLst/>
          </a:prstGeom>
          <a:solidFill>
            <a:srgbClr val="F8F7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98848" y="32461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Same-Unit Repair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98848" y="3584448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Corporate Stores</a:t>
            </a:r>
            <a:endParaRPr lang="en-US" sz="9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uBreakiFix</a:t>
            </a:r>
            <a:endParaRPr lang="en-US" sz="9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Mail-In Repair</a:t>
            </a:r>
            <a:endParaRPr lang="en-US" sz="9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Third-Party Repair Providers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266176" y="3154680"/>
            <a:ext cx="3657600" cy="2011680"/>
          </a:xfrm>
          <a:prstGeom prst="rect">
            <a:avLst/>
          </a:prstGeom>
          <a:solidFill>
            <a:srgbClr val="F8F7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03336" y="324612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Logistics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403336" y="3584448"/>
            <a:ext cx="33832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Insurance Devices</a:t>
            </a:r>
            <a:endParaRPr lang="en-US" sz="9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Return Parts</a:t>
            </a:r>
            <a:endParaRPr lang="en-US" sz="9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Recovery &amp; Disposition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5303520"/>
            <a:ext cx="11247120" cy="502920"/>
          </a:xfrm>
          <a:prstGeom prst="rect">
            <a:avLst/>
          </a:prstGeom>
          <a:solidFill>
            <a:srgbClr val="F8F7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5349240"/>
            <a:ext cx="10972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is a material business asset — constantly moving across warehouses, field locations, stores, partners, and customer channels. Every movement requires visibility and accountability.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8F7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6583680"/>
            <a:ext cx="1164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Inventory supports every fulfillment motion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HIDE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Inventory is split across multiple systems of record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a program's inventory and finances live in one system, every unit and dollar is traceable — $366M is already reconciled. $346 F&amp;O is remaining in Distro; $13.9M sits on legacy systems.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47120" cy="256032"/>
          </a:xfrm>
          <a:prstGeom prst="rect">
            <a:avLst/>
          </a:prstGeom>
          <a:solidFill>
            <a:srgbClr val="F8F7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11096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577840" y="1911096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Value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772400" y="1911096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 of Record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241280" y="1911096"/>
            <a:ext cx="2286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548640" y="216712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REPLACEMENT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11247120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414016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N&amp;S3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596896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Day payment delivery w/ Setup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577840" y="2487168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$153M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772400" y="2487168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D365 F&amp;O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0241280" y="2450592"/>
            <a:ext cx="1280160" cy="256032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0" y="2487168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57200" y="3236976"/>
            <a:ext cx="11247120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2852928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DXO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035808"/>
            <a:ext cx="45720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&amp; Export Setup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5577840" y="2926080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$78.9M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772400" y="2926080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D365 F&amp;O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0241280" y="2889504"/>
            <a:ext cx="1280160" cy="256032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24" name="Text 22"/>
          <p:cNvSpPr/>
          <p:nvPr/>
        </p:nvSpPr>
        <p:spPr>
          <a:xfrm>
            <a:off x="10241280" y="292608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48640" y="3273552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REFURB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57200" y="3904488"/>
            <a:ext cx="11247120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520440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uBreakiFix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577840" y="3593592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772400" y="3593592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ServiceBench + Distro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10241280" y="3557016"/>
            <a:ext cx="1280160" cy="256032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31" name="Text 29"/>
          <p:cNvSpPr/>
          <p:nvPr/>
        </p:nvSpPr>
        <p:spPr>
          <a:xfrm>
            <a:off x="10241280" y="3593592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7F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Upcoming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" y="4343400"/>
            <a:ext cx="11247120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8640" y="3959352"/>
            <a:ext cx="4572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Same-Unit Repair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577840" y="4032504"/>
            <a:ext cx="1828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$6.3M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772400" y="4032504"/>
            <a:ext cx="2286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ServiceBench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241280" y="3995928"/>
            <a:ext cx="1280160" cy="256032"/>
          </a:xfrm>
          <a:prstGeom prst="rect">
            <a:avLst/>
          </a:prstGeom>
          <a:solidFill>
            <a:srgbClr val="FFF8E1"/>
          </a:solidFill>
          <a:ln/>
        </p:spPr>
      </p:sp>
      <p:sp>
        <p:nvSpPr>
          <p:cNvPr id="37" name="Text 35"/>
          <p:cNvSpPr/>
          <p:nvPr/>
        </p:nvSpPr>
        <p:spPr>
          <a:xfrm>
            <a:off x="10241280" y="4032504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57F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Upcoming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57200" y="5166360"/>
            <a:ext cx="5394960" cy="822960"/>
          </a:xfrm>
          <a:prstGeom prst="rect">
            <a:avLst/>
          </a:prstGeom>
          <a:solidFill>
            <a:srgbClr val="FFEBEE"/>
          </a:solidFill>
          <a:ln w="6350">
            <a:solidFill>
              <a:srgbClr val="FFCDD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94360" y="5257800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 / Unreconciled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94360" y="54406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6282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~$390.8M</a:t>
            </a:r>
            <a:endParaRPr lang="en-US" sz="2800" dirty="0"/>
          </a:p>
        </p:txBody>
      </p:sp>
      <p:sp>
        <p:nvSpPr>
          <p:cNvPr id="41" name="Shape 39"/>
          <p:cNvSpPr/>
          <p:nvPr/>
        </p:nvSpPr>
        <p:spPr>
          <a:xfrm>
            <a:off x="6217920" y="5166360"/>
            <a:ext cx="5486400" cy="822960"/>
          </a:xfrm>
          <a:prstGeom prst="rect">
            <a:avLst/>
          </a:prstGeom>
          <a:solidFill>
            <a:srgbClr val="E8F5E9"/>
          </a:solidFill>
          <a:ln w="6350">
            <a:solidFill>
              <a:srgbClr val="C8E6C9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55080" y="5257800"/>
            <a:ext cx="5120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355080" y="544068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E7D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$126.3M</a:t>
            </a:r>
            <a:endParaRPr lang="en-US" sz="2800" dirty="0"/>
          </a:p>
        </p:txBody>
      </p:sp>
      <p:sp>
        <p:nvSpPr>
          <p:cNvPr id="44" name="Shape 42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8F7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74320" y="6583680"/>
            <a:ext cx="1164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Limited traceability creates financial risk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MECHANISM · CENTERPIECE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Fulfillment systems connect inventory movement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financial accountability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66420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unit travels a single chain — from a physical movement to a financial record. The goal isn't inventory in one place; it's keeping that chain unbroken across every system it touches.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4572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INVENTORY MOVEMENT</a:t>
            </a:r>
            <a:endParaRPr lang="en-US" sz="700" dirty="0"/>
          </a:p>
        </p:txBody>
      </p:sp>
      <p:sp>
        <p:nvSpPr>
          <p:cNvPr id="6" name="Text 4"/>
          <p:cNvSpPr/>
          <p:nvPr/>
        </p:nvSpPr>
        <p:spPr>
          <a:xfrm>
            <a:off x="7772400" y="2286000"/>
            <a:ext cx="3931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b="1" spc="200" kern="0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ACCOUNTABILITY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457200" y="2487168"/>
            <a:ext cx="11247120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606040"/>
            <a:ext cx="1463040" cy="822960"/>
          </a:xfrm>
          <a:prstGeom prst="rect">
            <a:avLst/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2697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947672" y="2880360"/>
            <a:ext cx="16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087880" y="2606040"/>
            <a:ext cx="1463040" cy="822960"/>
          </a:xfrm>
          <a:prstGeom prst="rect">
            <a:avLst/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87880" y="2697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Warehouse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78352" y="2880360"/>
            <a:ext cx="16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718560" y="2606040"/>
            <a:ext cx="1463040" cy="822960"/>
          </a:xfrm>
          <a:prstGeom prst="rect">
            <a:avLst/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8560" y="2697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Location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Store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209032" y="2880360"/>
            <a:ext cx="16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349240" y="2606040"/>
            <a:ext cx="1463040" cy="822960"/>
          </a:xfrm>
          <a:prstGeom prst="rect">
            <a:avLst/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49240" y="2697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Fulfillment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6839712" y="2880360"/>
            <a:ext cx="16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79920" y="2606040"/>
            <a:ext cx="1463040" cy="822960"/>
          </a:xfrm>
          <a:prstGeom prst="rect">
            <a:avLst/>
          </a:prstGeom>
          <a:solidFill>
            <a:srgbClr val="5B2C8D"/>
          </a:solidFill>
          <a:ln w="6350">
            <a:solidFill>
              <a:srgbClr val="5B2C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79920" y="2697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470392" y="2880360"/>
            <a:ext cx="16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610600" y="2606040"/>
            <a:ext cx="1463040" cy="822960"/>
          </a:xfrm>
          <a:prstGeom prst="rect">
            <a:avLst/>
          </a:prstGeom>
          <a:solidFill>
            <a:srgbClr val="5B2C8D"/>
          </a:solidFill>
          <a:ln w="6350">
            <a:solidFill>
              <a:srgbClr val="5B2C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610600" y="2697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Accountability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10101072" y="2880360"/>
            <a:ext cx="167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10241280" y="2606040"/>
            <a:ext cx="1463040" cy="822960"/>
          </a:xfrm>
          <a:prstGeom prst="rect">
            <a:avLst/>
          </a:prstGeom>
          <a:solidFill>
            <a:srgbClr val="5B2C8D"/>
          </a:solidFill>
          <a:ln w="6350">
            <a:solidFill>
              <a:srgbClr val="5B2C8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241280" y="2697480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/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57200" y="3931920"/>
            <a:ext cx="11247120" cy="822960"/>
          </a:xfrm>
          <a:prstGeom prst="rect">
            <a:avLst/>
          </a:prstGeom>
          <a:solidFill>
            <a:srgbClr val="5B2C8D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4005072"/>
            <a:ext cx="10881360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is not inventory in one system — it is maintaining accountability from procurement through financial close. Every inventory movement eventually becomes a financial event.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8F7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6583680"/>
            <a:ext cx="1164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Fulfillment systems connect movement to accountability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FUTURE STATE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operating model improves visibility, control, and scale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394960" cy="4114800"/>
          </a:xfrm>
          <a:prstGeom prst="rect">
            <a:avLst/>
          </a:prstGeom>
          <a:solidFill>
            <a:srgbClr val="F8F7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737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560320" y="1719072"/>
            <a:ext cx="2011680" cy="256032"/>
          </a:xfrm>
          <a:prstGeom prst="rect">
            <a:avLst/>
          </a:prstGeom>
          <a:solidFill>
            <a:srgbClr val="DDDDDD"/>
          </a:solidFill>
          <a:ln/>
        </p:spPr>
      </p:sp>
      <p:sp>
        <p:nvSpPr>
          <p:cNvPr id="7" name="Text 5"/>
          <p:cNvSpPr/>
          <p:nvPr/>
        </p:nvSpPr>
        <p:spPr>
          <a:xfrm>
            <a:off x="2578608" y="1737360"/>
            <a:ext cx="197510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Disconnected systems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40080" y="214884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05840" y="216712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synchronization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26243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005840" y="2642616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reconciliation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40080" y="309981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05840" y="3118104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disputes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0080" y="35753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005840" y="3593592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visibility gaps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0507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005840" y="4069080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 traceability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0080" y="4526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05840" y="4544568"/>
            <a:ext cx="4572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integrations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00800" y="1600200"/>
            <a:ext cx="5303520" cy="4114800"/>
          </a:xfrm>
          <a:prstGeom prst="rect">
            <a:avLst/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0" y="1737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8503920" y="1719072"/>
            <a:ext cx="2560320" cy="256032"/>
          </a:xfrm>
          <a:prstGeom prst="rect">
            <a:avLst/>
          </a:prstGeom>
          <a:solidFill>
            <a:srgbClr val="5B2C8D"/>
          </a:solidFill>
          <a:ln/>
        </p:spPr>
      </p:sp>
      <p:sp>
        <p:nvSpPr>
          <p:cNvPr id="23" name="Text 21"/>
          <p:cNvSpPr/>
          <p:nvPr/>
        </p:nvSpPr>
        <p:spPr>
          <a:xfrm>
            <a:off x="8522208" y="1737360"/>
            <a:ext cx="252374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operating model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583680" y="2148840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949440" y="216712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and finance move together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83680" y="2587752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949440" y="2606040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Near-line visibility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583680" y="3026664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949440" y="3044952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Sustainable inventory movement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583680" y="3465576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949440" y="3483864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Explainable actions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583680" y="3904488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949440" y="3922776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fulfillment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583680" y="4343400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949440" y="4361688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Flexible product bundles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6583680" y="4782312"/>
            <a:ext cx="274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949440" y="4800600"/>
            <a:ext cx="45720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AI foundation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57200" y="5852160"/>
            <a:ext cx="11247120" cy="594360"/>
          </a:xfrm>
          <a:prstGeom prst="rect">
            <a:avLst/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591616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and financial records should remain connected throughout the fulfillment lifecycle — reconciliation becomes a natural outcome, not a separate activity.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8F7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4320" y="6583680"/>
            <a:ext cx="1164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One operating model improves visibility &amp; scale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ROADMAP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5943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phased path to consolidate every inventory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program onto a single ERP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57276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Moving inventory and finances across separate systems creates reconciliation gaps where loss accumulates. Each phase consolidates one fragmented system into D365 F&amp;O, establishing a single source of truth that exposes financial controls and visibility across every program.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377440" y="21488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2377440" y="2331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2024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343400" y="21488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343400" y="2331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21488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0" y="2331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2026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458200" y="2148840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458200" y="23317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2027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21488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57200" y="2743200"/>
            <a:ext cx="1828800" cy="640080"/>
          </a:xfrm>
          <a:prstGeom prst="rect">
            <a:avLst/>
          </a:prstGeom>
          <a:solidFill>
            <a:srgbClr val="5B2C8D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27889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Consolidation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377440" y="2743200"/>
            <a:ext cx="1828800" cy="640080"/>
          </a:xfrm>
          <a:prstGeom prst="rect">
            <a:avLst/>
          </a:prstGeom>
          <a:solidFill>
            <a:srgbClr val="EDE8F5"/>
          </a:solidFill>
          <a:ln w="3810">
            <a:solidFill>
              <a:srgbClr val="C4AE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423160" y="2761488"/>
            <a:ext cx="17373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ERP for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D365 / N&amp;S3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343400" y="2743200"/>
            <a:ext cx="1828800" cy="640080"/>
          </a:xfrm>
          <a:prstGeom prst="rect">
            <a:avLst/>
          </a:prstGeom>
          <a:solidFill>
            <a:srgbClr val="EDE8F5"/>
          </a:solidFill>
          <a:ln w="3810">
            <a:solidFill>
              <a:srgbClr val="C4AE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89120" y="2761488"/>
            <a:ext cx="17373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UBIF Non-Portal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Integration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400800" y="2743200"/>
            <a:ext cx="1828800" cy="640080"/>
          </a:xfrm>
          <a:prstGeom prst="rect">
            <a:avLst/>
          </a:prstGeom>
          <a:solidFill>
            <a:srgbClr val="EDE8F5"/>
          </a:solidFill>
          <a:ln w="3810">
            <a:solidFill>
              <a:srgbClr val="C4AE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2761488"/>
            <a:ext cx="17373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ERP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SLIR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458200" y="2743200"/>
            <a:ext cx="1828800" cy="640080"/>
          </a:xfrm>
          <a:prstGeom prst="rect">
            <a:avLst/>
          </a:prstGeom>
          <a:solidFill>
            <a:srgbClr val="EDE8F5"/>
          </a:solidFill>
          <a:ln w="3810">
            <a:solidFill>
              <a:srgbClr val="C4AE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03920" y="2761488"/>
            <a:ext cx="17373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UBIF Distro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Migration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" y="3520440"/>
            <a:ext cx="1828800" cy="21031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02336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Benefits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377440" y="3520440"/>
            <a:ext cx="1828800" cy="2103120"/>
          </a:xfrm>
          <a:prstGeom prst="rect">
            <a:avLst/>
          </a:prstGeom>
          <a:solidFill>
            <a:srgbClr val="E8F5E9"/>
          </a:solidFill>
          <a:ln w="3810">
            <a:solidFill>
              <a:srgbClr val="C8E6C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68880" y="3611880"/>
            <a:ext cx="16459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300"/>
              </a:spcBef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$2.1M billing gap gains</a:t>
            </a:r>
            <a:endParaRPr lang="en-US" sz="85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$4.8M+ trailing gains</a:t>
            </a:r>
            <a:endParaRPr lang="en-US" sz="85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for SUR repair ERP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343400" y="3520440"/>
            <a:ext cx="1828800" cy="2103120"/>
          </a:xfrm>
          <a:prstGeom prst="rect">
            <a:avLst/>
          </a:prstGeom>
          <a:solidFill>
            <a:srgbClr val="E8F5E9"/>
          </a:solidFill>
          <a:ln w="3810">
            <a:solidFill>
              <a:srgbClr val="C8E6C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34840" y="3611880"/>
            <a:ext cx="16459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300"/>
              </a:spcBef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uBreakiFix inventory</a:t>
            </a:r>
            <a:endParaRPr lang="en-US" sz="85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moves to D365 F&amp;O</a:t>
            </a:r>
            <a:endParaRPr lang="en-US" sz="85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D365 Coord recovered by D&amp;S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6400800" y="3520440"/>
            <a:ext cx="1828800" cy="2103120"/>
          </a:xfrm>
          <a:prstGeom prst="rect">
            <a:avLst/>
          </a:prstGeom>
          <a:solidFill>
            <a:srgbClr val="E8F5E9"/>
          </a:solidFill>
          <a:ln w="3810">
            <a:solidFill>
              <a:srgbClr val="C8E6C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92240" y="3611880"/>
            <a:ext cx="16459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300"/>
              </a:spcBef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 inventory in D365 F&amp;O</a:t>
            </a:r>
            <a:endParaRPr lang="en-US" sz="85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of inventory in one ERP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8458200" y="3520440"/>
            <a:ext cx="1828800" cy="2103120"/>
          </a:xfrm>
          <a:prstGeom prst="rect">
            <a:avLst/>
          </a:prstGeom>
          <a:solidFill>
            <a:srgbClr val="E8F5E9"/>
          </a:solidFill>
          <a:ln w="3810">
            <a:solidFill>
              <a:srgbClr val="C8E6C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640" y="3611880"/>
            <a:ext cx="16459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300"/>
              </a:spcBef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platform for one ERP</a:t>
            </a:r>
            <a:endParaRPr lang="en-US" sz="85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operating model,</a:t>
            </a:r>
            <a:endParaRPr lang="en-US" sz="850" dirty="0"/>
          </a:p>
          <a:p>
            <a:pPr indent="0" marL="0">
              <a:spcBef>
                <a:spcPts val="300"/>
              </a:spcBef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accountable in one ledger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57200" y="5961888"/>
            <a:ext cx="164592" cy="164592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35" name="Text 33"/>
          <p:cNvSpPr/>
          <p:nvPr/>
        </p:nvSpPr>
        <p:spPr>
          <a:xfrm>
            <a:off x="676656" y="594360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2286000" y="5961888"/>
            <a:ext cx="164592" cy="164592"/>
          </a:xfrm>
          <a:prstGeom prst="ellipse">
            <a:avLst/>
          </a:prstGeom>
          <a:solidFill>
            <a:srgbClr val="5B2C8D"/>
          </a:solidFill>
          <a:ln/>
        </p:spPr>
      </p:sp>
      <p:sp>
        <p:nvSpPr>
          <p:cNvPr id="37" name="Text 35"/>
          <p:cNvSpPr/>
          <p:nvPr/>
        </p:nvSpPr>
        <p:spPr>
          <a:xfrm>
            <a:off x="2505456" y="594360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Progress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114800" y="5961888"/>
            <a:ext cx="164592" cy="164592"/>
          </a:xfrm>
          <a:prstGeom prst="ellipse">
            <a:avLst/>
          </a:prstGeom>
          <a:solidFill>
            <a:srgbClr val="999999"/>
          </a:solidFill>
          <a:ln/>
        </p:spPr>
      </p:sp>
      <p:sp>
        <p:nvSpPr>
          <p:cNvPr id="39" name="Text 37"/>
          <p:cNvSpPr/>
          <p:nvPr/>
        </p:nvSpPr>
        <p:spPr>
          <a:xfrm>
            <a:off x="4334256" y="5943600"/>
            <a:ext cx="1463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Planned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8F7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4320" y="6583680"/>
            <a:ext cx="1164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Scaling the proven inventory model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b="1" spc="300" kern="0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WHY DISTRO MATTERS</a:t>
            </a:r>
            <a:endParaRPr lang="en-US" sz="7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· UBIF DISTRO MIGRATION: SLOTTED FOR 2027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57200" y="694944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Distro is the last system standing —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and the most strategic to retire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75564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There's no single technical blocker — Distro is stable and could run on our stack indefinitely. The case for moving in 2027 is structural: keeping the in-house warehouse platform separate cannibalizes financial, operational, and commercial risk as we scale.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2743200" cy="3017520"/>
          </a:xfrm>
          <a:prstGeom prst="rect">
            <a:avLst/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📊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66928" y="2880360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single source of truth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566928" y="3410712"/>
            <a:ext cx="252374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Inventory becomes fully accessible across Portal + integrations between Portal and Distro. Inventory in Distro activates the activity that flows outside the ERP.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566928" y="4389120"/>
            <a:ext cx="2523744" cy="0"/>
          </a:xfrm>
          <a:prstGeom prst="line">
            <a:avLst/>
          </a:prstGeom>
          <a:noFill/>
          <a:ln w="5080">
            <a:solidFill>
              <a:srgbClr val="C4AE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443984"/>
            <a:ext cx="252374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Transactions and financials update automatically in one ledger — every dollar reconciled.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383280" y="2377440"/>
            <a:ext cx="2743200" cy="3017520"/>
          </a:xfrm>
          <a:prstGeom prst="rect">
            <a:avLst/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🛡️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493008" y="2880360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Designed-out loss exposure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3493008" y="3410712"/>
            <a:ext cx="252374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Powered systems and handoffs remain integrated where inventory is handled by handoffs so that flows across the business.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493008" y="4389120"/>
            <a:ext cx="2523744" cy="0"/>
          </a:xfrm>
          <a:prstGeom prst="line">
            <a:avLst/>
          </a:prstGeom>
          <a:noFill/>
          <a:ln w="5080">
            <a:solidFill>
              <a:srgbClr val="C4AE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93008" y="4443984"/>
            <a:ext cx="252374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One platform and one ERP — a clean slate that flows across the business.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309360" y="2377440"/>
            <a:ext cx="2743200" cy="3017520"/>
          </a:xfrm>
          <a:prstGeom prst="rect">
            <a:avLst/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0936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⚙️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419088" y="2880360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 resilience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419088" y="3410712"/>
            <a:ext cx="252374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Distro is a separate application optimized for a couple of operations — the D&amp;S tool kit for logistics from Distro.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419088" y="4389120"/>
            <a:ext cx="2523744" cy="0"/>
          </a:xfrm>
          <a:prstGeom prst="line">
            <a:avLst/>
          </a:prstGeom>
          <a:noFill/>
          <a:ln w="5080">
            <a:solidFill>
              <a:srgbClr val="C4AE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19088" y="4443984"/>
            <a:ext cx="252374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2 partners (D365) platform our processes are asking us to standardize on.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9235440" y="2377440"/>
            <a:ext cx="2743200" cy="3017520"/>
          </a:xfrm>
          <a:prstGeom prst="rect">
            <a:avLst/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235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  <a:latin typeface="Segoe UI Emoji" pitchFamily="34" charset="0"/>
                <a:ea typeface="Segoe UI Emoji" pitchFamily="34" charset="-122"/>
                <a:cs typeface="Segoe UI Emoji" pitchFamily="34" charset="-120"/>
              </a:rPr>
              <a:t>🤝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345168" y="2880360"/>
            <a:ext cx="252374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Vendor-driven request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9345168" y="3410712"/>
            <a:ext cx="252374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200"/>
              </a:spcBef>
              <a:buNone/>
            </a:pPr>
            <a:r>
              <a:rPr lang="en-US" sz="800" dirty="0">
                <a:solidFill>
                  <a:srgbClr val="5555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 as a carrier vendor is retiring all their mapping on Distro. The D&amp;S tool is integrated with it — it's already the SDK for mobile units.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345168" y="4389120"/>
            <a:ext cx="2523744" cy="0"/>
          </a:xfrm>
          <a:prstGeom prst="line">
            <a:avLst/>
          </a:prstGeom>
          <a:noFill/>
          <a:ln w="5080">
            <a:solidFill>
              <a:srgbClr val="C4AE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345168" y="4443984"/>
            <a:ext cx="2523744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Bef>
                <a:spcPts val="200"/>
              </a:spcBef>
              <a:buNone/>
            </a:pPr>
            <a:r>
              <a:rPr lang="en-US" sz="800" b="1" dirty="0">
                <a:solidFill>
                  <a:srgbClr val="5B2C8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Goal: 2 partners (D365) platform our processes are asking us to standardize on.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57200" y="5577840"/>
            <a:ext cx="11247120" cy="868680"/>
          </a:xfrm>
          <a:prstGeom prst="rect">
            <a:avLst/>
          </a:prstGeom>
          <a:solidFill>
            <a:srgbClr val="5B2C8D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5650992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end state retiring Distro puts every unit and every dollar in one ERP — explainable movement, explainable finances, a resilient team, and a client-ready foundation to scale and build AI on.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F8F7FA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74320" y="6583680"/>
            <a:ext cx="116403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Why simplifying systems matters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2026-06-09T01:41:01Z</dcterms:created>
  <dcterms:modified xsi:type="dcterms:W3CDTF">2026-06-09T01:41:01Z</dcterms:modified>
</cp:coreProperties>
</file>