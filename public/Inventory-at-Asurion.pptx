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714232" y="292608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75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PRODUCT REVIEW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365760" y="694944"/>
            <a:ext cx="1145743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960120"/>
            <a:ext cx="292608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97840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PRODUCT REVIEW DEEP DIVE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365760" y="1353312"/>
            <a:ext cx="9144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at Asurion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fulfillment systems enable visibility, accountability, and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3337560"/>
            <a:ext cx="50292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349300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365760" y="37124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Bryant Mayne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398678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Director, D2M Fulfillment &amp; Finance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0" y="349300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840480" y="37124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Thays Pritchard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840480" y="398678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Management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0360152" y="6291072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DISCUSSION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From Fragmented Systems to a Single Source of Truth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207008"/>
            <a:ext cx="11457432" cy="1005840"/>
          </a:xfrm>
          <a:prstGeom prst="roundRect">
            <a:avLst>
              <a:gd name="adj" fmla="val 5455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43584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Inventory is the foundation every service program runs on.
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It runs behind the scenes, unseen — but customers always feel it when something goes wrong.
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Inventory makes the service promise possible.
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This review is about making sure we can always keep it.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65760" y="2322576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review, we will take a look at: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2670048"/>
            <a:ext cx="3697224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2670048"/>
            <a:ext cx="3697224" cy="658368"/>
          </a:xfrm>
          <a:prstGeom prst="roundRect">
            <a:avLst>
              <a:gd name="adj" fmla="val 9722"/>
            </a:avLst>
          </a:prstGeom>
          <a:solidFill>
            <a:srgbClr val="F5F4F8"/>
          </a:solidFill>
          <a:ln w="12700">
            <a:solidFill>
              <a:srgbClr val="F5F4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3145536"/>
            <a:ext cx="3697224" cy="182880"/>
          </a:xfrm>
          <a:prstGeom prst="rect">
            <a:avLst/>
          </a:prstGeom>
          <a:solidFill>
            <a:srgbClr val="F5F4F8"/>
          </a:solidFill>
          <a:ln w="12700">
            <a:solidFill>
              <a:srgbClr val="F5F4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761488"/>
            <a:ext cx="384048" cy="38404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7614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60704" y="2834640"/>
            <a:ext cx="2874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48640" y="3328416"/>
            <a:ext cx="333146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419856"/>
            <a:ext cx="333146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powers every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service motion we run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4169664"/>
            <a:ext cx="33314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~$609M asset across ~890 locations, present at every step — from advance exchange to reverse logistics. Scale and complexity demand a system built to match.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065776"/>
            <a:ext cx="3331464" cy="237744"/>
          </a:xfrm>
          <a:prstGeom prst="roundRect">
            <a:avLst>
              <a:gd name="adj" fmla="val 15385"/>
            </a:avLst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5065776"/>
            <a:ext cx="3331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03 – 04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245864" y="2670048"/>
            <a:ext cx="3697224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45864" y="2670048"/>
            <a:ext cx="3697224" cy="658368"/>
          </a:xfrm>
          <a:prstGeom prst="roundRect">
            <a:avLst>
              <a:gd name="adj" fmla="val 9722"/>
            </a:avLst>
          </a:prstGeom>
          <a:solidFill>
            <a:srgbClr val="F5EEF8"/>
          </a:solidFill>
          <a:ln w="12700">
            <a:solidFill>
              <a:srgbClr val="F5EE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45864" y="3145536"/>
            <a:ext cx="3697224" cy="182880"/>
          </a:xfrm>
          <a:prstGeom prst="rect">
            <a:avLst/>
          </a:prstGeom>
          <a:solidFill>
            <a:srgbClr val="F5EEF8"/>
          </a:solidFill>
          <a:ln w="12700">
            <a:solidFill>
              <a:srgbClr val="F5EEF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28744" y="2761488"/>
            <a:ext cx="384048" cy="38404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28744" y="27614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40808" y="2834640"/>
            <a:ext cx="2874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428744" y="3328416"/>
            <a:ext cx="333146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28744" y="3419856"/>
            <a:ext cx="333146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Fragmented systems create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financial and operational risk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428744" y="4169664"/>
            <a:ext cx="33314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platforms outside our ERP make it difficult to trace units, reconcile financials, and catch issues early. The gap compounds over time.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428744" y="5065776"/>
            <a:ext cx="3331464" cy="237744"/>
          </a:xfrm>
          <a:prstGeom prst="roundRect">
            <a:avLst>
              <a:gd name="adj" fmla="val 15385"/>
            </a:avLst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28744" y="5065776"/>
            <a:ext cx="3331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8125968" y="2670048"/>
            <a:ext cx="3697224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25968" y="2670048"/>
            <a:ext cx="3697224" cy="658368"/>
          </a:xfrm>
          <a:prstGeom prst="roundRect">
            <a:avLst>
              <a:gd name="adj" fmla="val 9722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25968" y="3145536"/>
            <a:ext cx="3697224" cy="182880"/>
          </a:xfrm>
          <a:prstGeom prst="rect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308848" y="2761488"/>
            <a:ext cx="384048" cy="38404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08848" y="27614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20912" y="2834640"/>
            <a:ext cx="2874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8308848" y="3328416"/>
            <a:ext cx="333146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8848" y="3419856"/>
            <a:ext cx="333146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proven model, scaling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program by program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308848" y="4169664"/>
            <a:ext cx="33314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a tested, phased approach to a single source of truth. The model is working — this review outlines what remains and what full consolidation makes possible.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308848" y="5065776"/>
            <a:ext cx="3331464" cy="237744"/>
          </a:xfrm>
          <a:prstGeom prst="roundRect">
            <a:avLst>
              <a:gd name="adj" fmla="val 15385"/>
            </a:avLst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308848" y="5065776"/>
            <a:ext cx="3331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06 – 07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081272" y="3877056"/>
            <a:ext cx="292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961376" y="3877056"/>
            <a:ext cx="292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365760" y="5577840"/>
            <a:ext cx="11457432" cy="475488"/>
          </a:xfrm>
          <a:prstGeom prst="roundRect">
            <a:avLst>
              <a:gd name="adj" fmla="val 11538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1792" y="5596128"/>
            <a:ext cx="109453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end of this review, I hope you leave with a clear picture of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inventory moves across Asurion</a:t>
            </a:r>
            <a:pPr indent="0" marL="0">
              <a:buNone/>
            </a:pPr>
            <a:r>
              <a:rPr lang="en-US" sz="1150" i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scale it operates at,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fragmentation creates real risk</a:t>
            </a:r>
            <a:pPr indent="0" marL="0">
              <a:buNone/>
            </a:pPr>
            <a:r>
              <a:rPr lang="en-US" sz="1150" i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why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source of truth for inventory management matters.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SCALE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supports every fulfillment motion across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Asurion's service network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719072"/>
            <a:ext cx="4023360" cy="1188720"/>
          </a:xfrm>
          <a:prstGeom prst="roundRect">
            <a:avLst>
              <a:gd name="adj" fmla="val 5385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79222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 ACROSS PROGRAMS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493776" y="1975104"/>
            <a:ext cx="37673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~$517M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365760" y="2999232"/>
            <a:ext cx="4023360" cy="2377440"/>
          </a:xfrm>
          <a:prstGeom prst="roundRect">
            <a:avLst>
              <a:gd name="adj" fmla="val 2692"/>
            </a:avLst>
          </a:prstGeom>
          <a:solidFill>
            <a:srgbClr val="F9F9F9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09067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LOCATIONS HOLDING INVENTORY ACROSS</a:t>
            </a:r>
            <a:endParaRPr lang="en-US" sz="750" dirty="0"/>
          </a:p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FULFILLMENTS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93776" y="3438144"/>
            <a:ext cx="14173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~890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1920240" y="35204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locations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12064" y="41696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~700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41696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&amp; 3rd-party repair locations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12064" y="46268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14400" y="46268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repair vendors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12064" y="50840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14400" y="50840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UROC mail-in repair location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432304" y="41696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834640" y="41696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Stocking Locations (FSLs)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432304" y="46268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834640" y="46268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inventory distribution centers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663440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28032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9744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809744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09744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56048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 (mail fulfillment)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809744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56048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&amp; Expert Setup (DES)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809744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56048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Warehouses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809744" y="44165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56048" y="43251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Stocking Locations (~97)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9744" y="48737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56048" y="47823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Asurion-Owned &amp; Consigned Inventory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080504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245096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26808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Same-Unit Repair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226808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26808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73112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Centers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26808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73112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Stores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226808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73112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Franchise Partners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26808" y="44165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73112" y="43251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Mail-In Repair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226808" y="48737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73112" y="47823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Repair Providers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(~6% of volume)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497568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662160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43872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Logistics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9643872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643872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790176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Devices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9643872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790176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Parts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643872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790176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&amp; Disposition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65760" y="5504688"/>
            <a:ext cx="45720" cy="502920"/>
          </a:xfrm>
          <a:prstGeom prst="rect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8640" y="5550408"/>
            <a:ext cx="112288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a material business asset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constantly moving across warehouses, field locations, stores, partners, and customer channels. Every movement requires visibility and accountability.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365760" y="6071616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 figures reflect total across replacement, same-unit repair, and reverse logistics programs.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held across ~890 locations: ~700 UBIF &amp; 3rd-party repair locations, 97 Forward Stocking Locations (FSLs), ~90 third-party repair vendors (~6% of repair volume), 2 main distribution centers, and 1 UROC mail-in repair location.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&amp; RELEVANCE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RISK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is split across multiple systems of record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417320"/>
            <a:ext cx="1145743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program's inventory and financials live in one system, every unit and dollar is traceable. </a:t>
            </a:r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~$390.6M is already reconciled in D365 F&amp;O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remaining </a:t>
            </a:r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$126.3M sits on legacy systems.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993392"/>
            <a:ext cx="11457432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06654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669280" y="2066544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680960" y="2066544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OF RECORD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0789920" y="206654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57200" y="2304288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37744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69280" y="237744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$390.6M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70662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926080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replacement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669280" y="276148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$296.4M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680960" y="276148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607040" y="2743200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0" y="274320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163824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218688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438144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Next-Day Expert Delivery &amp; Setup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0" y="3273552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$15.3M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80960" y="3273552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607040" y="3255264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07040" y="3255264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57200" y="3675888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3730752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94360" y="3950208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&amp; Expert Setup — replacement via Expert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669280" y="378561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$78.9M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80960" y="3785616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0607040" y="3767328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607040" y="3767328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57200" y="4187952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" y="4242816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669280" y="424281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$126.3M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4517136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" y="4572000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uBreakiFix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94360" y="4791456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&amp; distribution center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669280" y="462686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$120.0M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7680960" y="4626864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 + Distro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0607040" y="4608576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607040" y="4608576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Migrating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57200" y="5029200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" y="508406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Same-Unit Repair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94360" y="5303520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repair vendors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669280" y="513892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$6.3M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7680960" y="513892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0607040" y="5120640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607040" y="512064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Migrating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57200" y="5541264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94360" y="5632704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inventory value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669280" y="563270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~$516.9M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7680960" y="5632704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programs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65760" y="5394960"/>
            <a:ext cx="5577840" cy="749808"/>
          </a:xfrm>
          <a:prstGeom prst="roundRect">
            <a:avLst>
              <a:gd name="adj" fmla="val 7317"/>
            </a:avLst>
          </a:prstGeom>
          <a:solidFill>
            <a:srgbClr val="E6F4EA"/>
          </a:solidFill>
          <a:ln w="6350">
            <a:solidFill>
              <a:srgbClr val="C8E6C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12064" y="5614416"/>
            <a:ext cx="310896" cy="310896"/>
          </a:xfrm>
          <a:prstGeom prst="ellipse">
            <a:avLst/>
          </a:prstGeom>
          <a:solidFill>
            <a:srgbClr val="1B6B2B"/>
          </a:solidFill>
          <a:ln w="12700">
            <a:solidFill>
              <a:srgbClr val="1B6B2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12064" y="56144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932688" y="544982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6B2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~$390.6M</a:t>
            </a:r>
            <a:endParaRPr lang="en-US" sz="2200" dirty="0"/>
          </a:p>
        </p:txBody>
      </p:sp>
      <p:sp>
        <p:nvSpPr>
          <p:cNvPr id="59" name="Text 57"/>
          <p:cNvSpPr/>
          <p:nvPr/>
        </p:nvSpPr>
        <p:spPr>
          <a:xfrm>
            <a:off x="932688" y="581558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 D365 F&amp;O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126480" y="5394960"/>
            <a:ext cx="5669280" cy="749808"/>
          </a:xfrm>
          <a:prstGeom prst="roundRect">
            <a:avLst>
              <a:gd name="adj" fmla="val 7317"/>
            </a:avLst>
          </a:prstGeom>
          <a:solidFill>
            <a:srgbClr val="EDE8F5"/>
          </a:solidFill>
          <a:ln w="6350">
            <a:solidFill>
              <a:srgbClr val="C4AEE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72784" y="5614416"/>
            <a:ext cx="310896" cy="3108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72784" y="5596128"/>
            <a:ext cx="3108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693408" y="544982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2C8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$126.3M</a:t>
            </a:r>
            <a:endParaRPr lang="en-US" sz="2200" dirty="0"/>
          </a:p>
        </p:txBody>
      </p:sp>
      <p:sp>
        <p:nvSpPr>
          <p:cNvPr id="64" name="Text 62"/>
          <p:cNvSpPr/>
          <p:nvPr/>
        </p:nvSpPr>
        <p:spPr>
          <a:xfrm>
            <a:off x="6693408" y="581558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migration (~24%)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 is mail replacement; NDES is Next-Day Expert Delivery &amp; Setup; DES is Delivery &amp; Expert Setup (replacement via Expert). Inventory totals ~$516.9M across all programs.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RISK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MECHANISM · FUTURE STATE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493776"/>
            <a:ext cx="1145743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Fulfillment systems connect every movement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to one operating model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508760"/>
            <a:ext cx="4754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INVENTORY MOVEMENT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303520" y="1508760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BECOMES  →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412480" y="1508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ACCOUNTABILITY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365760" y="1709928"/>
            <a:ext cx="1145743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810512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037588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86228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37588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482340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09416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58056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9416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Location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Store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154168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381244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29884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81244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825996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053072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7B4FBA"/>
          </a:solidFill>
          <a:ln w="9525">
            <a:solidFill>
              <a:srgbClr val="7B4FB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01712" y="1874520"/>
            <a:ext cx="329184" cy="329184"/>
          </a:xfrm>
          <a:prstGeom prst="ellipse">
            <a:avLst/>
          </a:prstGeom>
          <a:solidFill>
            <a:srgbClr val="9B72CC"/>
          </a:solidFill>
          <a:ln w="12700">
            <a:solidFill>
              <a:srgbClr val="9B72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53072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497824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724900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9525">
            <a:solidFill>
              <a:srgbClr val="5B2C8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73540" y="1874520"/>
            <a:ext cx="329184" cy="329184"/>
          </a:xfrm>
          <a:prstGeom prst="ellipse">
            <a:avLst/>
          </a:prstGeom>
          <a:solidFill>
            <a:srgbClr val="7B4FBA"/>
          </a:solidFill>
          <a:ln w="12700">
            <a:solidFill>
              <a:srgbClr val="7B4FB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24900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169652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396728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9525">
            <a:solidFill>
              <a:srgbClr val="5B2C8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945368" y="1874520"/>
            <a:ext cx="329184" cy="329184"/>
          </a:xfrm>
          <a:prstGeom prst="ellipse">
            <a:avLst/>
          </a:prstGeom>
          <a:solidFill>
            <a:srgbClr val="7B4FBA"/>
          </a:solidFill>
          <a:ln w="12700">
            <a:solidFill>
              <a:srgbClr val="7B4FB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96728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Billing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65760" y="2825496"/>
            <a:ext cx="1145743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2916936"/>
            <a:ext cx="5285232" cy="2798064"/>
          </a:xfrm>
          <a:prstGeom prst="roundRect">
            <a:avLst>
              <a:gd name="adj" fmla="val 2288"/>
            </a:avLst>
          </a:prstGeom>
          <a:solidFill>
            <a:srgbClr val="F9F9F9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3063240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103120" y="3044952"/>
            <a:ext cx="3337560" cy="256032"/>
          </a:xfrm>
          <a:prstGeom prst="roundRect">
            <a:avLst>
              <a:gd name="adj" fmla="val 14286"/>
            </a:avLst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39696" y="3044952"/>
            <a:ext cx="3264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disconnected systems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48640" y="3392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synchronization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3776" y="3736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773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reconciliation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93776" y="4117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8640" y="4154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disputes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93776" y="4498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" y="4535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visibility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93776" y="4879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8640" y="4916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maintenance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93776" y="5260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8640" y="5297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integrations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833872" y="4078224"/>
            <a:ext cx="475488" cy="47548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33872" y="407822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6537960" y="2916936"/>
            <a:ext cx="5285232" cy="2798064"/>
          </a:xfrm>
          <a:prstGeom prst="roundRect">
            <a:avLst>
              <a:gd name="adj" fmla="val 2288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720840" y="3063240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8366760" y="3044952"/>
            <a:ext cx="3246120" cy="256032"/>
          </a:xfrm>
          <a:prstGeom prst="roundRect">
            <a:avLst>
              <a:gd name="adj" fmla="val 14286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403336" y="3044952"/>
            <a:ext cx="3172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operating model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720840" y="3392424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and finance move together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6665976" y="3682419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20840" y="3718995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visibility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6665976" y="4008991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720840" y="4045567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inventory movement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6665976" y="4335562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20840" y="4372138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dollars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6665976" y="4662134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20840" y="4698710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fulfillment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665976" y="4988705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720840" y="5025281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product launches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665976" y="5315277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720840" y="5351853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AI foundation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365760" y="5843016"/>
            <a:ext cx="45720" cy="457200"/>
          </a:xfrm>
          <a:prstGeom prst="rect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48640" y="5888736"/>
            <a:ext cx="11228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and financial records should remain </a:t>
            </a:r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throughout the fulfillment lifecycle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reconciliation becomes a natural outcome, not a separate activity.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message: Every inventory movement eventually becomes a financial event — accountability must hold across every system handoff. Inventory accountability and financial accountability should be inseparable.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&amp; FUTURE STATE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ROADMAP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6868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phased path to consolidate every inventory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program onto a single ERP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961120" y="566928"/>
            <a:ext cx="201168" cy="201168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0" y="566928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9217152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0040112" y="566928"/>
            <a:ext cx="201168" cy="20116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96144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1119104" y="566928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375136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1572768"/>
            <a:ext cx="1145743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inventory and financials across separate systems creates reconciliation gaps where loss accumulates. Each phase consolidates another fragmented system into Dynamics 365 F&amp;O, establishing a single source of truth that improves financial control and visibility across every program.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65760" y="2066544"/>
            <a:ext cx="1145743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157984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965960" y="2194560"/>
            <a:ext cx="256032" cy="256032"/>
          </a:xfrm>
          <a:prstGeom prst="ellipse">
            <a:avLst/>
          </a:prstGeom>
          <a:solidFill>
            <a:srgbClr val="1B6B2B"/>
          </a:solidFill>
          <a:ln w="12700">
            <a:solidFill>
              <a:srgbClr val="1B6B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65960" y="21945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295144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898648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965960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SSoT for DES / NDES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453128" y="2194560"/>
            <a:ext cx="256032" cy="25603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82312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385816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453128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Next Gen Portal migration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40296" y="2194560"/>
            <a:ext cx="256032" cy="25603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269480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872984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940296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SSoT for SUR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940296" y="2752344"/>
            <a:ext cx="2340864" cy="219456"/>
          </a:xfrm>
          <a:prstGeom prst="roundRect">
            <a:avLst>
              <a:gd name="adj" fmla="val 16667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76872" y="2752344"/>
            <a:ext cx="22677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  Depends on Next Gen Portal migration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9427464" y="2194560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56648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2027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360152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9427464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Distro migration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7200" y="2962656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5488" y="2999232"/>
            <a:ext cx="125272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CONSOLIDATION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929384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965960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+ ServiceBench + KitKat → D365 F&amp;O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965960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Warehouse (DAX) and DES/NDES field inventory (ServiceBench, incl. the KitKat FSL UI) consolidated into the D365 F&amp;O ERP.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416552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53128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 Portal → D365 F&amp;O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4453128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uBreakiFix store inventory moves from the BAU Portal into the D365 F&amp;O ERP, giving stores visibility of inventory order and management in one system.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903720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40296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 + SBX → D365 F&amp;O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940296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inventory management configurations supporting repair claims and fulfillment from ServiceBench into D365 F&amp;O, and replaces SBX Cycle Count with DAX WMA.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390888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427464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→ D365 F&amp;O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9427464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warehouse inventory moves from the in-house Distro platform into D365 F&amp;O — the last system outside the single source of truth.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57200" y="4919472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5488" y="4956048"/>
            <a:ext cx="1252728" cy="1755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1965960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$5.7M better than forecast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1965960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$2.4M/yr AT&amp;T billing gain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1965960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138k fewer manual touches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4453128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Store inventory in D365 F&amp;O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4453128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uBreakiFix under one source of truth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4453128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Foundation for the SUR repair SSoT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6940296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Repair-claim &amp; fulfillment configs in D365 F&amp;O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6940296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SBX Cycle Count replaced by DAX WMA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940296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Removes ServiceBench from inventory management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9427464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100% of inventory in one ERP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9427464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One operating model, warehouse to store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the UBIF inventory SSoT roadmap: each phase consolidates a legacy source system (Mobility Warehouse DAX, DES/NDES &amp; SUR field inventory in ServiceBench, Store Inventory BAU Portal, in-house Distro) into the Dynamics 365 F&amp;O ERP as the single source of truth. Phases 2 (SUR) and 3 (UBIF Next Gen Portal) run in parallel in 2026; Phase 4 (UBIF Distro) is slotted for 2027 and completes warehouse-to-store traceability.</a:t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WHY DISTRO MATTERS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475488"/>
            <a:ext cx="114574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— UBIF DISTRO MIGRATION, SLOTTED FOR 2027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676656"/>
            <a:ext cx="1145743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Distro is the last system standing — and the most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strategic to retire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901952"/>
            <a:ext cx="1145743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938528"/>
            <a:ext cx="1109167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technical blocker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Distro is stable and could run on our stack indefinitely. The case for moving it in 2027 is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keeping the in-house warehouse platform separate compounds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risk as we scale.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5760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93776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single source of truth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93776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93776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transfers across Portal → Next-Gen Portal → Distro aren't unified, and we pay stores for activity that lives outside the ERP.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93776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493776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Transfers and financials settle automatically in one ledger — every dollar reconciled.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252978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80994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0994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Designed-out loss exposure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380994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380994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losses surface in the integrations between Portal, Next-Gen Portal and Distro — latent risk that grows with volume.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380994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80994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380994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systems and handoffs means no integration seams for inventory to disappear in.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40196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68212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68212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resilience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268212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6268212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is a separate application maintained by only a couple of specialists — the skill set isn't fungible (key-person risk).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268212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68212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6268212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and one skill base — a team that flexes across the business.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027414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55430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55430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Vendor-driven request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155430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9155430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UPS, an Asurion vendor, is moving off their legacy platform; staying on Distro forces them to re-integrate with it — they already run D365 for mobility pick/pack/ship.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9155430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55430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9155430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D365 platform our vendors are asking us to standardize on.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365760" y="5486400"/>
            <a:ext cx="11457432" cy="658368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" y="5541264"/>
            <a:ext cx="110002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 state: </a:t>
            </a:r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retiring Distro puts every unit and every dollar in one ERP — explainable movement, explainable finances, a resilient team, and a client-ready foundation to scale and build AI on.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365760" y="6291072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review: no single technical blocker — Distro's tech stack is stable and could run on Asurion infrastructure. The 2027 migration case is structural, not a stability fire drill.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surfaced in review: intercompany financial reconciliation, inter-system inventory loss, key-person operational risk, and vendor (UPS) request for a common platform.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DISTRO MATTERS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2026-06-09T19:28:13Z</dcterms:created>
  <dcterms:modified xsi:type="dcterms:W3CDTF">2026-06-09T19:28:13Z</dcterms:modified>
</cp:coreProperties>
</file>